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5.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6.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Points</c:v>
                </c:pt>
              </c:strCache>
            </c:strRef>
          </c:tx>
          <c:spPr>
            <a:solidFill>
              <a:srgbClr val="FF7900"/>
            </a:solidFill>
            <a:effectLst/>
          </c:spPr>
          <c:invertIfNegative val="0"/>
          <c:dLbls>
            <c:numFmt formatCode="#,##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dPt>
            <c:idx val="0"/>
            <c:invertIfNegative val="0"/>
            <c:bubble3D val="0"/>
            <c:spPr>
              <a:solidFill>
                <a:srgbClr val="FF7900"/>
              </a:solidFill>
              <a:effectLst/>
            </c:spPr>
          </c:dPt>
          <c:dPt>
            <c:idx val="1"/>
            <c:invertIfNegative val="0"/>
            <c:bubble3D val="0"/>
            <c:spPr>
              <a:solidFill>
                <a:srgbClr val="FF7900"/>
              </a:solidFill>
              <a:effectLst/>
            </c:spPr>
          </c:dPt>
          <c:dPt>
            <c:idx val="2"/>
            <c:invertIfNegative val="0"/>
            <c:bubble3D val="0"/>
            <c:spPr>
              <a:solidFill>
                <a:srgbClr val="2A3D55"/>
              </a:solidFill>
              <a:effectLst/>
            </c:spPr>
          </c:dPt>
          <c:dPt>
            <c:idx val="3"/>
            <c:invertIfNegative val="0"/>
            <c:bubble3D val="0"/>
            <c:spPr>
              <a:solidFill>
                <a:srgbClr val="2A3D55"/>
              </a:solidFill>
              <a:effectLst/>
            </c:spPr>
          </c:dPt>
          <c:dPt>
            <c:idx val="4"/>
            <c:invertIfNegative val="0"/>
            <c:bubble3D val="0"/>
            <c:spPr>
              <a:solidFill>
                <a:srgbClr val="2A3D55"/>
              </a:solidFill>
              <a:effectLst/>
            </c:spPr>
          </c:dPt>
          <c:dPt>
            <c:idx val="5"/>
            <c:invertIfNegative val="0"/>
            <c:bubble3D val="0"/>
            <c:spPr>
              <a:solidFill>
                <a:srgbClr val="2A3D55"/>
              </a:solidFill>
              <a:effectLst/>
            </c:spPr>
          </c:dPt>
          <c:cat>
            <c:multiLvlStrRef>
              <c:f>Sheet1!$A$2:$A$7</c:f>
              <c:multiLvlStrCache>
                <c:ptCount val="6"/>
                <c:lvl>
                  <c:pt idx="0">
                    <c:v>Retrieval precision</c:v>
                  </c:pt>
                  <c:pt idx="1">
                    <c:v>Grounding &amp; citations</c:v>
                  </c:pt>
                  <c:pt idx="2">
                    <c:v>Architecture design</c:v>
                  </c:pt>
                  <c:pt idx="3">
                    <c:v>Evaluation metrics</c:v>
                  </c:pt>
                  <c:pt idx="4">
                    <c:v>Clinical safety</c:v>
                  </c:pt>
                  <c:pt idx="5">
                    <c:v>UX &amp; live demo</c:v>
                  </c:pt>
                </c:lvl>
              </c:multiLvlStrCache>
            </c:multiLvlStrRef>
          </c:cat>
          <c:val>
            <c:numRef>
              <c:f>Sheet1!$B$2:$B$7</c:f>
              <c:numCache>
                <c:formatCode>General</c:formatCode>
                <c:ptCount val="6"/>
                <c:pt idx="0">
                  <c:v>30</c:v>
                </c:pt>
                <c:pt idx="1">
                  <c:v>25</c:v>
                </c:pt>
                <c:pt idx="2">
                  <c:v>15</c:v>
                </c:pt>
                <c:pt idx="3">
                  <c:v>15</c:v>
                </c:pt>
                <c:pt idx="4">
                  <c:v>10</c:v>
                </c:pt>
                <c:pt idx="5">
                  <c:v>5</c:v>
                </c:pt>
              </c:numCache>
            </c:numRef>
          </c:val>
        </c:ser>
        <c:dLbls>
          <c:numFmt formatCode="#,##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gapWidth val="4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34"/>
        </c:scaling>
        <c:delete val="1"/>
        <c:axPos val="b"/>
        <c:numFmt formatCode="General" sourceLinked="0"/>
        <c:majorTickMark val="out"/>
        <c:minorTickMark val="none"/>
        <c:tickLblPos val="low"/>
        <c:spPr>
          <a:ln w="12700" cap="flat">
            <a:noFill/>
            <a:prstDash val="solid"/>
            <a:round/>
          </a:ln>
        </c:spPr>
        <c:txPr>
          <a:bodyPr/>
          <a:lstStyle/>
          <a:p>
            <a:pPr>
              <a:defRPr sz="950" b="0" i="0" u="none" strike="noStrike">
                <a:solidFill>
                  <a:srgbClr val="6B7A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Notebook</c:v>
                </c:pt>
              </c:strCache>
            </c:strRef>
          </c:tx>
          <c:spPr>
            <a:solidFill>
              <a:srgbClr val="D8DEE6"/>
            </a:solidFill>
            <a:effectLst/>
          </c:spPr>
          <c:invertIfNegative val="0"/>
          <c:dLbls>
            <c:numFmt formatCode="#,##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Chunks</c:v>
                  </c:pt>
                  <c:pt idx="1">
                    <c:v>Under 100 chars</c:v>
                  </c:pt>
                  <c:pt idx="2">
                    <c:v>Flagged suspect</c:v>
                  </c:pt>
                </c:lvl>
              </c:multiLvlStrCache>
            </c:multiLvlStrRef>
          </c:cat>
          <c:val>
            <c:numRef>
              <c:f>Sheet1!$B$2:$B$4</c:f>
              <c:numCache>
                <c:formatCode>General</c:formatCode>
                <c:ptCount val="3"/>
                <c:pt idx="0">
                  <c:v>463</c:v>
                </c:pt>
                <c:pt idx="1">
                  <c:v>35</c:v>
                </c:pt>
                <c:pt idx="2">
                  <c:v>43</c:v>
                </c:pt>
              </c:numCache>
            </c:numRef>
          </c:val>
        </c:ser>
        <c:ser>
          <c:idx val="1"/>
          <c:order val="1"/>
          <c:tx>
            <c:strRef>
              <c:f>Sheet1!$C$1</c:f>
              <c:strCache>
                <c:ptCount val="1"/>
                <c:pt idx="0">
                  <c:v>Pipeline</c:v>
                </c:pt>
              </c:strCache>
            </c:strRef>
          </c:tx>
          <c:spPr>
            <a:solidFill>
              <a:srgbClr val="0E1A2B"/>
            </a:solidFill>
            <a:effectLst/>
          </c:spPr>
          <c:invertIfNegative val="0"/>
          <c:dLbls>
            <c:numFmt formatCode="#,##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Chunks</c:v>
                  </c:pt>
                  <c:pt idx="1">
                    <c:v>Under 100 chars</c:v>
                  </c:pt>
                  <c:pt idx="2">
                    <c:v>Flagged suspect</c:v>
                  </c:pt>
                </c:lvl>
              </c:multiLvlStrCache>
            </c:multiLvlStrRef>
          </c:cat>
          <c:val>
            <c:numRef>
              <c:f>Sheet1!$C$2:$C$4</c:f>
              <c:numCache>
                <c:formatCode>General</c:formatCode>
                <c:ptCount val="3"/>
                <c:pt idx="0">
                  <c:v>286</c:v>
                </c:pt>
                <c:pt idx="1">
                  <c:v>0</c:v>
                </c:pt>
                <c:pt idx="2">
                  <c:v>1</c:v>
                </c:pt>
              </c:numCache>
            </c:numRef>
          </c:val>
        </c:ser>
        <c:dLbls>
          <c:numFmt formatCode="#,##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560"/>
        </c:scaling>
        <c:delete val="1"/>
        <c:axPos val="b"/>
        <c:numFmt formatCode="General" sourceLinked="0"/>
        <c:majorTickMark val="out"/>
        <c:minorTickMark val="none"/>
        <c:tickLblPos val="low"/>
        <c:spPr>
          <a:ln w="12700" cap="flat">
            <a:noFill/>
            <a:prstDash val="solid"/>
            <a:round/>
          </a:ln>
        </c:spPr>
        <c:txPr>
          <a:bodyPr/>
          <a:lstStyle/>
          <a:p>
            <a:pPr>
              <a:defRPr sz="950" b="0" i="0" u="none" strike="noStrike">
                <a:solidFill>
                  <a:srgbClr val="6B7A8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B7A8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In dense top-5</c:v>
                </c:pt>
              </c:strCache>
            </c:strRef>
          </c:tx>
          <c:spPr>
            <a:solidFill>
              <a:srgbClr val="0E7C5A"/>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Sheet1!$A$2:$A$2</c:f>
              <c:multiLvlStrCache>
                <c:ptCount val="1"/>
                <c:lvl>
                  <c:pt idx="0">
                    <c:v>Where the evidence lands</c:v>
                  </c:pt>
                </c:lvl>
              </c:multiLvlStrCache>
            </c:multiLvlStrRef>
          </c:cat>
          <c:val>
            <c:numRef>
              <c:f>Sheet1!$B$2:$B$2</c:f>
              <c:numCache>
                <c:formatCode>General</c:formatCode>
                <c:ptCount val="1"/>
                <c:pt idx="0">
                  <c:v>45</c:v>
                </c:pt>
              </c:numCache>
            </c:numRef>
          </c:val>
        </c:ser>
        <c:ser>
          <c:idx val="1"/>
          <c:order val="1"/>
          <c:tx>
            <c:strRef>
              <c:f>Sheet1!$C$1</c:f>
              <c:strCache>
                <c:ptCount val="1"/>
                <c:pt idx="0">
                  <c:v>At dense ranks 6-20</c:v>
                </c:pt>
              </c:strCache>
            </c:strRef>
          </c:tx>
          <c:spPr>
            <a:solidFill>
              <a:srgbClr val="FF7900"/>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Sheet1!$A$2:$A$2</c:f>
              <c:multiLvlStrCache>
                <c:ptCount val="1"/>
                <c:lvl>
                  <c:pt idx="0">
                    <c:v>Where the evidence lands</c:v>
                  </c:pt>
                </c:lvl>
              </c:multiLvlStrCache>
            </c:multiLvlStrRef>
          </c:cat>
          <c:val>
            <c:numRef>
              <c:f>Sheet1!$C$2:$C$2</c:f>
              <c:numCache>
                <c:formatCode>General</c:formatCode>
                <c:ptCount val="1"/>
                <c:pt idx="0">
                  <c:v>41</c:v>
                </c:pt>
              </c:numCache>
            </c:numRef>
          </c:val>
        </c:ser>
        <c:ser>
          <c:idx val="2"/>
          <c:order val="2"/>
          <c:tx>
            <c:strRef>
              <c:f>Sheet1!$D$1</c:f>
              <c:strCache>
                <c:ptCount val="1"/>
                <c:pt idx="0">
                  <c:v>Not in top-20</c:v>
                </c:pt>
              </c:strCache>
            </c:strRef>
          </c:tx>
          <c:spPr>
            <a:solidFill>
              <a:srgbClr val="B3261E"/>
            </a:solidFill>
            <a:effectLst/>
          </c:spPr>
          <c:invertIfNegative val="0"/>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Sheet1!$A$2:$A$2</c:f>
              <c:multiLvlStrCache>
                <c:ptCount val="1"/>
                <c:lvl>
                  <c:pt idx="0">
                    <c:v>Where the evidence lands</c:v>
                  </c:pt>
                </c:lvl>
              </c:multiLvlStrCache>
            </c:multiLvlStrRef>
          </c:cat>
          <c:val>
            <c:numRef>
              <c:f>Sheet1!$D$2:$D$2</c:f>
              <c:numCache>
                <c:formatCode>General</c:formatCode>
                <c:ptCount val="1"/>
                <c:pt idx="0">
                  <c:v>14</c:v>
                </c:pt>
              </c:numCache>
            </c:numRef>
          </c:val>
        </c:ser>
        <c:dLbls>
          <c:numFmt formatCode="#,##0" sourceLinked="0"/>
          <c:txPr>
            <a:bodyPr/>
            <a:lstStyle/>
            <a:p>
              <a:pPr>
                <a:defRPr b="1" i="0" strike="noStrike" sz="1200" u="none">
                  <a:solidFill>
                    <a:srgbClr val="FFFFFF"/>
                  </a:solidFill>
                  <a:latin typeface="Calibri"/>
                </a:defRPr>
              </a:pPr>
            </a:p>
          </c:txPr>
          <c:dLblPos val="ctr"/>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950" b="0" i="0" u="none" strike="noStrike">
                <a:solidFill>
                  <a:srgbClr val="6B7A8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B7A8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D8DEE6"/>
            </a:solidFill>
            <a:effectLst/>
          </c:spPr>
          <c:invertIfNegative val="0"/>
          <c:dLbls>
            <c:numFmt formatCode="0.00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Context
recall</c:v>
                  </c:pt>
                  <c:pt idx="1">
                    <c:v>Context
precision</c:v>
                  </c:pt>
                  <c:pt idx="2">
                    <c:v>Faithfulness</c:v>
                  </c:pt>
                  <c:pt idx="3">
                    <c:v>Answer
relevancy</c:v>
                  </c:pt>
                </c:lvl>
              </c:multiLvlStrCache>
            </c:multiLvlStrRef>
          </c:cat>
          <c:val>
            <c:numRef>
              <c:f>Sheet1!$B$2:$B$5</c:f>
              <c:numCache>
                <c:formatCode>General</c:formatCode>
                <c:ptCount val="4"/>
                <c:pt idx="0">
                  <c:v>0.613</c:v>
                </c:pt>
                <c:pt idx="1">
                  <c:v>0.747</c:v>
                </c:pt>
                <c:pt idx="2">
                  <c:v>0.592</c:v>
                </c:pt>
                <c:pt idx="3">
                  <c:v>0.582</c:v>
                </c:pt>
              </c:numCache>
            </c:numRef>
          </c:val>
        </c:ser>
        <c:ser>
          <c:idx val="1"/>
          <c:order val="1"/>
          <c:tx>
            <c:strRef>
              <c:f>Sheet1!$C$1</c:f>
              <c:strCache>
                <c:ptCount val="1"/>
                <c:pt idx="0">
                  <c:v>After</c:v>
                </c:pt>
              </c:strCache>
            </c:strRef>
          </c:tx>
          <c:spPr>
            <a:solidFill>
              <a:srgbClr val="0E1A2B"/>
            </a:solidFill>
            <a:effectLst/>
          </c:spPr>
          <c:invertIfNegative val="0"/>
          <c:dLbls>
            <c:numFmt formatCode="0.00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Context
recall</c:v>
                  </c:pt>
                  <c:pt idx="1">
                    <c:v>Context
precision</c:v>
                  </c:pt>
                  <c:pt idx="2">
                    <c:v>Faithfulness</c:v>
                  </c:pt>
                  <c:pt idx="3">
                    <c:v>Answer
relevancy</c:v>
                  </c:pt>
                </c:lvl>
              </c:multiLvlStrCache>
            </c:multiLvlStrRef>
          </c:cat>
          <c:val>
            <c:numRef>
              <c:f>Sheet1!$C$2:$C$5</c:f>
              <c:numCache>
                <c:formatCode>General</c:formatCode>
                <c:ptCount val="4"/>
                <c:pt idx="0">
                  <c:v>0.628</c:v>
                </c:pt>
                <c:pt idx="1">
                  <c:v>0.793</c:v>
                </c:pt>
                <c:pt idx="2">
                  <c:v>0.77</c:v>
                </c:pt>
                <c:pt idx="3">
                  <c:v>0.736</c:v>
                </c:pt>
              </c:numCache>
            </c:numRef>
          </c:val>
        </c:ser>
        <c:dLbls>
          <c:numFmt formatCode="0.00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8DE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50" b="0" i="0" u="none" strike="noStrike">
                <a:solidFill>
                  <a:srgbClr val="6B7A8C"/>
                </a:solidFill>
                <a:latin typeface="Calibri"/>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6B7A8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top_k = 5</c:v>
                </c:pt>
              </c:strCache>
            </c:strRef>
          </c:tx>
          <c:spPr>
            <a:solidFill>
              <a:srgbClr val="D8DEE6"/>
            </a:solidFill>
            <a:effectLst/>
          </c:spPr>
          <c:invertIfNegative val="0"/>
          <c:dLbls>
            <c:numFmt formatCode="0.00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Context
recall</c:v>
                  </c:pt>
                  <c:pt idx="1">
                    <c:v>Context
precision</c:v>
                  </c:pt>
                  <c:pt idx="2">
                    <c:v>Faithfulness</c:v>
                  </c:pt>
                  <c:pt idx="3">
                    <c:v>Answer
relevancy</c:v>
                  </c:pt>
                </c:lvl>
              </c:multiLvlStrCache>
            </c:multiLvlStrRef>
          </c:cat>
          <c:val>
            <c:numRef>
              <c:f>Sheet1!$B$2:$B$5</c:f>
              <c:numCache>
                <c:formatCode>General</c:formatCode>
                <c:ptCount val="4"/>
                <c:pt idx="0">
                  <c:v>0.628</c:v>
                </c:pt>
                <c:pt idx="1">
                  <c:v>0.793</c:v>
                </c:pt>
                <c:pt idx="2">
                  <c:v>0.77</c:v>
                </c:pt>
                <c:pt idx="3">
                  <c:v>0.736</c:v>
                </c:pt>
              </c:numCache>
            </c:numRef>
          </c:val>
        </c:ser>
        <c:ser>
          <c:idx val="1"/>
          <c:order val="1"/>
          <c:tx>
            <c:strRef>
              <c:f>Sheet1!$C$1</c:f>
              <c:strCache>
                <c:ptCount val="1"/>
                <c:pt idx="0">
                  <c:v>top_k = 10</c:v>
                </c:pt>
              </c:strCache>
            </c:strRef>
          </c:tx>
          <c:spPr>
            <a:solidFill>
              <a:srgbClr val="FF7900"/>
            </a:solidFill>
            <a:effectLst/>
          </c:spPr>
          <c:invertIfNegative val="0"/>
          <c:dLbls>
            <c:numFmt formatCode="0.00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Context
recall</c:v>
                  </c:pt>
                  <c:pt idx="1">
                    <c:v>Context
precision</c:v>
                  </c:pt>
                  <c:pt idx="2">
                    <c:v>Faithfulness</c:v>
                  </c:pt>
                  <c:pt idx="3">
                    <c:v>Answer
relevancy</c:v>
                  </c:pt>
                </c:lvl>
              </c:multiLvlStrCache>
            </c:multiLvlStrRef>
          </c:cat>
          <c:val>
            <c:numRef>
              <c:f>Sheet1!$C$2:$C$5</c:f>
              <c:numCache>
                <c:formatCode>General</c:formatCode>
                <c:ptCount val="4"/>
                <c:pt idx="0">
                  <c:v>0.781</c:v>
                </c:pt>
                <c:pt idx="1">
                  <c:v>0.714</c:v>
                </c:pt>
                <c:pt idx="2">
                  <c:v>0.786</c:v>
                </c:pt>
                <c:pt idx="3">
                  <c:v>0.688</c:v>
                </c:pt>
              </c:numCache>
            </c:numRef>
          </c:val>
        </c:ser>
        <c:dLbls>
          <c:numFmt formatCode="0.00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8DE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50" b="0" i="0" u="none" strike="noStrike">
                <a:solidFill>
                  <a:srgbClr val="6B7A8C"/>
                </a:solidFill>
                <a:latin typeface="Calibri"/>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6B7A8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Dense only</c:v>
                </c:pt>
              </c:strCache>
            </c:strRef>
          </c:tx>
          <c:spPr>
            <a:solidFill>
              <a:srgbClr val="D8DEE6"/>
            </a:solidFill>
            <a:effectLst/>
          </c:spPr>
          <c:invertIfNegative val="0"/>
          <c:dLbls>
            <c:numFmt formatCode="0.00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Context
recall</c:v>
                  </c:pt>
                  <c:pt idx="1">
                    <c:v>Context
precision</c:v>
                  </c:pt>
                  <c:pt idx="2">
                    <c:v>Faithfulness</c:v>
                  </c:pt>
                  <c:pt idx="3">
                    <c:v>Answer
relevancy</c:v>
                  </c:pt>
                </c:lvl>
              </c:multiLvlStrCache>
            </c:multiLvlStrRef>
          </c:cat>
          <c:val>
            <c:numRef>
              <c:f>Sheet1!$B$2:$B$5</c:f>
              <c:numCache>
                <c:formatCode>General</c:formatCode>
                <c:ptCount val="4"/>
                <c:pt idx="0">
                  <c:v>0.851</c:v>
                </c:pt>
                <c:pt idx="1">
                  <c:v>0.735</c:v>
                </c:pt>
                <c:pt idx="2">
                  <c:v>0.87</c:v>
                </c:pt>
                <c:pt idx="3">
                  <c:v>0.768</c:v>
                </c:pt>
              </c:numCache>
            </c:numRef>
          </c:val>
        </c:ser>
        <c:ser>
          <c:idx val="1"/>
          <c:order val="1"/>
          <c:tx>
            <c:strRef>
              <c:f>Sheet1!$C$1</c:f>
              <c:strCache>
                <c:ptCount val="1"/>
                <c:pt idx="0">
                  <c:v>With reranking</c:v>
                </c:pt>
              </c:strCache>
            </c:strRef>
          </c:tx>
          <c:spPr>
            <a:solidFill>
              <a:srgbClr val="0E7C5A"/>
            </a:solidFill>
            <a:effectLst/>
          </c:spPr>
          <c:invertIfNegative val="0"/>
          <c:dLbls>
            <c:numFmt formatCode="0.00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Context
recall</c:v>
                  </c:pt>
                  <c:pt idx="1">
                    <c:v>Context
precision</c:v>
                  </c:pt>
                  <c:pt idx="2">
                    <c:v>Faithfulness</c:v>
                  </c:pt>
                  <c:pt idx="3">
                    <c:v>Answer
relevancy</c:v>
                  </c:pt>
                </c:lvl>
              </c:multiLvlStrCache>
            </c:multiLvlStrRef>
          </c:cat>
          <c:val>
            <c:numRef>
              <c:f>Sheet1!$C$2:$C$5</c:f>
              <c:numCache>
                <c:formatCode>General</c:formatCode>
                <c:ptCount val="4"/>
                <c:pt idx="0">
                  <c:v>0.816</c:v>
                </c:pt>
                <c:pt idx="1">
                  <c:v>0.819</c:v>
                </c:pt>
                <c:pt idx="2">
                  <c:v>0.838</c:v>
                </c:pt>
                <c:pt idx="3">
                  <c:v>0.783</c:v>
                </c:pt>
              </c:numCache>
            </c:numRef>
          </c:val>
        </c:ser>
        <c:dLbls>
          <c:numFmt formatCode="0.000" sourceLinked="0"/>
          <c:txPr>
            <a:bodyPr/>
            <a:lstStyle/>
            <a:p>
              <a:pPr>
                <a:defRPr b="1" i="0" strike="noStrike" sz="950" u="none">
                  <a:solidFill>
                    <a:srgbClr val="6B7A8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6B7A8C"/>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8DE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50" b="0" i="0" u="none" strike="noStrike">
                <a:solidFill>
                  <a:srgbClr val="6B7A8C"/>
                </a:solidFill>
                <a:latin typeface="Calibri"/>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6B7A8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'A language model will answer any supplement question you ask it. It will not tell you where the answer came from — and in this domain that is the whole problem.'
This deck is deliberately weighted to the retrieval side. Everything on it was measured; where a number is unverified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DHEA example is question 21 in our golden set. Our system refuses it — slide on the safety layer shows why that took work to get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goes here: take a judge-provided query, show the retrieved chunks first, then the answer with citations, then an out-of-scope query to show the refusal.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out loud: we ran these four questions through the live system while writing this slide. That is the point — the citation is checkable, on stage, by a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refusal. It is the least impressive-looking thing the system does and the most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chart" Target="/ppt/charts/chart3.xm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4" Type="http://schemas.openxmlformats.org/officeDocument/2006/relationships/chart" Target="/ppt/charts/chart5.xml"/><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4" Type="http://schemas.openxmlformats.org/officeDocument/2006/relationships/chart" Target="/ppt/charts/chart6.xml"/><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6108192"/>
            <a:ext cx="4306229" cy="585216"/>
          </a:xfrm>
          <a:prstGeom prst="roundRect">
            <a:avLst>
              <a:gd name="adj" fmla="val 9375"/>
            </a:avLst>
          </a:prstGeom>
          <a:solidFill>
            <a:srgbClr val="FFFFFF"/>
          </a:solidFill>
          <a:ln w="12700">
            <a:solidFill>
              <a:srgbClr val="FFFFFF"/>
            </a:solidFill>
            <a:prstDash val="solid"/>
          </a:ln>
        </p:spPr>
      </p:sp>
      <p:pic>
        <p:nvPicPr>
          <p:cNvPr id="3" name="Image 0" descr="/Users/Marwan/Projects/athletic-dietry-rag/presentation/assets/logos/creativa.png">    </p:cNvPr>
          <p:cNvPicPr>
            <a:picLocks noChangeAspect="1"/>
          </p:cNvPicPr>
          <p:nvPr/>
        </p:nvPicPr>
        <p:blipFill>
          <a:blip r:embed="rId1"/>
          <a:stretch>
            <a:fillRect/>
          </a:stretch>
        </p:blipFill>
        <p:spPr>
          <a:xfrm>
            <a:off x="731520" y="6208776"/>
            <a:ext cx="356021" cy="384048"/>
          </a:xfrm>
          <a:prstGeom prst="rect">
            <a:avLst/>
          </a:prstGeom>
        </p:spPr>
      </p:pic>
      <p:pic>
        <p:nvPicPr>
          <p:cNvPr id="4" name="Image 1" descr="/Users/Marwan/Projects/athletic-dietry-rag/presentation/assets/logos/instant.png">    </p:cNvPr>
          <p:cNvPicPr>
            <a:picLocks noChangeAspect="1"/>
          </p:cNvPicPr>
          <p:nvPr/>
        </p:nvPicPr>
        <p:blipFill>
          <a:blip r:embed="rId2"/>
          <a:stretch>
            <a:fillRect/>
          </a:stretch>
        </p:blipFill>
        <p:spPr>
          <a:xfrm>
            <a:off x="1416725" y="6305902"/>
            <a:ext cx="1481328" cy="189795"/>
          </a:xfrm>
          <a:prstGeom prst="rect">
            <a:avLst/>
          </a:prstGeom>
        </p:spPr>
      </p:pic>
      <p:pic>
        <p:nvPicPr>
          <p:cNvPr id="5" name="Image 2" descr="/Users/Marwan/Projects/athletic-dietry-rag/presentation/assets/logos/orange.png">    </p:cNvPr>
          <p:cNvPicPr>
            <a:picLocks noChangeAspect="1"/>
          </p:cNvPicPr>
          <p:nvPr/>
        </p:nvPicPr>
        <p:blipFill>
          <a:blip r:embed="rId3"/>
          <a:stretch>
            <a:fillRect/>
          </a:stretch>
        </p:blipFill>
        <p:spPr>
          <a:xfrm>
            <a:off x="3227237" y="6240122"/>
            <a:ext cx="1481328" cy="321355"/>
          </a:xfrm>
          <a:prstGeom prst="rect">
            <a:avLst/>
          </a:prstGeom>
        </p:spPr>
      </p:pic>
      <p:sp>
        <p:nvSpPr>
          <p:cNvPr id="6" name="Text 1"/>
          <p:cNvSpPr/>
          <p:nvPr/>
        </p:nvSpPr>
        <p:spPr>
          <a:xfrm>
            <a:off x="566928" y="932688"/>
            <a:ext cx="11057839" cy="274320"/>
          </a:xfrm>
          <a:prstGeom prst="rect">
            <a:avLst/>
          </a:prstGeom>
          <a:noFill/>
          <a:ln/>
        </p:spPr>
        <p:txBody>
          <a:bodyPr wrap="square" lIns="0" tIns="0" rIns="0" bIns="0" rtlCol="0" anchor="ctr"/>
          <a:lstStyle/>
          <a:p>
            <a:pPr indent="0" marL="0">
              <a:buNone/>
            </a:pPr>
            <a:r>
              <a:rPr lang="en-US" sz="1100" b="1" spc="150" kern="0" dirty="0">
                <a:solidFill>
                  <a:srgbClr val="FF7900"/>
                </a:solidFill>
                <a:latin typeface="Calibri" pitchFamily="34" charset="0"/>
                <a:ea typeface="Calibri" pitchFamily="34" charset="-122"/>
                <a:cs typeface="Calibri" pitchFamily="34" charset="-120"/>
              </a:rPr>
              <a:t>AI CLINICAL DECISION SUPPORT LITE  ·  5-DAY HACKATHON  ·  2026</a:t>
            </a:r>
            <a:endParaRPr lang="en-US" sz="1100" dirty="0"/>
          </a:p>
        </p:txBody>
      </p:sp>
      <p:sp>
        <p:nvSpPr>
          <p:cNvPr id="7" name="Text 2"/>
          <p:cNvSpPr/>
          <p:nvPr/>
        </p:nvSpPr>
        <p:spPr>
          <a:xfrm>
            <a:off x="566928" y="1316736"/>
            <a:ext cx="7863840" cy="1737360"/>
          </a:xfrm>
          <a:prstGeom prst="rect">
            <a:avLst/>
          </a:prstGeom>
          <a:noFill/>
          <a:ln/>
        </p:spPr>
        <p:txBody>
          <a:bodyPr wrap="square" lIns="0" tIns="0" rIns="0" bIns="0" rtlCol="0" anchor="t"/>
          <a:lstStyle/>
          <a:p>
            <a:pPr indent="0" marL="0">
              <a:lnSpc>
                <a:spcPts val="5800"/>
              </a:lnSpc>
              <a:buNone/>
            </a:pPr>
            <a:r>
              <a:rPr lang="en-US" sz="5000" b="1" dirty="0">
                <a:solidFill>
                  <a:srgbClr val="FFFFFF"/>
                </a:solidFill>
                <a:latin typeface="Cambria" pitchFamily="34" charset="0"/>
                <a:ea typeface="Cambria" pitchFamily="34" charset="-122"/>
                <a:cs typeface="Cambria" pitchFamily="34" charset="-120"/>
              </a:rPr>
              <a:t>Evidence-Based</a:t>
            </a:r>
            <a:endParaRPr lang="en-US" sz="5000" dirty="0"/>
          </a:p>
          <a:p>
            <a:pPr indent="0" marL="0">
              <a:lnSpc>
                <a:spcPts val="5800"/>
              </a:lnSpc>
              <a:buNone/>
            </a:pPr>
            <a:r>
              <a:rPr lang="en-US" sz="5000" b="1" dirty="0">
                <a:solidFill>
                  <a:srgbClr val="FFFFFF"/>
                </a:solidFill>
                <a:latin typeface="Cambria" pitchFamily="34" charset="0"/>
                <a:ea typeface="Cambria" pitchFamily="34" charset="-122"/>
                <a:cs typeface="Cambria" pitchFamily="34" charset="-120"/>
              </a:rPr>
              <a:t>Supplement Assistant</a:t>
            </a:r>
            <a:endParaRPr lang="en-US" sz="5000" dirty="0"/>
          </a:p>
        </p:txBody>
      </p:sp>
      <p:sp>
        <p:nvSpPr>
          <p:cNvPr id="8" name="Text 3"/>
          <p:cNvSpPr/>
          <p:nvPr/>
        </p:nvSpPr>
        <p:spPr>
          <a:xfrm>
            <a:off x="566928" y="3127248"/>
            <a:ext cx="6858000" cy="822960"/>
          </a:xfrm>
          <a:prstGeom prst="rect">
            <a:avLst/>
          </a:prstGeom>
          <a:noFill/>
          <a:ln/>
        </p:spPr>
        <p:txBody>
          <a:bodyPr wrap="square" lIns="0" tIns="0" rIns="0" bIns="0" rtlCol="0" anchor="t"/>
          <a:lstStyle/>
          <a:p>
            <a:pPr indent="0" marL="0">
              <a:lnSpc>
                <a:spcPts val="2200"/>
              </a:lnSpc>
              <a:buNone/>
            </a:pPr>
            <a:r>
              <a:rPr lang="en-US" sz="1500" dirty="0">
                <a:solidFill>
                  <a:srgbClr val="8FA3B8"/>
                </a:solidFill>
                <a:latin typeface="Calibri" pitchFamily="34" charset="0"/>
                <a:ea typeface="Calibri" pitchFamily="34" charset="-122"/>
                <a:cs typeface="Calibri" pitchFamily="34" charset="-120"/>
              </a:rPr>
              <a:t>A retrieval-augmented assistant for sports-nutrition questions, answering only from an official NIH fact sheet — and citing the page every claim came from.</a:t>
            </a:r>
            <a:endParaRPr lang="en-US" sz="1500" dirty="0"/>
          </a:p>
        </p:txBody>
      </p:sp>
      <p:sp>
        <p:nvSpPr>
          <p:cNvPr id="9" name="Shape 4"/>
          <p:cNvSpPr/>
          <p:nvPr/>
        </p:nvSpPr>
        <p:spPr>
          <a:xfrm>
            <a:off x="8613648" y="1371600"/>
            <a:ext cx="3017520" cy="969264"/>
          </a:xfrm>
          <a:prstGeom prst="roundRect">
            <a:avLst>
              <a:gd name="adj" fmla="val 5660"/>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10" name="Text 5"/>
          <p:cNvSpPr/>
          <p:nvPr/>
        </p:nvSpPr>
        <p:spPr>
          <a:xfrm>
            <a:off x="8778240" y="1490472"/>
            <a:ext cx="2688336" cy="731520"/>
          </a:xfrm>
          <a:prstGeom prst="rect">
            <a:avLst/>
          </a:prstGeom>
          <a:noFill/>
          <a:ln/>
        </p:spPr>
        <p:txBody>
          <a:bodyPr wrap="square" lIns="0" tIns="0" rIns="0" bIns="0" rtlCol="0" anchor="t"/>
          <a:lstStyle/>
          <a:p>
            <a:pPr indent="0" marL="0">
              <a:lnSpc>
                <a:spcPts val="1600"/>
              </a:lnSpc>
              <a:buNone/>
            </a:pPr>
            <a:r>
              <a:rPr lang="en-US" sz="1050" dirty="0">
                <a:solidFill>
                  <a:srgbClr val="C9D6E4"/>
                </a:solidFill>
                <a:latin typeface="Courier New" pitchFamily="34" charset="0"/>
                <a:ea typeface="Courier New" pitchFamily="34" charset="-122"/>
                <a:cs typeface="Courier New" pitchFamily="34" charset="-120"/>
              </a:rPr>
              <a:t>Loading is 20 g/day of</a:t>
            </a:r>
            <a:endParaRPr lang="en-US" sz="1050" dirty="0"/>
          </a:p>
          <a:p>
            <a:pPr indent="0" marL="0">
              <a:lnSpc>
                <a:spcPts val="1600"/>
              </a:lnSpc>
              <a:buNone/>
            </a:pPr>
            <a:r>
              <a:rPr lang="en-US" sz="1050" dirty="0">
                <a:solidFill>
                  <a:srgbClr val="C9D6E4"/>
                </a:solidFill>
                <a:latin typeface="Courier New" pitchFamily="34" charset="0"/>
                <a:ea typeface="Courier New" pitchFamily="34" charset="-122"/>
                <a:cs typeface="Courier New" pitchFamily="34" charset="-120"/>
              </a:rPr>
              <a:t>creatine monohydrate in</a:t>
            </a:r>
            <a:endParaRPr lang="en-US" sz="1050" dirty="0"/>
          </a:p>
          <a:p>
            <a:pPr indent="0" marL="0">
              <a:lnSpc>
                <a:spcPts val="1600"/>
              </a:lnSpc>
              <a:buNone/>
            </a:pPr>
            <a:r>
              <a:rPr lang="en-US" sz="1050" dirty="0">
                <a:solidFill>
                  <a:srgbClr val="C9D6E4"/>
                </a:solidFill>
                <a:latin typeface="Courier New" pitchFamily="34" charset="0"/>
                <a:ea typeface="Courier New" pitchFamily="34" charset="-122"/>
                <a:cs typeface="Courier New" pitchFamily="34" charset="-120"/>
              </a:rPr>
              <a:t>four portions of 5 g</a:t>
            </a:r>
            <a:endParaRPr lang="en-US" sz="1050" dirty="0"/>
          </a:p>
          <a:p>
            <a:pPr indent="0" marL="0">
              <a:lnSpc>
                <a:spcPts val="1600"/>
              </a:lnSpc>
              <a:buNone/>
            </a:pPr>
            <a:r>
              <a:rPr lang="en-US" sz="1050" dirty="0">
                <a:solidFill>
                  <a:srgbClr val="C9D6E4"/>
                </a:solidFill>
                <a:latin typeface="Courier New" pitchFamily="34" charset="0"/>
                <a:ea typeface="Courier New" pitchFamily="34" charset="-122"/>
                <a:cs typeface="Courier New" pitchFamily="34" charset="-120"/>
              </a:rPr>
              <a:t>[1, p. 19].</a:t>
            </a:r>
            <a:endParaRPr lang="en-US" sz="1050" dirty="0"/>
          </a:p>
        </p:txBody>
      </p:sp>
      <p:sp>
        <p:nvSpPr>
          <p:cNvPr id="11" name="Text 6"/>
          <p:cNvSpPr/>
          <p:nvPr/>
        </p:nvSpPr>
        <p:spPr>
          <a:xfrm>
            <a:off x="8613648" y="2395728"/>
            <a:ext cx="3017520" cy="548640"/>
          </a:xfrm>
          <a:prstGeom prst="rect">
            <a:avLst/>
          </a:prstGeom>
          <a:noFill/>
          <a:ln/>
        </p:spPr>
        <p:txBody>
          <a:bodyPr wrap="square" lIns="0" tIns="0" rIns="0" bIns="0" rtlCol="0" anchor="ctr"/>
          <a:lstStyle/>
          <a:p>
            <a:pPr indent="0" marL="0">
              <a:lnSpc>
                <a:spcPts val="1300"/>
              </a:lnSpc>
              <a:buNone/>
            </a:pPr>
            <a:r>
              <a:rPr lang="en-US" sz="950" i="1" dirty="0">
                <a:solidFill>
                  <a:srgbClr val="6B7A8C"/>
                </a:solidFill>
                <a:latin typeface="Calibri" pitchFamily="34" charset="0"/>
                <a:ea typeface="Calibri" pitchFamily="34" charset="-122"/>
                <a:cs typeface="Calibri" pitchFamily="34" charset="-120"/>
              </a:rPr>
              <a:t>↑  the page is not the model's to invent —</a:t>
            </a:r>
            <a:endParaRPr lang="en-US" sz="950" dirty="0"/>
          </a:p>
          <a:p>
            <a:pPr indent="0" marL="0">
              <a:lnSpc>
                <a:spcPts val="1300"/>
              </a:lnSpc>
              <a:buNone/>
            </a:pPr>
            <a:r>
              <a:rPr lang="en-US" sz="950" i="1" dirty="0">
                <a:solidFill>
                  <a:srgbClr val="6B7A8C"/>
                </a:solidFill>
                <a:latin typeface="Calibri" pitchFamily="34" charset="0"/>
                <a:ea typeface="Calibri" pitchFamily="34" charset="-122"/>
                <a:cs typeface="Calibri" pitchFamily="34" charset="-120"/>
              </a:rPr>
              <a:t>    it is rewritten from the index</a:t>
            </a:r>
            <a:endParaRPr lang="en-US" sz="950" dirty="0"/>
          </a:p>
        </p:txBody>
      </p:sp>
      <p:sp>
        <p:nvSpPr>
          <p:cNvPr id="12" name="Text 7"/>
          <p:cNvSpPr/>
          <p:nvPr/>
        </p:nvSpPr>
        <p:spPr>
          <a:xfrm>
            <a:off x="566928" y="4224528"/>
            <a:ext cx="2103120" cy="5486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1,144</a:t>
            </a:r>
            <a:endParaRPr lang="en-US" sz="3400" dirty="0"/>
          </a:p>
        </p:txBody>
      </p:sp>
      <p:sp>
        <p:nvSpPr>
          <p:cNvPr id="13" name="Text 8"/>
          <p:cNvSpPr/>
          <p:nvPr/>
        </p:nvSpPr>
        <p:spPr>
          <a:xfrm>
            <a:off x="566928" y="4773168"/>
            <a:ext cx="2103120" cy="355600"/>
          </a:xfrm>
          <a:prstGeom prst="rect">
            <a:avLst/>
          </a:prstGeom>
          <a:noFill/>
          <a:ln/>
        </p:spPr>
        <p:txBody>
          <a:bodyPr wrap="square" lIns="0" tIns="0" rIns="0" bIns="0" rtlCol="0" anchor="t"/>
          <a:lstStyle/>
          <a:p>
            <a:pPr algn="l" indent="0" marL="0">
              <a:lnSpc>
                <a:spcPts val="1400"/>
              </a:lnSpc>
              <a:buNone/>
            </a:pPr>
            <a:r>
              <a:rPr lang="en-US" sz="1000" dirty="0">
                <a:solidFill>
                  <a:srgbClr val="6B7A8C"/>
                </a:solidFill>
                <a:latin typeface="Calibri" pitchFamily="34" charset="0"/>
                <a:ea typeface="Calibri" pitchFamily="34" charset="-122"/>
                <a:cs typeface="Calibri" pitchFamily="34" charset="-120"/>
              </a:rPr>
              <a:t>rows indexed</a:t>
            </a:r>
            <a:endParaRPr lang="en-US" sz="1000" dirty="0"/>
          </a:p>
          <a:p>
            <a:pPr algn="l" indent="0" marL="0">
              <a:lnSpc>
                <a:spcPts val="1400"/>
              </a:lnSpc>
              <a:buNone/>
            </a:pPr>
            <a:r>
              <a:rPr lang="en-US" sz="1000" dirty="0">
                <a:solidFill>
                  <a:srgbClr val="6B7A8C"/>
                </a:solidFill>
                <a:latin typeface="Calibri" pitchFamily="34" charset="0"/>
                <a:ea typeface="Calibri" pitchFamily="34" charset="-122"/>
                <a:cs typeface="Calibri" pitchFamily="34" charset="-120"/>
              </a:rPr>
              <a:t>from a 32-page PDF</a:t>
            </a:r>
            <a:endParaRPr lang="en-US" sz="1000" dirty="0"/>
          </a:p>
        </p:txBody>
      </p:sp>
      <p:sp>
        <p:nvSpPr>
          <p:cNvPr id="14" name="Text 9"/>
          <p:cNvSpPr/>
          <p:nvPr/>
        </p:nvSpPr>
        <p:spPr>
          <a:xfrm>
            <a:off x="2779776" y="4224528"/>
            <a:ext cx="2103120" cy="5486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15/15</a:t>
            </a:r>
            <a:endParaRPr lang="en-US" sz="3400" dirty="0"/>
          </a:p>
        </p:txBody>
      </p:sp>
      <p:sp>
        <p:nvSpPr>
          <p:cNvPr id="15" name="Text 10"/>
          <p:cNvSpPr/>
          <p:nvPr/>
        </p:nvSpPr>
        <p:spPr>
          <a:xfrm>
            <a:off x="2779776" y="4773168"/>
            <a:ext cx="2103120" cy="355600"/>
          </a:xfrm>
          <a:prstGeom prst="rect">
            <a:avLst/>
          </a:prstGeom>
          <a:noFill/>
          <a:ln/>
        </p:spPr>
        <p:txBody>
          <a:bodyPr wrap="square" lIns="0" tIns="0" rIns="0" bIns="0" rtlCol="0" anchor="t"/>
          <a:lstStyle/>
          <a:p>
            <a:pPr algn="l" indent="0" marL="0">
              <a:lnSpc>
                <a:spcPts val="1400"/>
              </a:lnSpc>
              <a:buNone/>
            </a:pPr>
            <a:r>
              <a:rPr lang="en-US" sz="1000" dirty="0">
                <a:solidFill>
                  <a:srgbClr val="6B7A8C"/>
                </a:solidFill>
                <a:latin typeface="Calibri" pitchFamily="34" charset="0"/>
                <a:ea typeface="Calibri" pitchFamily="34" charset="-122"/>
                <a:cs typeface="Calibri" pitchFamily="34" charset="-120"/>
              </a:rPr>
              <a:t>page citations</a:t>
            </a:r>
            <a:endParaRPr lang="en-US" sz="1000" dirty="0"/>
          </a:p>
          <a:p>
            <a:pPr algn="l" indent="0" marL="0">
              <a:lnSpc>
                <a:spcPts val="1400"/>
              </a:lnSpc>
              <a:buNone/>
            </a:pPr>
            <a:r>
              <a:rPr lang="en-US" sz="1000" dirty="0">
                <a:solidFill>
                  <a:srgbClr val="6B7A8C"/>
                </a:solidFill>
                <a:latin typeface="Calibri" pitchFamily="34" charset="0"/>
                <a:ea typeface="Calibri" pitchFamily="34" charset="-122"/>
                <a:cs typeface="Calibri" pitchFamily="34" charset="-120"/>
              </a:rPr>
              <a:t>verified by hand</a:t>
            </a:r>
            <a:endParaRPr lang="en-US" sz="1000" dirty="0"/>
          </a:p>
        </p:txBody>
      </p:sp>
      <p:sp>
        <p:nvSpPr>
          <p:cNvPr id="16" name="Text 11"/>
          <p:cNvSpPr/>
          <p:nvPr/>
        </p:nvSpPr>
        <p:spPr>
          <a:xfrm>
            <a:off x="4992624" y="4224528"/>
            <a:ext cx="2103120" cy="5486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34</a:t>
            </a:r>
            <a:endParaRPr lang="en-US" sz="3400" dirty="0"/>
          </a:p>
        </p:txBody>
      </p:sp>
      <p:sp>
        <p:nvSpPr>
          <p:cNvPr id="17" name="Text 12"/>
          <p:cNvSpPr/>
          <p:nvPr/>
        </p:nvSpPr>
        <p:spPr>
          <a:xfrm>
            <a:off x="4992624" y="4773168"/>
            <a:ext cx="2103120" cy="355600"/>
          </a:xfrm>
          <a:prstGeom prst="rect">
            <a:avLst/>
          </a:prstGeom>
          <a:noFill/>
          <a:ln/>
        </p:spPr>
        <p:txBody>
          <a:bodyPr wrap="square" lIns="0" tIns="0" rIns="0" bIns="0" rtlCol="0" anchor="t"/>
          <a:lstStyle/>
          <a:p>
            <a:pPr algn="l" indent="0" marL="0">
              <a:lnSpc>
                <a:spcPts val="1400"/>
              </a:lnSpc>
              <a:buNone/>
            </a:pPr>
            <a:r>
              <a:rPr lang="en-US" sz="1000" dirty="0">
                <a:solidFill>
                  <a:srgbClr val="6B7A8C"/>
                </a:solidFill>
                <a:latin typeface="Calibri" pitchFamily="34" charset="0"/>
                <a:ea typeface="Calibri" pitchFamily="34" charset="-122"/>
                <a:cs typeface="Calibri" pitchFamily="34" charset="-120"/>
              </a:rPr>
              <a:t>golden questions,</a:t>
            </a:r>
            <a:endParaRPr lang="en-US" sz="1000" dirty="0"/>
          </a:p>
          <a:p>
            <a:pPr algn="l" indent="0" marL="0">
              <a:lnSpc>
                <a:spcPts val="1400"/>
              </a:lnSpc>
              <a:buNone/>
            </a:pPr>
            <a:r>
              <a:rPr lang="en-US" sz="1000" dirty="0">
                <a:solidFill>
                  <a:srgbClr val="6B7A8C"/>
                </a:solidFill>
                <a:latin typeface="Calibri" pitchFamily="34" charset="0"/>
                <a:ea typeface="Calibri" pitchFamily="34" charset="-122"/>
                <a:cs typeface="Calibri" pitchFamily="34" charset="-120"/>
              </a:rPr>
              <a:t>built to break it</a:t>
            </a:r>
            <a:endParaRPr lang="en-US" sz="1000" dirty="0"/>
          </a:p>
        </p:txBody>
      </p:sp>
      <p:sp>
        <p:nvSpPr>
          <p:cNvPr id="18" name="Text 13"/>
          <p:cNvSpPr/>
          <p:nvPr/>
        </p:nvSpPr>
        <p:spPr>
          <a:xfrm>
            <a:off x="7205472" y="4224528"/>
            <a:ext cx="2103120" cy="5486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68</a:t>
            </a:r>
            <a:endParaRPr lang="en-US" sz="3400" dirty="0"/>
          </a:p>
        </p:txBody>
      </p:sp>
      <p:sp>
        <p:nvSpPr>
          <p:cNvPr id="19" name="Text 14"/>
          <p:cNvSpPr/>
          <p:nvPr/>
        </p:nvSpPr>
        <p:spPr>
          <a:xfrm>
            <a:off x="7205472" y="4773168"/>
            <a:ext cx="2103120" cy="355600"/>
          </a:xfrm>
          <a:prstGeom prst="rect">
            <a:avLst/>
          </a:prstGeom>
          <a:noFill/>
          <a:ln/>
        </p:spPr>
        <p:txBody>
          <a:bodyPr wrap="square" lIns="0" tIns="0" rIns="0" bIns="0" rtlCol="0" anchor="t"/>
          <a:lstStyle/>
          <a:p>
            <a:pPr algn="l" indent="0" marL="0">
              <a:lnSpc>
                <a:spcPts val="1400"/>
              </a:lnSpc>
              <a:buNone/>
            </a:pPr>
            <a:r>
              <a:rPr lang="en-US" sz="1000" dirty="0">
                <a:solidFill>
                  <a:srgbClr val="6B7A8C"/>
                </a:solidFill>
                <a:latin typeface="Calibri" pitchFamily="34" charset="0"/>
                <a:ea typeface="Calibri" pitchFamily="34" charset="-122"/>
                <a:cs typeface="Calibri" pitchFamily="34" charset="-120"/>
              </a:rPr>
              <a:t>automated tests</a:t>
            </a:r>
            <a:endParaRPr lang="en-US" sz="1000" dirty="0"/>
          </a:p>
          <a:p>
            <a:pPr algn="l" indent="0" marL="0">
              <a:lnSpc>
                <a:spcPts val="1400"/>
              </a:lnSpc>
              <a:buNone/>
            </a:pPr>
            <a:r>
              <a:rPr lang="en-US" sz="1000" dirty="0">
                <a:solidFill>
                  <a:srgbClr val="6B7A8C"/>
                </a:solidFill>
                <a:latin typeface="Calibri" pitchFamily="34" charset="0"/>
                <a:ea typeface="Calibri" pitchFamily="34" charset="-122"/>
                <a:cs typeface="Calibri" pitchFamily="34" charset="-120"/>
              </a:rPr>
              <a:t>passing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6108192"/>
            <a:ext cx="4306229" cy="585216"/>
          </a:xfrm>
          <a:prstGeom prst="roundRect">
            <a:avLst>
              <a:gd name="adj" fmla="val 9375"/>
            </a:avLst>
          </a:prstGeom>
          <a:solidFill>
            <a:srgbClr val="FFFFFF"/>
          </a:solidFill>
          <a:ln w="12700">
            <a:solidFill>
              <a:srgbClr val="FFFFFF"/>
            </a:solidFill>
            <a:prstDash val="solid"/>
          </a:ln>
        </p:spPr>
      </p:sp>
      <p:pic>
        <p:nvPicPr>
          <p:cNvPr id="3" name="Image 0" descr="/Users/Marwan/Projects/athletic-dietry-rag/presentation/assets/logos/creativa.png">    </p:cNvPr>
          <p:cNvPicPr>
            <a:picLocks noChangeAspect="1"/>
          </p:cNvPicPr>
          <p:nvPr/>
        </p:nvPicPr>
        <p:blipFill>
          <a:blip r:embed="rId1"/>
          <a:stretch>
            <a:fillRect/>
          </a:stretch>
        </p:blipFill>
        <p:spPr>
          <a:xfrm>
            <a:off x="731520" y="6208776"/>
            <a:ext cx="356021" cy="384048"/>
          </a:xfrm>
          <a:prstGeom prst="rect">
            <a:avLst/>
          </a:prstGeom>
        </p:spPr>
      </p:pic>
      <p:pic>
        <p:nvPicPr>
          <p:cNvPr id="4" name="Image 1" descr="/Users/Marwan/Projects/athletic-dietry-rag/presentation/assets/logos/instant.png">    </p:cNvPr>
          <p:cNvPicPr>
            <a:picLocks noChangeAspect="1"/>
          </p:cNvPicPr>
          <p:nvPr/>
        </p:nvPicPr>
        <p:blipFill>
          <a:blip r:embed="rId2"/>
          <a:stretch>
            <a:fillRect/>
          </a:stretch>
        </p:blipFill>
        <p:spPr>
          <a:xfrm>
            <a:off x="1416725" y="6305902"/>
            <a:ext cx="1481328" cy="189795"/>
          </a:xfrm>
          <a:prstGeom prst="rect">
            <a:avLst/>
          </a:prstGeom>
        </p:spPr>
      </p:pic>
      <p:pic>
        <p:nvPicPr>
          <p:cNvPr id="5" name="Image 2" descr="/Users/Marwan/Projects/athletic-dietry-rag/presentation/assets/logos/orange.png">    </p:cNvPr>
          <p:cNvPicPr>
            <a:picLocks noChangeAspect="1"/>
          </p:cNvPicPr>
          <p:nvPr/>
        </p:nvPicPr>
        <p:blipFill>
          <a:blip r:embed="rId3"/>
          <a:stretch>
            <a:fillRect/>
          </a:stretch>
        </p:blipFill>
        <p:spPr>
          <a:xfrm>
            <a:off x="3227237" y="6240122"/>
            <a:ext cx="1481328" cy="321355"/>
          </a:xfrm>
          <a:prstGeom prst="rect">
            <a:avLst/>
          </a:prstGeom>
        </p:spPr>
      </p:pic>
      <p:sp>
        <p:nvSpPr>
          <p:cNvPr id="6" name="Text 1"/>
          <p:cNvSpPr/>
          <p:nvPr/>
        </p:nvSpPr>
        <p:spPr>
          <a:xfrm>
            <a:off x="566928" y="1700784"/>
            <a:ext cx="2011680" cy="1956816"/>
          </a:xfrm>
          <a:prstGeom prst="rect">
            <a:avLst/>
          </a:prstGeom>
          <a:noFill/>
          <a:ln/>
        </p:spPr>
        <p:txBody>
          <a:bodyPr wrap="square" lIns="0" tIns="0" rIns="0" bIns="0" rtlCol="0" anchor="ctr"/>
          <a:lstStyle/>
          <a:p>
            <a:pPr indent="0" marL="0">
              <a:buNone/>
            </a:pPr>
            <a:r>
              <a:rPr lang="en-US" sz="11600" b="1" dirty="0">
                <a:solidFill>
                  <a:srgbClr val="2A3D55"/>
                </a:solidFill>
                <a:latin typeface="Cambria" pitchFamily="34" charset="0"/>
                <a:ea typeface="Cambria" pitchFamily="34" charset="-122"/>
                <a:cs typeface="Cambria" pitchFamily="34" charset="-120"/>
              </a:rPr>
              <a:t>01</a:t>
            </a:r>
            <a:endParaRPr lang="en-US" sz="11600" dirty="0"/>
          </a:p>
        </p:txBody>
      </p:sp>
      <p:sp>
        <p:nvSpPr>
          <p:cNvPr id="7" name="Text 2"/>
          <p:cNvSpPr/>
          <p:nvPr/>
        </p:nvSpPr>
        <p:spPr>
          <a:xfrm>
            <a:off x="2441448" y="1956816"/>
            <a:ext cx="9183319" cy="274320"/>
          </a:xfrm>
          <a:prstGeom prst="rect">
            <a:avLst/>
          </a:prstGeom>
          <a:noFill/>
          <a:ln/>
        </p:spPr>
        <p:txBody>
          <a:bodyPr wrap="square" lIns="0" tIns="0" rIns="0" bIns="0" rtlCol="0" anchor="ctr"/>
          <a:lstStyle/>
          <a:p>
            <a:pPr indent="0" marL="0">
              <a:buNone/>
            </a:pPr>
            <a:r>
              <a:rPr lang="en-US" sz="1100" b="1" spc="160" kern="0" dirty="0">
                <a:solidFill>
                  <a:srgbClr val="FF7900"/>
                </a:solidFill>
                <a:latin typeface="Calibri" pitchFamily="34" charset="0"/>
                <a:ea typeface="Calibri" pitchFamily="34" charset="-122"/>
                <a:cs typeface="Calibri" pitchFamily="34" charset="-120"/>
              </a:rPr>
              <a:t>SECTION ONE</a:t>
            </a:r>
            <a:endParaRPr lang="en-US" sz="1100" dirty="0"/>
          </a:p>
        </p:txBody>
      </p:sp>
      <p:sp>
        <p:nvSpPr>
          <p:cNvPr id="8" name="Text 3"/>
          <p:cNvSpPr/>
          <p:nvPr/>
        </p:nvSpPr>
        <p:spPr>
          <a:xfrm>
            <a:off x="2414016" y="2231136"/>
            <a:ext cx="9046159" cy="1005840"/>
          </a:xfrm>
          <a:prstGeom prst="rect">
            <a:avLst/>
          </a:prstGeom>
          <a:noFill/>
          <a:ln/>
        </p:spPr>
        <p:txBody>
          <a:bodyPr wrap="square" lIns="0" tIns="0" rIns="0" bIns="0" rtlCol="0" anchor="t"/>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The problem</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and the challenge</a:t>
            </a:r>
            <a:endParaRPr lang="en-US" sz="3400" dirty="0"/>
          </a:p>
        </p:txBody>
      </p:sp>
      <p:sp>
        <p:nvSpPr>
          <p:cNvPr id="9" name="Text 4"/>
          <p:cNvSpPr/>
          <p:nvPr/>
        </p:nvSpPr>
        <p:spPr>
          <a:xfrm>
            <a:off x="2441448" y="3438144"/>
            <a:ext cx="8680399" cy="731520"/>
          </a:xfrm>
          <a:prstGeom prst="rect">
            <a:avLst/>
          </a:prstGeom>
          <a:noFill/>
          <a:ln/>
        </p:spPr>
        <p:txBody>
          <a:bodyPr wrap="square" lIns="0" tIns="0" rIns="0" bIns="0" rtlCol="0" anchor="t"/>
          <a:lstStyle/>
          <a:p>
            <a:pPr indent="0" marL="0">
              <a:lnSpc>
                <a:spcPts val="1900"/>
              </a:lnSpc>
              <a:buNone/>
            </a:pPr>
            <a:r>
              <a:rPr lang="en-US" sz="1350" i="1" dirty="0">
                <a:solidFill>
                  <a:srgbClr val="8FA3B8"/>
                </a:solidFill>
                <a:latin typeface="Calibri" pitchFamily="34" charset="0"/>
                <a:ea typeface="Calibri" pitchFamily="34" charset="-122"/>
                <a:cs typeface="Calibri" pitchFamily="34" charset="-120"/>
              </a:rPr>
              <a:t>Fluent medical advice is easy. Traceable medical advice is the hard part — and the only kind that is safe to act on.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THE PROBLEM</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An LLM will answer. It will not tell you where the answer came from.</a:t>
            </a:r>
            <a:endParaRPr lang="en-US" sz="3000" dirty="0"/>
          </a:p>
        </p:txBody>
      </p:sp>
      <p:sp>
        <p:nvSpPr>
          <p:cNvPr id="7" name="Text 2"/>
          <p:cNvSpPr/>
          <p:nvPr/>
        </p:nvSpPr>
        <p:spPr>
          <a:xfrm>
            <a:off x="566928" y="1844040"/>
            <a:ext cx="11057839" cy="562864"/>
          </a:xfrm>
          <a:prstGeom prst="rect">
            <a:avLst/>
          </a:prstGeom>
          <a:noFill/>
          <a:ln/>
        </p:spPr>
        <p:txBody>
          <a:bodyPr wrap="square" lIns="0" tIns="0" rIns="0" bIns="0" rtlCol="0" anchor="t"/>
          <a:lstStyle/>
          <a:p>
            <a:pPr indent="0" marL="0">
              <a:lnSpc>
                <a:spcPts val="2000"/>
              </a:lnSpc>
              <a:buNone/>
            </a:pPr>
            <a:r>
              <a:rPr lang="en-US" sz="1450" i="1" dirty="0">
                <a:solidFill>
                  <a:srgbClr val="6B7A8C"/>
                </a:solidFill>
                <a:latin typeface="Calibri" pitchFamily="34" charset="0"/>
                <a:ea typeface="Calibri" pitchFamily="34" charset="-122"/>
                <a:cs typeface="Calibri" pitchFamily="34" charset="-120"/>
              </a:rPr>
              <a:t>Supplement questions are exactly where an ungrounded model is most convincing and least checkable: the vocabulary is technical, the claims are quantitative, and the reader has no way to audit them.</a:t>
            </a:r>
            <a:endParaRPr lang="en-US" sz="1450" dirty="0"/>
          </a:p>
        </p:txBody>
      </p:sp>
      <p:sp>
        <p:nvSpPr>
          <p:cNvPr id="8" name="Shape 3"/>
          <p:cNvSpPr/>
          <p:nvPr/>
        </p:nvSpPr>
        <p:spPr>
          <a:xfrm>
            <a:off x="566928" y="2608072"/>
            <a:ext cx="3557930" cy="2212848"/>
          </a:xfrm>
          <a:prstGeom prst="roundRect">
            <a:avLst>
              <a:gd name="adj" fmla="val 2479"/>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9" name="Shape 4"/>
          <p:cNvSpPr/>
          <p:nvPr/>
        </p:nvSpPr>
        <p:spPr>
          <a:xfrm>
            <a:off x="804672" y="2845816"/>
            <a:ext cx="329184" cy="329184"/>
          </a:xfrm>
          <a:prstGeom prst="ellipse">
            <a:avLst/>
          </a:prstGeom>
          <a:solidFill>
            <a:srgbClr val="FF7900"/>
          </a:solidFill>
          <a:ln w="12700">
            <a:solidFill>
              <a:srgbClr val="FF7900"/>
            </a:solidFill>
            <a:prstDash val="solid"/>
          </a:ln>
        </p:spPr>
      </p:sp>
      <p:sp>
        <p:nvSpPr>
          <p:cNvPr id="10" name="Text 5"/>
          <p:cNvSpPr/>
          <p:nvPr/>
        </p:nvSpPr>
        <p:spPr>
          <a:xfrm>
            <a:off x="804672" y="28458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6"/>
          <p:cNvSpPr/>
          <p:nvPr/>
        </p:nvSpPr>
        <p:spPr>
          <a:xfrm>
            <a:off x="804672" y="3303016"/>
            <a:ext cx="3082442" cy="329184"/>
          </a:xfrm>
          <a:prstGeom prst="rect">
            <a:avLst/>
          </a:prstGeom>
          <a:noFill/>
          <a:ln/>
        </p:spPr>
        <p:txBody>
          <a:bodyPr wrap="square" lIns="0" tIns="0" rIns="0" bIns="0" rtlCol="0" anchor="ctr"/>
          <a:lstStyle/>
          <a:p>
            <a:pPr indent="0" marL="0">
              <a:buNone/>
            </a:pPr>
            <a:r>
              <a:rPr lang="en-US" sz="1550" b="1" dirty="0">
                <a:solidFill>
                  <a:srgbClr val="0E1A2B"/>
                </a:solidFill>
                <a:latin typeface="Cambria" pitchFamily="34" charset="0"/>
                <a:ea typeface="Cambria" pitchFamily="34" charset="-122"/>
                <a:cs typeface="Cambria" pitchFamily="34" charset="-120"/>
              </a:rPr>
              <a:t>It sounds like evidence</a:t>
            </a:r>
            <a:endParaRPr lang="en-US" sz="1550" dirty="0"/>
          </a:p>
        </p:txBody>
      </p:sp>
      <p:sp>
        <p:nvSpPr>
          <p:cNvPr id="12" name="Text 7"/>
          <p:cNvSpPr/>
          <p:nvPr/>
        </p:nvSpPr>
        <p:spPr>
          <a:xfrm>
            <a:off x="804672" y="3650488"/>
            <a:ext cx="3082442" cy="1042416"/>
          </a:xfrm>
          <a:prstGeom prst="rect">
            <a:avLst/>
          </a:prstGeom>
          <a:noFill/>
          <a:ln/>
        </p:spPr>
        <p:txBody>
          <a:bodyPr wrap="square" lIns="0" tIns="0" rIns="0" bIns="0" rtlCol="0" anchor="t"/>
          <a:lstStyle/>
          <a:p>
            <a:pPr indent="0" marL="0">
              <a:lnSpc>
                <a:spcPts val="1550"/>
              </a:lnSpc>
              <a:buNone/>
            </a:pPr>
            <a:r>
              <a:rPr lang="en-US" sz="1150" dirty="0">
                <a:solidFill>
                  <a:srgbClr val="39485C"/>
                </a:solidFill>
                <a:latin typeface="Calibri" pitchFamily="34" charset="0"/>
                <a:ea typeface="Calibri" pitchFamily="34" charset="-122"/>
                <a:cs typeface="Calibri" pitchFamily="34" charset="-120"/>
              </a:rPr>
              <a:t>A dose, a loading protocol, a timing window — stated in the register of a clinical guideline, with nothing behind it. The confidence is indistinguishable from the grounded case.</a:t>
            </a:r>
            <a:endParaRPr lang="en-US" sz="1150" dirty="0"/>
          </a:p>
        </p:txBody>
      </p:sp>
      <p:sp>
        <p:nvSpPr>
          <p:cNvPr id="13" name="Shape 8"/>
          <p:cNvSpPr/>
          <p:nvPr/>
        </p:nvSpPr>
        <p:spPr>
          <a:xfrm>
            <a:off x="4316882" y="2608072"/>
            <a:ext cx="3557930" cy="2212848"/>
          </a:xfrm>
          <a:prstGeom prst="roundRect">
            <a:avLst>
              <a:gd name="adj" fmla="val 2479"/>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4" name="Shape 9"/>
          <p:cNvSpPr/>
          <p:nvPr/>
        </p:nvSpPr>
        <p:spPr>
          <a:xfrm>
            <a:off x="4554626" y="2845816"/>
            <a:ext cx="329184" cy="329184"/>
          </a:xfrm>
          <a:prstGeom prst="ellipse">
            <a:avLst/>
          </a:prstGeom>
          <a:solidFill>
            <a:srgbClr val="FF7900"/>
          </a:solidFill>
          <a:ln w="12700">
            <a:solidFill>
              <a:srgbClr val="FF7900"/>
            </a:solidFill>
            <a:prstDash val="solid"/>
          </a:ln>
        </p:spPr>
      </p:sp>
      <p:sp>
        <p:nvSpPr>
          <p:cNvPr id="15" name="Text 10"/>
          <p:cNvSpPr/>
          <p:nvPr/>
        </p:nvSpPr>
        <p:spPr>
          <a:xfrm>
            <a:off x="4554626" y="28458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1"/>
          <p:cNvSpPr/>
          <p:nvPr/>
        </p:nvSpPr>
        <p:spPr>
          <a:xfrm>
            <a:off x="4554626" y="3303016"/>
            <a:ext cx="3082442" cy="329184"/>
          </a:xfrm>
          <a:prstGeom prst="rect">
            <a:avLst/>
          </a:prstGeom>
          <a:noFill/>
          <a:ln/>
        </p:spPr>
        <p:txBody>
          <a:bodyPr wrap="square" lIns="0" tIns="0" rIns="0" bIns="0" rtlCol="0" anchor="ctr"/>
          <a:lstStyle/>
          <a:p>
            <a:pPr indent="0" marL="0">
              <a:buNone/>
            </a:pPr>
            <a:r>
              <a:rPr lang="en-US" sz="1550" b="1" dirty="0">
                <a:solidFill>
                  <a:srgbClr val="0E1A2B"/>
                </a:solidFill>
                <a:latin typeface="Cambria" pitchFamily="34" charset="0"/>
                <a:ea typeface="Cambria" pitchFamily="34" charset="-122"/>
                <a:cs typeface="Cambria" pitchFamily="34" charset="-120"/>
              </a:rPr>
              <a:t>It accepts a false premise</a:t>
            </a:r>
            <a:endParaRPr lang="en-US" sz="1550" dirty="0"/>
          </a:p>
        </p:txBody>
      </p:sp>
      <p:sp>
        <p:nvSpPr>
          <p:cNvPr id="17" name="Text 12"/>
          <p:cNvSpPr/>
          <p:nvPr/>
        </p:nvSpPr>
        <p:spPr>
          <a:xfrm>
            <a:off x="4554626" y="3650488"/>
            <a:ext cx="3082442" cy="1042416"/>
          </a:xfrm>
          <a:prstGeom prst="rect">
            <a:avLst/>
          </a:prstGeom>
          <a:noFill/>
          <a:ln/>
        </p:spPr>
        <p:txBody>
          <a:bodyPr wrap="square" lIns="0" tIns="0" rIns="0" bIns="0" rtlCol="0" anchor="t"/>
          <a:lstStyle/>
          <a:p>
            <a:pPr indent="0" marL="0">
              <a:lnSpc>
                <a:spcPts val="1550"/>
              </a:lnSpc>
              <a:buNone/>
            </a:pPr>
            <a:r>
              <a:rPr lang="en-US" sz="1150" dirty="0">
                <a:solidFill>
                  <a:srgbClr val="39485C"/>
                </a:solidFill>
                <a:latin typeface="Calibri" pitchFamily="34" charset="0"/>
                <a:ea typeface="Calibri" pitchFamily="34" charset="-122"/>
                <a:cs typeface="Calibri" pitchFamily="34" charset="-120"/>
              </a:rPr>
              <a:t>Ask “since DHEA raises testosterone, what dose should athletes take?” and a helpful model supplies one. The NIH fact sheet says DHEA does not improve performance at all.</a:t>
            </a:r>
            <a:endParaRPr lang="en-US" sz="1150" dirty="0"/>
          </a:p>
        </p:txBody>
      </p:sp>
      <p:sp>
        <p:nvSpPr>
          <p:cNvPr id="18" name="Shape 13"/>
          <p:cNvSpPr/>
          <p:nvPr/>
        </p:nvSpPr>
        <p:spPr>
          <a:xfrm>
            <a:off x="8066837" y="2608072"/>
            <a:ext cx="3557930" cy="2212848"/>
          </a:xfrm>
          <a:prstGeom prst="roundRect">
            <a:avLst>
              <a:gd name="adj" fmla="val 2479"/>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9" name="Shape 14"/>
          <p:cNvSpPr/>
          <p:nvPr/>
        </p:nvSpPr>
        <p:spPr>
          <a:xfrm>
            <a:off x="8304581" y="2845816"/>
            <a:ext cx="329184" cy="329184"/>
          </a:xfrm>
          <a:prstGeom prst="ellipse">
            <a:avLst/>
          </a:prstGeom>
          <a:solidFill>
            <a:srgbClr val="FF7900"/>
          </a:solidFill>
          <a:ln w="12700">
            <a:solidFill>
              <a:srgbClr val="FF7900"/>
            </a:solidFill>
            <a:prstDash val="solid"/>
          </a:ln>
        </p:spPr>
      </p:sp>
      <p:sp>
        <p:nvSpPr>
          <p:cNvPr id="20" name="Text 15"/>
          <p:cNvSpPr/>
          <p:nvPr/>
        </p:nvSpPr>
        <p:spPr>
          <a:xfrm>
            <a:off x="8304581" y="28458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6"/>
          <p:cNvSpPr/>
          <p:nvPr/>
        </p:nvSpPr>
        <p:spPr>
          <a:xfrm>
            <a:off x="8304581" y="3303016"/>
            <a:ext cx="3082442" cy="329184"/>
          </a:xfrm>
          <a:prstGeom prst="rect">
            <a:avLst/>
          </a:prstGeom>
          <a:noFill/>
          <a:ln/>
        </p:spPr>
        <p:txBody>
          <a:bodyPr wrap="square" lIns="0" tIns="0" rIns="0" bIns="0" rtlCol="0" anchor="ctr"/>
          <a:lstStyle/>
          <a:p>
            <a:pPr indent="0" marL="0">
              <a:buNone/>
            </a:pPr>
            <a:r>
              <a:rPr lang="en-US" sz="1550" b="1" dirty="0">
                <a:solidFill>
                  <a:srgbClr val="0E1A2B"/>
                </a:solidFill>
                <a:latin typeface="Cambria" pitchFamily="34" charset="0"/>
                <a:ea typeface="Cambria" pitchFamily="34" charset="-122"/>
                <a:cs typeface="Cambria" pitchFamily="34" charset="-120"/>
              </a:rPr>
              <a:t>It cannot be audited</a:t>
            </a:r>
            <a:endParaRPr lang="en-US" sz="1550" dirty="0"/>
          </a:p>
        </p:txBody>
      </p:sp>
      <p:sp>
        <p:nvSpPr>
          <p:cNvPr id="22" name="Text 17"/>
          <p:cNvSpPr/>
          <p:nvPr/>
        </p:nvSpPr>
        <p:spPr>
          <a:xfrm>
            <a:off x="8304581" y="3650488"/>
            <a:ext cx="3082442" cy="1042416"/>
          </a:xfrm>
          <a:prstGeom prst="rect">
            <a:avLst/>
          </a:prstGeom>
          <a:noFill/>
          <a:ln/>
        </p:spPr>
        <p:txBody>
          <a:bodyPr wrap="square" lIns="0" tIns="0" rIns="0" bIns="0" rtlCol="0" anchor="t"/>
          <a:lstStyle/>
          <a:p>
            <a:pPr indent="0" marL="0">
              <a:lnSpc>
                <a:spcPts val="1550"/>
              </a:lnSpc>
              <a:buNone/>
            </a:pPr>
            <a:r>
              <a:rPr lang="en-US" sz="1150" dirty="0">
                <a:solidFill>
                  <a:srgbClr val="39485C"/>
                </a:solidFill>
                <a:latin typeface="Calibri" pitchFamily="34" charset="0"/>
                <a:ea typeface="Calibri" pitchFamily="34" charset="-122"/>
                <a:cs typeface="Calibri" pitchFamily="34" charset="-120"/>
              </a:rPr>
              <a:t>A coach, dietitian or clinician cannot check a claim they cannot trace. Without a document, a section and a page, review is impossible and the answer is unusable in practice.</a:t>
            </a:r>
            <a:endParaRPr lang="en-US" sz="1150" dirty="0"/>
          </a:p>
        </p:txBody>
      </p:sp>
      <p:sp>
        <p:nvSpPr>
          <p:cNvPr id="23" name="Text 18"/>
          <p:cNvSpPr/>
          <p:nvPr/>
        </p:nvSpPr>
        <p:spPr>
          <a:xfrm>
            <a:off x="566928" y="4985512"/>
            <a:ext cx="11057839" cy="402336"/>
          </a:xfrm>
          <a:prstGeom prst="rect">
            <a:avLst/>
          </a:prstGeom>
          <a:noFill/>
          <a:ln/>
        </p:spPr>
        <p:txBody>
          <a:bodyPr wrap="square" lIns="0" tIns="0" rIns="0" bIns="0" rtlCol="0" anchor="ctr"/>
          <a:lstStyle/>
          <a:p>
            <a:pPr indent="0" marL="0">
              <a:lnSpc>
                <a:spcPts val="1600"/>
              </a:lnSpc>
              <a:buNone/>
            </a:pPr>
            <a:r>
              <a:rPr lang="en-US" sz="1200" i="1" dirty="0">
                <a:solidFill>
                  <a:srgbClr val="6B7A8C"/>
                </a:solidFill>
                <a:latin typeface="Calibri" pitchFamily="34" charset="0"/>
                <a:ea typeface="Calibri" pitchFamily="34" charset="-122"/>
                <a:cs typeface="Calibri" pitchFamily="34" charset="-120"/>
              </a:rPr>
              <a:t>Three of our 34 evaluation questions are ones the source document cannot answer. A system with no refusal path answers all three — fluently, and from nowhere.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THE CHALLENGE</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Four layers, and a scorecard that says which ones matter</a:t>
            </a:r>
            <a:endParaRPr lang="en-US" sz="3000" dirty="0"/>
          </a:p>
        </p:txBody>
      </p:sp>
      <p:sp>
        <p:nvSpPr>
          <p:cNvPr id="7" name="Shape 2"/>
          <p:cNvSpPr/>
          <p:nvPr/>
        </p:nvSpPr>
        <p:spPr>
          <a:xfrm>
            <a:off x="566928" y="1645920"/>
            <a:ext cx="310896" cy="310896"/>
          </a:xfrm>
          <a:prstGeom prst="ellipse">
            <a:avLst/>
          </a:prstGeom>
          <a:solidFill>
            <a:srgbClr val="FF7900"/>
          </a:solidFill>
          <a:ln w="12700">
            <a:solidFill>
              <a:srgbClr val="FF7900"/>
            </a:solidFill>
            <a:prstDash val="solid"/>
          </a:ln>
        </p:spPr>
      </p:sp>
      <p:sp>
        <p:nvSpPr>
          <p:cNvPr id="8" name="Text 3"/>
          <p:cNvSpPr/>
          <p:nvPr/>
        </p:nvSpPr>
        <p:spPr>
          <a:xfrm>
            <a:off x="566928" y="164592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4"/>
          <p:cNvSpPr/>
          <p:nvPr/>
        </p:nvSpPr>
        <p:spPr>
          <a:xfrm>
            <a:off x="1005840" y="1572768"/>
            <a:ext cx="2286000" cy="274320"/>
          </a:xfrm>
          <a:prstGeom prst="rect">
            <a:avLst/>
          </a:prstGeom>
          <a:noFill/>
          <a:ln/>
        </p:spPr>
        <p:txBody>
          <a:bodyPr wrap="square" lIns="0" tIns="0" rIns="0" bIns="0" rtlCol="0" anchor="ctr"/>
          <a:lstStyle/>
          <a:p>
            <a:pPr indent="0" marL="0">
              <a:buNone/>
            </a:pPr>
            <a:r>
              <a:rPr lang="en-US" sz="1450" b="1" dirty="0">
                <a:solidFill>
                  <a:srgbClr val="0E1A2B"/>
                </a:solidFill>
                <a:latin typeface="Cambria" pitchFamily="34" charset="0"/>
                <a:ea typeface="Cambria" pitchFamily="34" charset="-122"/>
                <a:cs typeface="Cambria" pitchFamily="34" charset="-120"/>
              </a:rPr>
              <a:t>Document ingestion</a:t>
            </a:r>
            <a:endParaRPr lang="en-US" sz="1450" dirty="0"/>
          </a:p>
        </p:txBody>
      </p:sp>
      <p:sp>
        <p:nvSpPr>
          <p:cNvPr id="10" name="Text 5"/>
          <p:cNvSpPr/>
          <p:nvPr/>
        </p:nvSpPr>
        <p:spPr>
          <a:xfrm>
            <a:off x="1005840" y="1847088"/>
            <a:ext cx="5029200" cy="457200"/>
          </a:xfrm>
          <a:prstGeom prst="rect">
            <a:avLst/>
          </a:prstGeom>
          <a:noFill/>
          <a:ln/>
        </p:spPr>
        <p:txBody>
          <a:bodyPr wrap="square" lIns="0" tIns="0" rIns="0" bIns="0" rtlCol="0" anchor="t"/>
          <a:lstStyle/>
          <a:p>
            <a:pPr indent="0" marL="0">
              <a:lnSpc>
                <a:spcPts val="1450"/>
              </a:lnSpc>
              <a:buNone/>
            </a:pPr>
            <a:r>
              <a:rPr lang="en-US" sz="1100" dirty="0">
                <a:solidFill>
                  <a:srgbClr val="46566B"/>
                </a:solidFill>
                <a:latin typeface="Calibri" pitchFamily="34" charset="0"/>
                <a:ea typeface="Calibri" pitchFamily="34" charset="-122"/>
                <a:cs typeface="Calibri" pitchFamily="34" charset="-120"/>
              </a:rPr>
              <a:t>PDF parsing, section-aware chunking, vector indexing, and metadata carrying document, section and page.</a:t>
            </a:r>
            <a:endParaRPr lang="en-US" sz="1100" dirty="0"/>
          </a:p>
        </p:txBody>
      </p:sp>
      <p:sp>
        <p:nvSpPr>
          <p:cNvPr id="11" name="Shape 6"/>
          <p:cNvSpPr/>
          <p:nvPr/>
        </p:nvSpPr>
        <p:spPr>
          <a:xfrm>
            <a:off x="566928" y="2404872"/>
            <a:ext cx="310896" cy="310896"/>
          </a:xfrm>
          <a:prstGeom prst="ellipse">
            <a:avLst/>
          </a:prstGeom>
          <a:solidFill>
            <a:srgbClr val="FF7900"/>
          </a:solidFill>
          <a:ln w="12700">
            <a:solidFill>
              <a:srgbClr val="FF7900"/>
            </a:solidFill>
            <a:prstDash val="solid"/>
          </a:ln>
        </p:spPr>
      </p:sp>
      <p:sp>
        <p:nvSpPr>
          <p:cNvPr id="12" name="Text 7"/>
          <p:cNvSpPr/>
          <p:nvPr/>
        </p:nvSpPr>
        <p:spPr>
          <a:xfrm>
            <a:off x="566928" y="240487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8"/>
          <p:cNvSpPr/>
          <p:nvPr/>
        </p:nvSpPr>
        <p:spPr>
          <a:xfrm>
            <a:off x="1005840" y="2331720"/>
            <a:ext cx="2286000" cy="274320"/>
          </a:xfrm>
          <a:prstGeom prst="rect">
            <a:avLst/>
          </a:prstGeom>
          <a:noFill/>
          <a:ln/>
        </p:spPr>
        <p:txBody>
          <a:bodyPr wrap="square" lIns="0" tIns="0" rIns="0" bIns="0" rtlCol="0" anchor="ctr"/>
          <a:lstStyle/>
          <a:p>
            <a:pPr indent="0" marL="0">
              <a:buNone/>
            </a:pPr>
            <a:r>
              <a:rPr lang="en-US" sz="1450" b="1" dirty="0">
                <a:solidFill>
                  <a:srgbClr val="0E1A2B"/>
                </a:solidFill>
                <a:latin typeface="Cambria" pitchFamily="34" charset="0"/>
                <a:ea typeface="Cambria" pitchFamily="34" charset="-122"/>
                <a:cs typeface="Cambria" pitchFamily="34" charset="-120"/>
              </a:rPr>
              <a:t>Retrieval</a:t>
            </a:r>
            <a:endParaRPr lang="en-US" sz="1450" dirty="0"/>
          </a:p>
        </p:txBody>
      </p:sp>
      <p:sp>
        <p:nvSpPr>
          <p:cNvPr id="14" name="Text 9"/>
          <p:cNvSpPr/>
          <p:nvPr/>
        </p:nvSpPr>
        <p:spPr>
          <a:xfrm>
            <a:off x="1005840" y="2606040"/>
            <a:ext cx="5029200" cy="457200"/>
          </a:xfrm>
          <a:prstGeom prst="rect">
            <a:avLst/>
          </a:prstGeom>
          <a:noFill/>
          <a:ln/>
        </p:spPr>
        <p:txBody>
          <a:bodyPr wrap="square" lIns="0" tIns="0" rIns="0" bIns="0" rtlCol="0" anchor="t"/>
          <a:lstStyle/>
          <a:p>
            <a:pPr indent="0" marL="0">
              <a:lnSpc>
                <a:spcPts val="1450"/>
              </a:lnSpc>
              <a:buNone/>
            </a:pPr>
            <a:r>
              <a:rPr lang="en-US" sz="1100" dirty="0">
                <a:solidFill>
                  <a:srgbClr val="46566B"/>
                </a:solidFill>
                <a:latin typeface="Calibri" pitchFamily="34" charset="0"/>
                <a:ea typeface="Calibri" pitchFamily="34" charset="-122"/>
                <a:cs typeface="Calibri" pitchFamily="34" charset="-120"/>
              </a:rPr>
              <a:t>Semantic search that is tuned, logged, and transparent — the chunks are shown before anything is generated.</a:t>
            </a:r>
            <a:endParaRPr lang="en-US" sz="1100" dirty="0"/>
          </a:p>
        </p:txBody>
      </p:sp>
      <p:sp>
        <p:nvSpPr>
          <p:cNvPr id="15" name="Shape 10"/>
          <p:cNvSpPr/>
          <p:nvPr/>
        </p:nvSpPr>
        <p:spPr>
          <a:xfrm>
            <a:off x="566928" y="3163824"/>
            <a:ext cx="310896" cy="310896"/>
          </a:xfrm>
          <a:prstGeom prst="ellipse">
            <a:avLst/>
          </a:prstGeom>
          <a:solidFill>
            <a:srgbClr val="FF7900"/>
          </a:solidFill>
          <a:ln w="12700">
            <a:solidFill>
              <a:srgbClr val="FF7900"/>
            </a:solidFill>
            <a:prstDash val="solid"/>
          </a:ln>
        </p:spPr>
      </p:sp>
      <p:sp>
        <p:nvSpPr>
          <p:cNvPr id="16" name="Text 11"/>
          <p:cNvSpPr/>
          <p:nvPr/>
        </p:nvSpPr>
        <p:spPr>
          <a:xfrm>
            <a:off x="566928" y="316382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2"/>
          <p:cNvSpPr/>
          <p:nvPr/>
        </p:nvSpPr>
        <p:spPr>
          <a:xfrm>
            <a:off x="1005840" y="3090672"/>
            <a:ext cx="2286000" cy="274320"/>
          </a:xfrm>
          <a:prstGeom prst="rect">
            <a:avLst/>
          </a:prstGeom>
          <a:noFill/>
          <a:ln/>
        </p:spPr>
        <p:txBody>
          <a:bodyPr wrap="square" lIns="0" tIns="0" rIns="0" bIns="0" rtlCol="0" anchor="ctr"/>
          <a:lstStyle/>
          <a:p>
            <a:pPr indent="0" marL="0">
              <a:buNone/>
            </a:pPr>
            <a:r>
              <a:rPr lang="en-US" sz="1450" b="1" dirty="0">
                <a:solidFill>
                  <a:srgbClr val="0E1A2B"/>
                </a:solidFill>
                <a:latin typeface="Cambria" pitchFamily="34" charset="0"/>
                <a:ea typeface="Cambria" pitchFamily="34" charset="-122"/>
                <a:cs typeface="Cambria" pitchFamily="34" charset="-120"/>
              </a:rPr>
              <a:t>Generation</a:t>
            </a:r>
            <a:endParaRPr lang="en-US" sz="1450" dirty="0"/>
          </a:p>
        </p:txBody>
      </p:sp>
      <p:sp>
        <p:nvSpPr>
          <p:cNvPr id="18" name="Text 13"/>
          <p:cNvSpPr/>
          <p:nvPr/>
        </p:nvSpPr>
        <p:spPr>
          <a:xfrm>
            <a:off x="1005840" y="3364992"/>
            <a:ext cx="5029200" cy="457200"/>
          </a:xfrm>
          <a:prstGeom prst="rect">
            <a:avLst/>
          </a:prstGeom>
          <a:noFill/>
          <a:ln/>
        </p:spPr>
        <p:txBody>
          <a:bodyPr wrap="square" lIns="0" tIns="0" rIns="0" bIns="0" rtlCol="0" anchor="t"/>
          <a:lstStyle/>
          <a:p>
            <a:pPr indent="0" marL="0">
              <a:lnSpc>
                <a:spcPts val="1450"/>
              </a:lnSpc>
              <a:buNone/>
            </a:pPr>
            <a:r>
              <a:rPr lang="en-US" sz="1100" dirty="0">
                <a:solidFill>
                  <a:srgbClr val="46566B"/>
                </a:solidFill>
                <a:latin typeface="Calibri" pitchFamily="34" charset="0"/>
                <a:ea typeface="Calibri" pitchFamily="34" charset="-122"/>
                <a:cs typeface="Calibri" pitchFamily="34" charset="-120"/>
              </a:rPr>
              <a:t>Strict grounding prompts, no outside knowledge, and citations formatted so a claim can be traced.</a:t>
            </a:r>
            <a:endParaRPr lang="en-US" sz="1100" dirty="0"/>
          </a:p>
        </p:txBody>
      </p:sp>
      <p:sp>
        <p:nvSpPr>
          <p:cNvPr id="19" name="Shape 14"/>
          <p:cNvSpPr/>
          <p:nvPr/>
        </p:nvSpPr>
        <p:spPr>
          <a:xfrm>
            <a:off x="566928" y="3922776"/>
            <a:ext cx="310896" cy="310896"/>
          </a:xfrm>
          <a:prstGeom prst="ellipse">
            <a:avLst/>
          </a:prstGeom>
          <a:solidFill>
            <a:srgbClr val="FF7900"/>
          </a:solidFill>
          <a:ln w="12700">
            <a:solidFill>
              <a:srgbClr val="FF7900"/>
            </a:solidFill>
            <a:prstDash val="solid"/>
          </a:ln>
        </p:spPr>
      </p:sp>
      <p:sp>
        <p:nvSpPr>
          <p:cNvPr id="20" name="Text 15"/>
          <p:cNvSpPr/>
          <p:nvPr/>
        </p:nvSpPr>
        <p:spPr>
          <a:xfrm>
            <a:off x="566928" y="392277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1" name="Text 16"/>
          <p:cNvSpPr/>
          <p:nvPr/>
        </p:nvSpPr>
        <p:spPr>
          <a:xfrm>
            <a:off x="1005840" y="3849624"/>
            <a:ext cx="2286000" cy="274320"/>
          </a:xfrm>
          <a:prstGeom prst="rect">
            <a:avLst/>
          </a:prstGeom>
          <a:noFill/>
          <a:ln/>
        </p:spPr>
        <p:txBody>
          <a:bodyPr wrap="square" lIns="0" tIns="0" rIns="0" bIns="0" rtlCol="0" anchor="ctr"/>
          <a:lstStyle/>
          <a:p>
            <a:pPr indent="0" marL="0">
              <a:buNone/>
            </a:pPr>
            <a:r>
              <a:rPr lang="en-US" sz="1450" b="1" dirty="0">
                <a:solidFill>
                  <a:srgbClr val="0E1A2B"/>
                </a:solidFill>
                <a:latin typeface="Cambria" pitchFamily="34" charset="0"/>
                <a:ea typeface="Cambria" pitchFamily="34" charset="-122"/>
                <a:cs typeface="Cambria" pitchFamily="34" charset="-120"/>
              </a:rPr>
              <a:t>Safety</a:t>
            </a:r>
            <a:endParaRPr lang="en-US" sz="1450" dirty="0"/>
          </a:p>
        </p:txBody>
      </p:sp>
      <p:sp>
        <p:nvSpPr>
          <p:cNvPr id="22" name="Text 17"/>
          <p:cNvSpPr/>
          <p:nvPr/>
        </p:nvSpPr>
        <p:spPr>
          <a:xfrm>
            <a:off x="1005840" y="4123944"/>
            <a:ext cx="5029200" cy="457200"/>
          </a:xfrm>
          <a:prstGeom prst="rect">
            <a:avLst/>
          </a:prstGeom>
          <a:noFill/>
          <a:ln/>
        </p:spPr>
        <p:txBody>
          <a:bodyPr wrap="square" lIns="0" tIns="0" rIns="0" bIns="0" rtlCol="0" anchor="t"/>
          <a:lstStyle/>
          <a:p>
            <a:pPr indent="0" marL="0">
              <a:lnSpc>
                <a:spcPts val="1450"/>
              </a:lnSpc>
              <a:buNone/>
            </a:pPr>
            <a:r>
              <a:rPr lang="en-US" sz="1100" dirty="0">
                <a:solidFill>
                  <a:srgbClr val="46566B"/>
                </a:solidFill>
                <a:latin typeface="Calibri" pitchFamily="34" charset="0"/>
                <a:ea typeface="Calibri" pitchFamily="34" charset="-122"/>
                <a:cs typeface="Calibri" pitchFamily="34" charset="-120"/>
              </a:rPr>
              <a:t>Detect unsupported claims, and refuse when the retrieved evidence does not carry the question.</a:t>
            </a:r>
            <a:endParaRPr lang="en-US" sz="1100" dirty="0"/>
          </a:p>
        </p:txBody>
      </p:sp>
      <p:sp>
        <p:nvSpPr>
          <p:cNvPr id="23" name="Shape 18"/>
          <p:cNvSpPr/>
          <p:nvPr/>
        </p:nvSpPr>
        <p:spPr>
          <a:xfrm>
            <a:off x="6108192" y="1536192"/>
            <a:ext cx="5516575" cy="3127248"/>
          </a:xfrm>
          <a:prstGeom prst="roundRect">
            <a:avLst>
              <a:gd name="adj" fmla="val 1754"/>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4" name="Text 19"/>
          <p:cNvSpPr/>
          <p:nvPr/>
        </p:nvSpPr>
        <p:spPr>
          <a:xfrm>
            <a:off x="6382512" y="1719072"/>
            <a:ext cx="2926080" cy="274320"/>
          </a:xfrm>
          <a:prstGeom prst="rect">
            <a:avLst/>
          </a:prstGeom>
          <a:noFill/>
          <a:ln/>
        </p:spPr>
        <p:txBody>
          <a:bodyPr wrap="square" lIns="0" tIns="0" rIns="0" bIns="0" rtlCol="0" anchor="ctr"/>
          <a:lstStyle/>
          <a:p>
            <a:pPr indent="0" marL="0">
              <a:buNone/>
            </a:pPr>
            <a:r>
              <a:rPr lang="en-US" sz="1450" b="1" dirty="0">
                <a:solidFill>
                  <a:srgbClr val="0E1A2B"/>
                </a:solidFill>
                <a:latin typeface="Cambria" pitchFamily="34" charset="0"/>
                <a:ea typeface="Cambria" pitchFamily="34" charset="-122"/>
                <a:cs typeface="Cambria" pitchFamily="34" charset="-120"/>
              </a:rPr>
              <a:t>How the work is judged</a:t>
            </a:r>
            <a:endParaRPr lang="en-US" sz="1450" dirty="0"/>
          </a:p>
        </p:txBody>
      </p:sp>
      <p:sp>
        <p:nvSpPr>
          <p:cNvPr id="25" name="Text 20"/>
          <p:cNvSpPr/>
          <p:nvPr/>
        </p:nvSpPr>
        <p:spPr>
          <a:xfrm>
            <a:off x="10436047" y="1737360"/>
            <a:ext cx="914400" cy="256032"/>
          </a:xfrm>
          <a:prstGeom prst="rect">
            <a:avLst/>
          </a:prstGeom>
          <a:noFill/>
          <a:ln/>
        </p:spPr>
        <p:txBody>
          <a:bodyPr wrap="square" lIns="0" tIns="0" rIns="0" bIns="0" rtlCol="0" anchor="ctr"/>
          <a:lstStyle/>
          <a:p>
            <a:pPr algn="r" indent="0" marL="0">
              <a:buNone/>
            </a:pPr>
            <a:r>
              <a:rPr lang="en-US" sz="1100" b="1" dirty="0">
                <a:solidFill>
                  <a:srgbClr val="FF7900"/>
                </a:solidFill>
                <a:latin typeface="Calibri" pitchFamily="34" charset="0"/>
                <a:ea typeface="Calibri" pitchFamily="34" charset="-122"/>
                <a:cs typeface="Calibri" pitchFamily="34" charset="-120"/>
              </a:rPr>
              <a:t>100 points</a:t>
            </a:r>
            <a:endParaRPr lang="en-US" sz="1100" dirty="0"/>
          </a:p>
        </p:txBody>
      </p:sp>
      <p:graphicFrame>
        <p:nvGraphicFramePr>
          <p:cNvPr id="26" name="Chart 0" descr=""/>
          <p:cNvGraphicFramePr/>
          <p:nvPr/>
        </p:nvGraphicFramePr>
        <p:xfrm>
          <a:off x="6272784" y="2029968"/>
          <a:ext cx="5242255" cy="2542032"/>
        </p:xfrm>
        <a:graphic xmlns:a="http://schemas.openxmlformats.org/drawingml/2006/main">
          <a:graphicData uri="http://schemas.openxmlformats.org/drawingml/2006/chart">
            <c:chart xmlns:c="http://schemas.openxmlformats.org/drawingml/2006/chart" r:id="rId4"/>
          </a:graphicData>
        </a:graphic>
      </p:graphicFrame>
      <p:sp>
        <p:nvSpPr>
          <p:cNvPr id="27" name="Text 21"/>
          <p:cNvSpPr/>
          <p:nvPr/>
        </p:nvSpPr>
        <p:spPr>
          <a:xfrm>
            <a:off x="566928" y="4773168"/>
            <a:ext cx="11057839" cy="384048"/>
          </a:xfrm>
          <a:prstGeom prst="rect">
            <a:avLst/>
          </a:prstGeom>
          <a:noFill/>
          <a:ln/>
        </p:spPr>
        <p:txBody>
          <a:bodyPr wrap="square" lIns="0" tIns="0" rIns="0" bIns="0" rtlCol="0" anchor="ctr"/>
          <a:lstStyle/>
          <a:p>
            <a:pPr indent="0" marL="0">
              <a:lnSpc>
                <a:spcPts val="1600"/>
              </a:lnSpc>
              <a:buNone/>
            </a:pPr>
            <a:r>
              <a:rPr lang="en-US" sz="1200" i="1" dirty="0">
                <a:solidFill>
                  <a:srgbClr val="6B7A8C"/>
                </a:solidFill>
                <a:latin typeface="Calibri" pitchFamily="34" charset="0"/>
                <a:ea typeface="Calibri" pitchFamily="34" charset="-122"/>
                <a:cs typeface="Calibri" pitchFamily="34" charset="-120"/>
              </a:rPr>
              <a:t>55 of the 100 points are retrieval precision and grounded citation. That is where this deck spends its time, and where the system was built and measured first.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6108192"/>
            <a:ext cx="4306229" cy="585216"/>
          </a:xfrm>
          <a:prstGeom prst="roundRect">
            <a:avLst>
              <a:gd name="adj" fmla="val 9375"/>
            </a:avLst>
          </a:prstGeom>
          <a:solidFill>
            <a:srgbClr val="FFFFFF"/>
          </a:solidFill>
          <a:ln w="12700">
            <a:solidFill>
              <a:srgbClr val="FFFFFF"/>
            </a:solidFill>
            <a:prstDash val="solid"/>
          </a:ln>
        </p:spPr>
      </p:sp>
      <p:pic>
        <p:nvPicPr>
          <p:cNvPr id="3" name="Image 0" descr="/Users/Marwan/Projects/athletic-dietry-rag/presentation/assets/logos/creativa.png">    </p:cNvPr>
          <p:cNvPicPr>
            <a:picLocks noChangeAspect="1"/>
          </p:cNvPicPr>
          <p:nvPr/>
        </p:nvPicPr>
        <p:blipFill>
          <a:blip r:embed="rId1"/>
          <a:stretch>
            <a:fillRect/>
          </a:stretch>
        </p:blipFill>
        <p:spPr>
          <a:xfrm>
            <a:off x="731520" y="6208776"/>
            <a:ext cx="356021" cy="384048"/>
          </a:xfrm>
          <a:prstGeom prst="rect">
            <a:avLst/>
          </a:prstGeom>
        </p:spPr>
      </p:pic>
      <p:pic>
        <p:nvPicPr>
          <p:cNvPr id="4" name="Image 1" descr="/Users/Marwan/Projects/athletic-dietry-rag/presentation/assets/logos/instant.png">    </p:cNvPr>
          <p:cNvPicPr>
            <a:picLocks noChangeAspect="1"/>
          </p:cNvPicPr>
          <p:nvPr/>
        </p:nvPicPr>
        <p:blipFill>
          <a:blip r:embed="rId2"/>
          <a:stretch>
            <a:fillRect/>
          </a:stretch>
        </p:blipFill>
        <p:spPr>
          <a:xfrm>
            <a:off x="1416725" y="6305902"/>
            <a:ext cx="1481328" cy="189795"/>
          </a:xfrm>
          <a:prstGeom prst="rect">
            <a:avLst/>
          </a:prstGeom>
        </p:spPr>
      </p:pic>
      <p:pic>
        <p:nvPicPr>
          <p:cNvPr id="5" name="Image 2" descr="/Users/Marwan/Projects/athletic-dietry-rag/presentation/assets/logos/orange.png">    </p:cNvPr>
          <p:cNvPicPr>
            <a:picLocks noChangeAspect="1"/>
          </p:cNvPicPr>
          <p:nvPr/>
        </p:nvPicPr>
        <p:blipFill>
          <a:blip r:embed="rId3"/>
          <a:stretch>
            <a:fillRect/>
          </a:stretch>
        </p:blipFill>
        <p:spPr>
          <a:xfrm>
            <a:off x="3227237" y="6240122"/>
            <a:ext cx="1481328" cy="321355"/>
          </a:xfrm>
          <a:prstGeom prst="rect">
            <a:avLst/>
          </a:prstGeom>
        </p:spPr>
      </p:pic>
      <p:sp>
        <p:nvSpPr>
          <p:cNvPr id="6" name="Text 1"/>
          <p:cNvSpPr/>
          <p:nvPr/>
        </p:nvSpPr>
        <p:spPr>
          <a:xfrm>
            <a:off x="566928" y="1700784"/>
            <a:ext cx="2011680" cy="1956816"/>
          </a:xfrm>
          <a:prstGeom prst="rect">
            <a:avLst/>
          </a:prstGeom>
          <a:noFill/>
          <a:ln/>
        </p:spPr>
        <p:txBody>
          <a:bodyPr wrap="square" lIns="0" tIns="0" rIns="0" bIns="0" rtlCol="0" anchor="ctr"/>
          <a:lstStyle/>
          <a:p>
            <a:pPr indent="0" marL="0">
              <a:buNone/>
            </a:pPr>
            <a:r>
              <a:rPr lang="en-US" sz="11600" b="1" dirty="0">
                <a:solidFill>
                  <a:srgbClr val="2A3D55"/>
                </a:solidFill>
                <a:latin typeface="Cambria" pitchFamily="34" charset="0"/>
                <a:ea typeface="Cambria" pitchFamily="34" charset="-122"/>
                <a:cs typeface="Cambria" pitchFamily="34" charset="-120"/>
              </a:rPr>
              <a:t>02</a:t>
            </a:r>
            <a:endParaRPr lang="en-US" sz="11600" dirty="0"/>
          </a:p>
        </p:txBody>
      </p:sp>
      <p:sp>
        <p:nvSpPr>
          <p:cNvPr id="7" name="Text 2"/>
          <p:cNvSpPr/>
          <p:nvPr/>
        </p:nvSpPr>
        <p:spPr>
          <a:xfrm>
            <a:off x="2441448" y="1956816"/>
            <a:ext cx="9183319" cy="274320"/>
          </a:xfrm>
          <a:prstGeom prst="rect">
            <a:avLst/>
          </a:prstGeom>
          <a:noFill/>
          <a:ln/>
        </p:spPr>
        <p:txBody>
          <a:bodyPr wrap="square" lIns="0" tIns="0" rIns="0" bIns="0" rtlCol="0" anchor="ctr"/>
          <a:lstStyle/>
          <a:p>
            <a:pPr indent="0" marL="0">
              <a:buNone/>
            </a:pPr>
            <a:r>
              <a:rPr lang="en-US" sz="1100" b="1" spc="160" kern="0" dirty="0">
                <a:solidFill>
                  <a:srgbClr val="FF7900"/>
                </a:solidFill>
                <a:latin typeface="Calibri" pitchFamily="34" charset="0"/>
                <a:ea typeface="Calibri" pitchFamily="34" charset="-122"/>
                <a:cs typeface="Calibri" pitchFamily="34" charset="-120"/>
              </a:rPr>
              <a:t>SECTION TWO</a:t>
            </a:r>
            <a:endParaRPr lang="en-US" sz="1100" dirty="0"/>
          </a:p>
        </p:txBody>
      </p:sp>
      <p:sp>
        <p:nvSpPr>
          <p:cNvPr id="8" name="Text 3"/>
          <p:cNvSpPr/>
          <p:nvPr/>
        </p:nvSpPr>
        <p:spPr>
          <a:xfrm>
            <a:off x="2414016" y="2231136"/>
            <a:ext cx="9046159" cy="1005840"/>
          </a:xfrm>
          <a:prstGeom prst="rect">
            <a:avLst/>
          </a:prstGeom>
          <a:noFill/>
          <a:ln/>
        </p:spPr>
        <p:txBody>
          <a:bodyPr wrap="square" lIns="0" tIns="0" rIns="0" bIns="0" rtlCol="0" anchor="t"/>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The proposed</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solution</a:t>
            </a:r>
            <a:endParaRPr lang="en-US" sz="3400" dirty="0"/>
          </a:p>
        </p:txBody>
      </p:sp>
      <p:sp>
        <p:nvSpPr>
          <p:cNvPr id="9" name="Text 4"/>
          <p:cNvSpPr/>
          <p:nvPr/>
        </p:nvSpPr>
        <p:spPr>
          <a:xfrm>
            <a:off x="2441448" y="3438144"/>
            <a:ext cx="8680399" cy="731520"/>
          </a:xfrm>
          <a:prstGeom prst="rect">
            <a:avLst/>
          </a:prstGeom>
          <a:noFill/>
          <a:ln/>
        </p:spPr>
        <p:txBody>
          <a:bodyPr wrap="square" lIns="0" tIns="0" rIns="0" bIns="0" rtlCol="0" anchor="t"/>
          <a:lstStyle/>
          <a:p>
            <a:pPr indent="0" marL="0">
              <a:lnSpc>
                <a:spcPts val="1900"/>
              </a:lnSpc>
              <a:buNone/>
            </a:pPr>
            <a:r>
              <a:rPr lang="en-US" sz="1350" i="1" dirty="0">
                <a:solidFill>
                  <a:srgbClr val="8FA3B8"/>
                </a:solidFill>
                <a:latin typeface="Calibri" pitchFamily="34" charset="0"/>
                <a:ea typeface="Calibri" pitchFamily="34" charset="-122"/>
                <a:cs typeface="Calibri" pitchFamily="34" charset="-120"/>
              </a:rPr>
              <a:t>One document, read properly. Every claim carrying the page it came from. A refusal when the page does not say.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PROPOSED SOLUTION</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A closed-corpus assistant with page-level provenance</a:t>
            </a:r>
            <a:endParaRPr lang="en-US" sz="3000" dirty="0"/>
          </a:p>
        </p:txBody>
      </p:sp>
      <p:sp>
        <p:nvSpPr>
          <p:cNvPr id="7" name="Text 2"/>
          <p:cNvSpPr/>
          <p:nvPr/>
        </p:nvSpPr>
        <p:spPr>
          <a:xfrm>
            <a:off x="566928" y="1517904"/>
            <a:ext cx="11057839" cy="562864"/>
          </a:xfrm>
          <a:prstGeom prst="rect">
            <a:avLst/>
          </a:prstGeom>
          <a:noFill/>
          <a:ln/>
        </p:spPr>
        <p:txBody>
          <a:bodyPr wrap="square" lIns="0" tIns="0" rIns="0" bIns="0" rtlCol="0" anchor="t"/>
          <a:lstStyle/>
          <a:p>
            <a:pPr indent="0" marL="0">
              <a:lnSpc>
                <a:spcPts val="2000"/>
              </a:lnSpc>
              <a:buNone/>
            </a:pPr>
            <a:r>
              <a:rPr lang="en-US" sz="1450" i="1" dirty="0">
                <a:solidFill>
                  <a:srgbClr val="6B7A8C"/>
                </a:solidFill>
                <a:latin typeface="Calibri" pitchFamily="34" charset="0"/>
                <a:ea typeface="Calibri" pitchFamily="34" charset="-122"/>
                <a:cs typeface="Calibri" pitchFamily="34" charset="-120"/>
              </a:rPr>
              <a:t>The corpus is the NIH Office of Dietary Supplements fact sheet “Dietary Supplements for Exercise and Athletic Performance” — 32 pages, ~21 ingredients, public domain.</a:t>
            </a:r>
            <a:endParaRPr lang="en-US" sz="1450" dirty="0"/>
          </a:p>
        </p:txBody>
      </p:sp>
      <p:sp>
        <p:nvSpPr>
          <p:cNvPr id="8" name="Text 3"/>
          <p:cNvSpPr/>
          <p:nvPr/>
        </p:nvSpPr>
        <p:spPr>
          <a:xfrm>
            <a:off x="566928" y="2263648"/>
            <a:ext cx="4572000" cy="219456"/>
          </a:xfrm>
          <a:prstGeom prst="rect">
            <a:avLst/>
          </a:prstGeom>
          <a:noFill/>
          <a:ln/>
        </p:spPr>
        <p:txBody>
          <a:bodyPr wrap="square" lIns="0" tIns="0" rIns="0" bIns="0" rtlCol="0" anchor="ctr"/>
          <a:lstStyle/>
          <a:p>
            <a:pPr indent="0" marL="0">
              <a:buNone/>
            </a:pPr>
            <a:r>
              <a:rPr lang="en-US" sz="950" b="1" spc="110" kern="0" dirty="0">
                <a:solidFill>
                  <a:srgbClr val="6B7A8C"/>
                </a:solidFill>
                <a:latin typeface="Calibri" pitchFamily="34" charset="0"/>
                <a:ea typeface="Calibri" pitchFamily="34" charset="-122"/>
                <a:cs typeface="Calibri" pitchFamily="34" charset="-120"/>
              </a:rPr>
              <a:t>BUILD  ·  once per document</a:t>
            </a:r>
            <a:endParaRPr lang="en-US" sz="950" dirty="0"/>
          </a:p>
        </p:txBody>
      </p:sp>
      <p:sp>
        <p:nvSpPr>
          <p:cNvPr id="9" name="Shape 4"/>
          <p:cNvSpPr/>
          <p:nvPr/>
        </p:nvSpPr>
        <p:spPr>
          <a:xfrm>
            <a:off x="566928" y="2519680"/>
            <a:ext cx="1207008" cy="566928"/>
          </a:xfrm>
          <a:prstGeom prst="roundRect">
            <a:avLst>
              <a:gd name="adj" fmla="val 9677"/>
            </a:avLst>
          </a:prstGeom>
          <a:solidFill>
            <a:srgbClr val="F1F4F8"/>
          </a:solidFill>
          <a:ln w="9525">
            <a:solidFill>
              <a:srgbClr val="E3E9F1"/>
            </a:solidFill>
            <a:prstDash val="solid"/>
          </a:ln>
        </p:spPr>
      </p:sp>
      <p:sp>
        <p:nvSpPr>
          <p:cNvPr id="10" name="Text 5"/>
          <p:cNvSpPr/>
          <p:nvPr/>
        </p:nvSpPr>
        <p:spPr>
          <a:xfrm>
            <a:off x="566928" y="2519680"/>
            <a:ext cx="1207008" cy="566928"/>
          </a:xfrm>
          <a:prstGeom prst="rect">
            <a:avLst/>
          </a:prstGeom>
          <a:noFill/>
          <a:ln/>
        </p:spPr>
        <p:txBody>
          <a:bodyPr wrap="square" lIns="0" tIns="0" rIns="0" bIns="0" rtlCol="0" anchor="ctr"/>
          <a:lstStyle/>
          <a:p>
            <a:pPr algn="ctr" indent="0" marL="0">
              <a:lnSpc>
                <a:spcPts val="1200"/>
              </a:lnSpc>
              <a:buNone/>
            </a:pPr>
            <a:r>
              <a:rPr lang="en-US" sz="1050" b="1" dirty="0">
                <a:solidFill>
                  <a:srgbClr val="0E1A2B"/>
                </a:solidFill>
                <a:latin typeface="Calibri" pitchFamily="34" charset="0"/>
                <a:ea typeface="Calibri" pitchFamily="34" charset="-122"/>
                <a:cs typeface="Calibri" pitchFamily="34" charset="-120"/>
              </a:rPr>
              <a:t>Read PDF</a:t>
            </a:r>
            <a:endParaRPr lang="en-US" sz="1050" dirty="0"/>
          </a:p>
        </p:txBody>
      </p:sp>
      <p:sp>
        <p:nvSpPr>
          <p:cNvPr id="11" name="Text 6"/>
          <p:cNvSpPr/>
          <p:nvPr/>
        </p:nvSpPr>
        <p:spPr>
          <a:xfrm>
            <a:off x="1773936" y="2519680"/>
            <a:ext cx="146304" cy="566928"/>
          </a:xfrm>
          <a:prstGeom prst="rect">
            <a:avLst/>
          </a:prstGeom>
          <a:noFill/>
          <a:ln/>
        </p:spPr>
        <p:txBody>
          <a:bodyPr wrap="square" lIns="0" tIns="0" rIns="0" bIns="0" rtlCol="0" anchor="ctr"/>
          <a:lstStyle/>
          <a:p>
            <a:pPr algn="ctr" indent="0" marL="0">
              <a:buNone/>
            </a:pPr>
            <a:r>
              <a:rPr lang="en-US" sz="1500" b="1" dirty="0">
                <a:solidFill>
                  <a:srgbClr val="D8DEE6"/>
                </a:solidFill>
                <a:latin typeface="Calibri" pitchFamily="34" charset="0"/>
                <a:ea typeface="Calibri" pitchFamily="34" charset="-122"/>
                <a:cs typeface="Calibri" pitchFamily="34" charset="-120"/>
              </a:rPr>
              <a:t>›</a:t>
            </a:r>
            <a:endParaRPr lang="en-US" sz="1500" dirty="0"/>
          </a:p>
        </p:txBody>
      </p:sp>
      <p:sp>
        <p:nvSpPr>
          <p:cNvPr id="12" name="Shape 7"/>
          <p:cNvSpPr/>
          <p:nvPr/>
        </p:nvSpPr>
        <p:spPr>
          <a:xfrm>
            <a:off x="1920240" y="2519680"/>
            <a:ext cx="1207008" cy="566928"/>
          </a:xfrm>
          <a:prstGeom prst="roundRect">
            <a:avLst>
              <a:gd name="adj" fmla="val 9677"/>
            </a:avLst>
          </a:prstGeom>
          <a:solidFill>
            <a:srgbClr val="F1F4F8"/>
          </a:solidFill>
          <a:ln w="9525">
            <a:solidFill>
              <a:srgbClr val="E3E9F1"/>
            </a:solidFill>
            <a:prstDash val="solid"/>
          </a:ln>
        </p:spPr>
      </p:sp>
      <p:sp>
        <p:nvSpPr>
          <p:cNvPr id="13" name="Text 8"/>
          <p:cNvSpPr/>
          <p:nvPr/>
        </p:nvSpPr>
        <p:spPr>
          <a:xfrm>
            <a:off x="1920240" y="2519680"/>
            <a:ext cx="1207008" cy="566928"/>
          </a:xfrm>
          <a:prstGeom prst="rect">
            <a:avLst/>
          </a:prstGeom>
          <a:noFill/>
          <a:ln/>
        </p:spPr>
        <p:txBody>
          <a:bodyPr wrap="square" lIns="0" tIns="0" rIns="0" bIns="0" rtlCol="0" anchor="ctr"/>
          <a:lstStyle/>
          <a:p>
            <a:pPr algn="ctr" indent="0" marL="0">
              <a:lnSpc>
                <a:spcPts val="1200"/>
              </a:lnSpc>
              <a:buNone/>
            </a:pPr>
            <a:r>
              <a:rPr lang="en-US" sz="1050" b="1" dirty="0">
                <a:solidFill>
                  <a:srgbClr val="0E1A2B"/>
                </a:solidFill>
                <a:latin typeface="Calibri" pitchFamily="34" charset="0"/>
                <a:ea typeface="Calibri" pitchFamily="34" charset="-122"/>
                <a:cs typeface="Calibri" pitchFamily="34" charset="-120"/>
              </a:rPr>
              <a:t>Clean</a:t>
            </a:r>
            <a:endParaRPr lang="en-US" sz="1050" dirty="0"/>
          </a:p>
        </p:txBody>
      </p:sp>
      <p:sp>
        <p:nvSpPr>
          <p:cNvPr id="14" name="Text 9"/>
          <p:cNvSpPr/>
          <p:nvPr/>
        </p:nvSpPr>
        <p:spPr>
          <a:xfrm>
            <a:off x="3127248" y="2519680"/>
            <a:ext cx="146304" cy="566928"/>
          </a:xfrm>
          <a:prstGeom prst="rect">
            <a:avLst/>
          </a:prstGeom>
          <a:noFill/>
          <a:ln/>
        </p:spPr>
        <p:txBody>
          <a:bodyPr wrap="square" lIns="0" tIns="0" rIns="0" bIns="0" rtlCol="0" anchor="ctr"/>
          <a:lstStyle/>
          <a:p>
            <a:pPr algn="ctr" indent="0" marL="0">
              <a:buNone/>
            </a:pPr>
            <a:r>
              <a:rPr lang="en-US" sz="1500" b="1" dirty="0">
                <a:solidFill>
                  <a:srgbClr val="D8DEE6"/>
                </a:solidFill>
                <a:latin typeface="Calibri" pitchFamily="34" charset="0"/>
                <a:ea typeface="Calibri" pitchFamily="34" charset="-122"/>
                <a:cs typeface="Calibri" pitchFamily="34" charset="-120"/>
              </a:rPr>
              <a:t>›</a:t>
            </a:r>
            <a:endParaRPr lang="en-US" sz="1500" dirty="0"/>
          </a:p>
        </p:txBody>
      </p:sp>
      <p:sp>
        <p:nvSpPr>
          <p:cNvPr id="15" name="Shape 10"/>
          <p:cNvSpPr/>
          <p:nvPr/>
        </p:nvSpPr>
        <p:spPr>
          <a:xfrm>
            <a:off x="3273552" y="2519680"/>
            <a:ext cx="1207008" cy="566928"/>
          </a:xfrm>
          <a:prstGeom prst="roundRect">
            <a:avLst>
              <a:gd name="adj" fmla="val 9677"/>
            </a:avLst>
          </a:prstGeom>
          <a:solidFill>
            <a:srgbClr val="F1F4F8"/>
          </a:solidFill>
          <a:ln w="9525">
            <a:solidFill>
              <a:srgbClr val="E3E9F1"/>
            </a:solidFill>
            <a:prstDash val="solid"/>
          </a:ln>
        </p:spPr>
      </p:sp>
      <p:sp>
        <p:nvSpPr>
          <p:cNvPr id="16" name="Text 11"/>
          <p:cNvSpPr/>
          <p:nvPr/>
        </p:nvSpPr>
        <p:spPr>
          <a:xfrm>
            <a:off x="3273552" y="2519680"/>
            <a:ext cx="1207008" cy="566928"/>
          </a:xfrm>
          <a:prstGeom prst="rect">
            <a:avLst/>
          </a:prstGeom>
          <a:noFill/>
          <a:ln/>
        </p:spPr>
        <p:txBody>
          <a:bodyPr wrap="square" lIns="0" tIns="0" rIns="0" bIns="0" rtlCol="0" anchor="ctr"/>
          <a:lstStyle/>
          <a:p>
            <a:pPr algn="ctr" indent="0" marL="0">
              <a:lnSpc>
                <a:spcPts val="1200"/>
              </a:lnSpc>
              <a:buNone/>
            </a:pPr>
            <a:r>
              <a:rPr lang="en-US" sz="1050" b="1" dirty="0">
                <a:solidFill>
                  <a:srgbClr val="0E1A2B"/>
                </a:solidFill>
                <a:latin typeface="Calibri" pitchFamily="34" charset="0"/>
                <a:ea typeface="Calibri" pitchFamily="34" charset="-122"/>
                <a:cs typeface="Calibri" pitchFamily="34" charset="-120"/>
              </a:rPr>
              <a:t>Chunk</a:t>
            </a:r>
            <a:endParaRPr lang="en-US" sz="1050" dirty="0"/>
          </a:p>
        </p:txBody>
      </p:sp>
      <p:sp>
        <p:nvSpPr>
          <p:cNvPr id="17" name="Text 12"/>
          <p:cNvSpPr/>
          <p:nvPr/>
        </p:nvSpPr>
        <p:spPr>
          <a:xfrm>
            <a:off x="4480560" y="2519680"/>
            <a:ext cx="146304" cy="566928"/>
          </a:xfrm>
          <a:prstGeom prst="rect">
            <a:avLst/>
          </a:prstGeom>
          <a:noFill/>
          <a:ln/>
        </p:spPr>
        <p:txBody>
          <a:bodyPr wrap="square" lIns="0" tIns="0" rIns="0" bIns="0" rtlCol="0" anchor="ctr"/>
          <a:lstStyle/>
          <a:p>
            <a:pPr algn="ctr" indent="0" marL="0">
              <a:buNone/>
            </a:pPr>
            <a:r>
              <a:rPr lang="en-US" sz="1500" b="1" dirty="0">
                <a:solidFill>
                  <a:srgbClr val="D8DEE6"/>
                </a:solidFill>
                <a:latin typeface="Calibri" pitchFamily="34" charset="0"/>
                <a:ea typeface="Calibri" pitchFamily="34" charset="-122"/>
                <a:cs typeface="Calibri" pitchFamily="34" charset="-120"/>
              </a:rPr>
              <a:t>›</a:t>
            </a:r>
            <a:endParaRPr lang="en-US" sz="1500" dirty="0"/>
          </a:p>
        </p:txBody>
      </p:sp>
      <p:sp>
        <p:nvSpPr>
          <p:cNvPr id="18" name="Shape 13"/>
          <p:cNvSpPr/>
          <p:nvPr/>
        </p:nvSpPr>
        <p:spPr>
          <a:xfrm>
            <a:off x="4626864" y="2519680"/>
            <a:ext cx="1207008" cy="566928"/>
          </a:xfrm>
          <a:prstGeom prst="roundRect">
            <a:avLst>
              <a:gd name="adj" fmla="val 9677"/>
            </a:avLst>
          </a:prstGeom>
          <a:solidFill>
            <a:srgbClr val="F1F4F8"/>
          </a:solidFill>
          <a:ln w="9525">
            <a:solidFill>
              <a:srgbClr val="E3E9F1"/>
            </a:solidFill>
            <a:prstDash val="solid"/>
          </a:ln>
        </p:spPr>
      </p:sp>
      <p:sp>
        <p:nvSpPr>
          <p:cNvPr id="19" name="Text 14"/>
          <p:cNvSpPr/>
          <p:nvPr/>
        </p:nvSpPr>
        <p:spPr>
          <a:xfrm>
            <a:off x="4626864" y="2519680"/>
            <a:ext cx="1207008" cy="566928"/>
          </a:xfrm>
          <a:prstGeom prst="rect">
            <a:avLst/>
          </a:prstGeom>
          <a:noFill/>
          <a:ln/>
        </p:spPr>
        <p:txBody>
          <a:bodyPr wrap="square" lIns="0" tIns="0" rIns="0" bIns="0" rtlCol="0" anchor="ctr"/>
          <a:lstStyle/>
          <a:p>
            <a:pPr algn="ctr" indent="0" marL="0">
              <a:lnSpc>
                <a:spcPts val="1200"/>
              </a:lnSpc>
              <a:buNone/>
            </a:pPr>
            <a:r>
              <a:rPr lang="en-US" sz="1050" b="1" dirty="0">
                <a:solidFill>
                  <a:srgbClr val="0E1A2B"/>
                </a:solidFill>
                <a:latin typeface="Calibri" pitchFamily="34" charset="0"/>
                <a:ea typeface="Calibri" pitchFamily="34" charset="-122"/>
                <a:cs typeface="Calibri" pitchFamily="34" charset="-120"/>
              </a:rPr>
              <a:t>Generate</a:t>
            </a:r>
            <a:endParaRPr lang="en-US" sz="1050" dirty="0"/>
          </a:p>
          <a:p>
            <a:pPr algn="ctr" indent="0" marL="0">
              <a:lnSpc>
                <a:spcPts val="1200"/>
              </a:lnSpc>
              <a:buNone/>
            </a:pPr>
            <a:r>
              <a:rPr lang="en-US" sz="1050" b="1" dirty="0">
                <a:solidFill>
                  <a:srgbClr val="0E1A2B"/>
                </a:solidFill>
                <a:latin typeface="Calibri" pitchFamily="34" charset="0"/>
                <a:ea typeface="Calibri" pitchFamily="34" charset="-122"/>
                <a:cs typeface="Calibri" pitchFamily="34" charset="-120"/>
              </a:rPr>
              <a:t>questions</a:t>
            </a:r>
            <a:endParaRPr lang="en-US" sz="1050" dirty="0"/>
          </a:p>
        </p:txBody>
      </p:sp>
      <p:sp>
        <p:nvSpPr>
          <p:cNvPr id="20" name="Text 15"/>
          <p:cNvSpPr/>
          <p:nvPr/>
        </p:nvSpPr>
        <p:spPr>
          <a:xfrm>
            <a:off x="5833872" y="2519680"/>
            <a:ext cx="146304" cy="566928"/>
          </a:xfrm>
          <a:prstGeom prst="rect">
            <a:avLst/>
          </a:prstGeom>
          <a:noFill/>
          <a:ln/>
        </p:spPr>
        <p:txBody>
          <a:bodyPr wrap="square" lIns="0" tIns="0" rIns="0" bIns="0" rtlCol="0" anchor="ctr"/>
          <a:lstStyle/>
          <a:p>
            <a:pPr algn="ctr" indent="0" marL="0">
              <a:buNone/>
            </a:pPr>
            <a:r>
              <a:rPr lang="en-US" sz="1500" b="1" dirty="0">
                <a:solidFill>
                  <a:srgbClr val="D8DEE6"/>
                </a:solidFill>
                <a:latin typeface="Calibri" pitchFamily="34" charset="0"/>
                <a:ea typeface="Calibri" pitchFamily="34" charset="-122"/>
                <a:cs typeface="Calibri" pitchFamily="34" charset="-120"/>
              </a:rPr>
              <a:t>›</a:t>
            </a:r>
            <a:endParaRPr lang="en-US" sz="1500" dirty="0"/>
          </a:p>
        </p:txBody>
      </p:sp>
      <p:sp>
        <p:nvSpPr>
          <p:cNvPr id="21" name="Shape 16"/>
          <p:cNvSpPr/>
          <p:nvPr/>
        </p:nvSpPr>
        <p:spPr>
          <a:xfrm>
            <a:off x="5980176" y="2519680"/>
            <a:ext cx="1207008" cy="566928"/>
          </a:xfrm>
          <a:prstGeom prst="roundRect">
            <a:avLst>
              <a:gd name="adj" fmla="val 9677"/>
            </a:avLst>
          </a:prstGeom>
          <a:solidFill>
            <a:srgbClr val="F1F4F8"/>
          </a:solidFill>
          <a:ln w="9525">
            <a:solidFill>
              <a:srgbClr val="E3E9F1"/>
            </a:solidFill>
            <a:prstDash val="solid"/>
          </a:ln>
        </p:spPr>
      </p:sp>
      <p:sp>
        <p:nvSpPr>
          <p:cNvPr id="22" name="Text 17"/>
          <p:cNvSpPr/>
          <p:nvPr/>
        </p:nvSpPr>
        <p:spPr>
          <a:xfrm>
            <a:off x="5980176" y="2519680"/>
            <a:ext cx="1207008" cy="566928"/>
          </a:xfrm>
          <a:prstGeom prst="rect">
            <a:avLst/>
          </a:prstGeom>
          <a:noFill/>
          <a:ln/>
        </p:spPr>
        <p:txBody>
          <a:bodyPr wrap="square" lIns="0" tIns="0" rIns="0" bIns="0" rtlCol="0" anchor="ctr"/>
          <a:lstStyle/>
          <a:p>
            <a:pPr algn="ctr" indent="0" marL="0">
              <a:lnSpc>
                <a:spcPts val="1200"/>
              </a:lnSpc>
              <a:buNone/>
            </a:pPr>
            <a:r>
              <a:rPr lang="en-US" sz="1050" b="1" dirty="0">
                <a:solidFill>
                  <a:srgbClr val="0E1A2B"/>
                </a:solidFill>
                <a:latin typeface="Calibri" pitchFamily="34" charset="0"/>
                <a:ea typeface="Calibri" pitchFamily="34" charset="-122"/>
                <a:cs typeface="Calibri" pitchFamily="34" charset="-120"/>
              </a:rPr>
              <a:t>Embed</a:t>
            </a:r>
            <a:endParaRPr lang="en-US" sz="1050" dirty="0"/>
          </a:p>
        </p:txBody>
      </p:sp>
      <p:sp>
        <p:nvSpPr>
          <p:cNvPr id="23" name="Text 18"/>
          <p:cNvSpPr/>
          <p:nvPr/>
        </p:nvSpPr>
        <p:spPr>
          <a:xfrm>
            <a:off x="7187184" y="2519680"/>
            <a:ext cx="146304" cy="566928"/>
          </a:xfrm>
          <a:prstGeom prst="rect">
            <a:avLst/>
          </a:prstGeom>
          <a:noFill/>
          <a:ln/>
        </p:spPr>
        <p:txBody>
          <a:bodyPr wrap="square" lIns="0" tIns="0" rIns="0" bIns="0" rtlCol="0" anchor="ctr"/>
          <a:lstStyle/>
          <a:p>
            <a:pPr algn="ctr" indent="0" marL="0">
              <a:buNone/>
            </a:pPr>
            <a:r>
              <a:rPr lang="en-US" sz="1500" b="1" dirty="0">
                <a:solidFill>
                  <a:srgbClr val="D8DEE6"/>
                </a:solidFill>
                <a:latin typeface="Calibri" pitchFamily="34" charset="0"/>
                <a:ea typeface="Calibri" pitchFamily="34" charset="-122"/>
                <a:cs typeface="Calibri" pitchFamily="34" charset="-120"/>
              </a:rPr>
              <a:t>›</a:t>
            </a:r>
            <a:endParaRPr lang="en-US" sz="1500" dirty="0"/>
          </a:p>
        </p:txBody>
      </p:sp>
      <p:sp>
        <p:nvSpPr>
          <p:cNvPr id="24" name="Shape 19"/>
          <p:cNvSpPr/>
          <p:nvPr/>
        </p:nvSpPr>
        <p:spPr>
          <a:xfrm>
            <a:off x="7333488" y="2519680"/>
            <a:ext cx="1207008" cy="566928"/>
          </a:xfrm>
          <a:prstGeom prst="roundRect">
            <a:avLst>
              <a:gd name="adj" fmla="val 9677"/>
            </a:avLst>
          </a:prstGeom>
          <a:solidFill>
            <a:srgbClr val="F1F4F8"/>
          </a:solidFill>
          <a:ln w="9525">
            <a:solidFill>
              <a:srgbClr val="E3E9F1"/>
            </a:solidFill>
            <a:prstDash val="solid"/>
          </a:ln>
        </p:spPr>
      </p:sp>
      <p:sp>
        <p:nvSpPr>
          <p:cNvPr id="25" name="Text 20"/>
          <p:cNvSpPr/>
          <p:nvPr/>
        </p:nvSpPr>
        <p:spPr>
          <a:xfrm>
            <a:off x="7333488" y="2519680"/>
            <a:ext cx="1207008" cy="566928"/>
          </a:xfrm>
          <a:prstGeom prst="rect">
            <a:avLst/>
          </a:prstGeom>
          <a:noFill/>
          <a:ln/>
        </p:spPr>
        <p:txBody>
          <a:bodyPr wrap="square" lIns="0" tIns="0" rIns="0" bIns="0" rtlCol="0" anchor="ctr"/>
          <a:lstStyle/>
          <a:p>
            <a:pPr algn="ctr" indent="0" marL="0">
              <a:lnSpc>
                <a:spcPts val="1200"/>
              </a:lnSpc>
              <a:buNone/>
            </a:pPr>
            <a:r>
              <a:rPr lang="en-US" sz="1050" b="1" dirty="0">
                <a:solidFill>
                  <a:srgbClr val="0E1A2B"/>
                </a:solidFill>
                <a:latin typeface="Calibri" pitchFamily="34" charset="0"/>
                <a:ea typeface="Calibri" pitchFamily="34" charset="-122"/>
                <a:cs typeface="Calibri" pitchFamily="34" charset="-120"/>
              </a:rPr>
              <a:t>Index</a:t>
            </a:r>
            <a:endParaRPr lang="en-US" sz="1050" dirty="0"/>
          </a:p>
        </p:txBody>
      </p:sp>
      <p:sp>
        <p:nvSpPr>
          <p:cNvPr id="26" name="Text 21"/>
          <p:cNvSpPr/>
          <p:nvPr/>
        </p:nvSpPr>
        <p:spPr>
          <a:xfrm>
            <a:off x="566928" y="3269488"/>
            <a:ext cx="4572000" cy="219456"/>
          </a:xfrm>
          <a:prstGeom prst="rect">
            <a:avLst/>
          </a:prstGeom>
          <a:noFill/>
          <a:ln/>
        </p:spPr>
        <p:txBody>
          <a:bodyPr wrap="square" lIns="0" tIns="0" rIns="0" bIns="0" rtlCol="0" anchor="ctr"/>
          <a:lstStyle/>
          <a:p>
            <a:pPr indent="0" marL="0">
              <a:buNone/>
            </a:pPr>
            <a:r>
              <a:rPr lang="en-US" sz="950" b="1" spc="110" kern="0" dirty="0">
                <a:solidFill>
                  <a:srgbClr val="FF7900"/>
                </a:solidFill>
                <a:latin typeface="Calibri" pitchFamily="34" charset="0"/>
                <a:ea typeface="Calibri" pitchFamily="34" charset="-122"/>
                <a:cs typeface="Calibri" pitchFamily="34" charset="-120"/>
              </a:rPr>
              <a:t>QUERY  ·  every question</a:t>
            </a:r>
            <a:endParaRPr lang="en-US" sz="950" dirty="0"/>
          </a:p>
        </p:txBody>
      </p:sp>
      <p:sp>
        <p:nvSpPr>
          <p:cNvPr id="27" name="Shape 22"/>
          <p:cNvSpPr/>
          <p:nvPr/>
        </p:nvSpPr>
        <p:spPr>
          <a:xfrm>
            <a:off x="566928" y="3525520"/>
            <a:ext cx="1207008" cy="566928"/>
          </a:xfrm>
          <a:prstGeom prst="roundRect">
            <a:avLst>
              <a:gd name="adj" fmla="val 9677"/>
            </a:avLst>
          </a:prstGeom>
          <a:solidFill>
            <a:srgbClr val="0E1A2B"/>
          </a:solidFill>
          <a:ln w="9525">
            <a:solidFill>
              <a:srgbClr val="0E1A2B"/>
            </a:solidFill>
            <a:prstDash val="solid"/>
          </a:ln>
        </p:spPr>
      </p:sp>
      <p:sp>
        <p:nvSpPr>
          <p:cNvPr id="28" name="Text 23"/>
          <p:cNvSpPr/>
          <p:nvPr/>
        </p:nvSpPr>
        <p:spPr>
          <a:xfrm>
            <a:off x="566928" y="3525520"/>
            <a:ext cx="1207008"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Expand</a:t>
            </a:r>
            <a:endParaRPr lang="en-US" sz="1050" dirty="0"/>
          </a:p>
        </p:txBody>
      </p:sp>
      <p:sp>
        <p:nvSpPr>
          <p:cNvPr id="29" name="Text 24"/>
          <p:cNvSpPr/>
          <p:nvPr/>
        </p:nvSpPr>
        <p:spPr>
          <a:xfrm>
            <a:off x="1773936" y="3525520"/>
            <a:ext cx="146304" cy="566928"/>
          </a:xfrm>
          <a:prstGeom prst="rect">
            <a:avLst/>
          </a:prstGeom>
          <a:noFill/>
          <a:ln/>
        </p:spPr>
        <p:txBody>
          <a:bodyPr wrap="square" lIns="0" tIns="0" rIns="0" bIns="0" rtlCol="0" anchor="ctr"/>
          <a:lstStyle/>
          <a:p>
            <a:pPr algn="ctr" indent="0" marL="0">
              <a:buNone/>
            </a:pPr>
            <a:r>
              <a:rPr lang="en-US" sz="1500" b="1" dirty="0">
                <a:solidFill>
                  <a:srgbClr val="D8DEE6"/>
                </a:solidFill>
                <a:latin typeface="Calibri" pitchFamily="34" charset="0"/>
                <a:ea typeface="Calibri" pitchFamily="34" charset="-122"/>
                <a:cs typeface="Calibri" pitchFamily="34" charset="-120"/>
              </a:rPr>
              <a:t>›</a:t>
            </a:r>
            <a:endParaRPr lang="en-US" sz="1500" dirty="0"/>
          </a:p>
        </p:txBody>
      </p:sp>
      <p:sp>
        <p:nvSpPr>
          <p:cNvPr id="30" name="Shape 25"/>
          <p:cNvSpPr/>
          <p:nvPr/>
        </p:nvSpPr>
        <p:spPr>
          <a:xfrm>
            <a:off x="1920240" y="3525520"/>
            <a:ext cx="1207008" cy="566928"/>
          </a:xfrm>
          <a:prstGeom prst="roundRect">
            <a:avLst>
              <a:gd name="adj" fmla="val 9677"/>
            </a:avLst>
          </a:prstGeom>
          <a:solidFill>
            <a:srgbClr val="0E1A2B"/>
          </a:solidFill>
          <a:ln w="9525">
            <a:solidFill>
              <a:srgbClr val="0E1A2B"/>
            </a:solidFill>
            <a:prstDash val="solid"/>
          </a:ln>
        </p:spPr>
      </p:sp>
      <p:sp>
        <p:nvSpPr>
          <p:cNvPr id="31" name="Text 26"/>
          <p:cNvSpPr/>
          <p:nvPr/>
        </p:nvSpPr>
        <p:spPr>
          <a:xfrm>
            <a:off x="1920240" y="3525520"/>
            <a:ext cx="1207008"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Retrieve</a:t>
            </a:r>
            <a:endParaRPr lang="en-US" sz="1050" dirty="0"/>
          </a:p>
        </p:txBody>
      </p:sp>
      <p:sp>
        <p:nvSpPr>
          <p:cNvPr id="32" name="Text 27"/>
          <p:cNvSpPr/>
          <p:nvPr/>
        </p:nvSpPr>
        <p:spPr>
          <a:xfrm>
            <a:off x="3127248" y="3525520"/>
            <a:ext cx="146304" cy="566928"/>
          </a:xfrm>
          <a:prstGeom prst="rect">
            <a:avLst/>
          </a:prstGeom>
          <a:noFill/>
          <a:ln/>
        </p:spPr>
        <p:txBody>
          <a:bodyPr wrap="square" lIns="0" tIns="0" rIns="0" bIns="0" rtlCol="0" anchor="ctr"/>
          <a:lstStyle/>
          <a:p>
            <a:pPr algn="ctr" indent="0" marL="0">
              <a:buNone/>
            </a:pPr>
            <a:r>
              <a:rPr lang="en-US" sz="1500" b="1" dirty="0">
                <a:solidFill>
                  <a:srgbClr val="D8DEE6"/>
                </a:solidFill>
                <a:latin typeface="Calibri" pitchFamily="34" charset="0"/>
                <a:ea typeface="Calibri" pitchFamily="34" charset="-122"/>
                <a:cs typeface="Calibri" pitchFamily="34" charset="-120"/>
              </a:rPr>
              <a:t>›</a:t>
            </a:r>
            <a:endParaRPr lang="en-US" sz="1500" dirty="0"/>
          </a:p>
        </p:txBody>
      </p:sp>
      <p:sp>
        <p:nvSpPr>
          <p:cNvPr id="33" name="Shape 28"/>
          <p:cNvSpPr/>
          <p:nvPr/>
        </p:nvSpPr>
        <p:spPr>
          <a:xfrm>
            <a:off x="3273552" y="3525520"/>
            <a:ext cx="1207008" cy="566928"/>
          </a:xfrm>
          <a:prstGeom prst="roundRect">
            <a:avLst>
              <a:gd name="adj" fmla="val 9677"/>
            </a:avLst>
          </a:prstGeom>
          <a:solidFill>
            <a:srgbClr val="0E1A2B"/>
          </a:solidFill>
          <a:ln w="9525">
            <a:solidFill>
              <a:srgbClr val="0E1A2B"/>
            </a:solidFill>
            <a:prstDash val="solid"/>
          </a:ln>
        </p:spPr>
      </p:sp>
      <p:sp>
        <p:nvSpPr>
          <p:cNvPr id="34" name="Text 29"/>
          <p:cNvSpPr/>
          <p:nvPr/>
        </p:nvSpPr>
        <p:spPr>
          <a:xfrm>
            <a:off x="3273552" y="3525520"/>
            <a:ext cx="1207008"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Rerank</a:t>
            </a:r>
            <a:endParaRPr lang="en-US" sz="1050" dirty="0"/>
          </a:p>
        </p:txBody>
      </p:sp>
      <p:sp>
        <p:nvSpPr>
          <p:cNvPr id="35" name="Text 30"/>
          <p:cNvSpPr/>
          <p:nvPr/>
        </p:nvSpPr>
        <p:spPr>
          <a:xfrm>
            <a:off x="4480560" y="3525520"/>
            <a:ext cx="146304" cy="566928"/>
          </a:xfrm>
          <a:prstGeom prst="rect">
            <a:avLst/>
          </a:prstGeom>
          <a:noFill/>
          <a:ln/>
        </p:spPr>
        <p:txBody>
          <a:bodyPr wrap="square" lIns="0" tIns="0" rIns="0" bIns="0" rtlCol="0" anchor="ctr"/>
          <a:lstStyle/>
          <a:p>
            <a:pPr algn="ctr" indent="0" marL="0">
              <a:buNone/>
            </a:pPr>
            <a:r>
              <a:rPr lang="en-US" sz="1500" b="1" dirty="0">
                <a:solidFill>
                  <a:srgbClr val="D8DEE6"/>
                </a:solidFill>
                <a:latin typeface="Calibri" pitchFamily="34" charset="0"/>
                <a:ea typeface="Calibri" pitchFamily="34" charset="-122"/>
                <a:cs typeface="Calibri" pitchFamily="34" charset="-120"/>
              </a:rPr>
              <a:t>›</a:t>
            </a:r>
            <a:endParaRPr lang="en-US" sz="1500" dirty="0"/>
          </a:p>
        </p:txBody>
      </p:sp>
      <p:sp>
        <p:nvSpPr>
          <p:cNvPr id="36" name="Shape 31"/>
          <p:cNvSpPr/>
          <p:nvPr/>
        </p:nvSpPr>
        <p:spPr>
          <a:xfrm>
            <a:off x="4626864" y="3525520"/>
            <a:ext cx="1207008" cy="566928"/>
          </a:xfrm>
          <a:prstGeom prst="roundRect">
            <a:avLst>
              <a:gd name="adj" fmla="val 9677"/>
            </a:avLst>
          </a:prstGeom>
          <a:solidFill>
            <a:srgbClr val="0E1A2B"/>
          </a:solidFill>
          <a:ln w="9525">
            <a:solidFill>
              <a:srgbClr val="0E1A2B"/>
            </a:solidFill>
            <a:prstDash val="solid"/>
          </a:ln>
        </p:spPr>
      </p:sp>
      <p:sp>
        <p:nvSpPr>
          <p:cNvPr id="37" name="Text 32"/>
          <p:cNvSpPr/>
          <p:nvPr/>
        </p:nvSpPr>
        <p:spPr>
          <a:xfrm>
            <a:off x="4626864" y="3525520"/>
            <a:ext cx="1207008"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Answer</a:t>
            </a:r>
            <a:endParaRPr lang="en-US" sz="1050" dirty="0"/>
          </a:p>
        </p:txBody>
      </p:sp>
      <p:sp>
        <p:nvSpPr>
          <p:cNvPr id="38" name="Shape 33"/>
          <p:cNvSpPr/>
          <p:nvPr/>
        </p:nvSpPr>
        <p:spPr>
          <a:xfrm>
            <a:off x="566928" y="4330192"/>
            <a:ext cx="3557930" cy="1371600"/>
          </a:xfrm>
          <a:prstGeom prst="roundRect">
            <a:avLst>
              <a:gd name="adj" fmla="val 4000"/>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39" name="Shape 34"/>
          <p:cNvSpPr/>
          <p:nvPr/>
        </p:nvSpPr>
        <p:spPr>
          <a:xfrm>
            <a:off x="786384" y="4494784"/>
            <a:ext cx="775411" cy="219456"/>
          </a:xfrm>
          <a:prstGeom prst="roundRect">
            <a:avLst>
              <a:gd name="adj" fmla="val 50000"/>
            </a:avLst>
          </a:prstGeom>
          <a:solidFill>
            <a:srgbClr val="0E7C5A"/>
          </a:solidFill>
          <a:ln w="12700">
            <a:solidFill>
              <a:srgbClr val="0E7C5A"/>
            </a:solidFill>
            <a:prstDash val="solid"/>
          </a:ln>
        </p:spPr>
      </p:sp>
      <p:sp>
        <p:nvSpPr>
          <p:cNvPr id="40" name="Text 35"/>
          <p:cNvSpPr/>
          <p:nvPr/>
        </p:nvSpPr>
        <p:spPr>
          <a:xfrm>
            <a:off x="786384" y="4494784"/>
            <a:ext cx="775411"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GUARANTEE</a:t>
            </a:r>
            <a:endParaRPr lang="en-US" sz="850" dirty="0"/>
          </a:p>
        </p:txBody>
      </p:sp>
      <p:sp>
        <p:nvSpPr>
          <p:cNvPr id="41" name="Text 36"/>
          <p:cNvSpPr/>
          <p:nvPr/>
        </p:nvSpPr>
        <p:spPr>
          <a:xfrm>
            <a:off x="786384" y="4769104"/>
            <a:ext cx="3119018" cy="274320"/>
          </a:xfrm>
          <a:prstGeom prst="rect">
            <a:avLst/>
          </a:prstGeom>
          <a:noFill/>
          <a:ln/>
        </p:spPr>
        <p:txBody>
          <a:bodyPr wrap="square" lIns="0" tIns="0" rIns="0" bIns="0" rtlCol="0" anchor="ctr"/>
          <a:lstStyle/>
          <a:p>
            <a:pPr indent="0" marL="0">
              <a:buNone/>
            </a:pPr>
            <a:r>
              <a:rPr lang="en-US" sz="1400" b="1" dirty="0">
                <a:solidFill>
                  <a:srgbClr val="0E1A2B"/>
                </a:solidFill>
                <a:latin typeface="Cambria" pitchFamily="34" charset="0"/>
                <a:ea typeface="Cambria" pitchFamily="34" charset="-122"/>
                <a:cs typeface="Cambria" pitchFamily="34" charset="-120"/>
              </a:rPr>
              <a:t>Closed corpus</a:t>
            </a:r>
            <a:endParaRPr lang="en-US" sz="1400" dirty="0"/>
          </a:p>
        </p:txBody>
      </p:sp>
      <p:sp>
        <p:nvSpPr>
          <p:cNvPr id="42" name="Text 37"/>
          <p:cNvSpPr/>
          <p:nvPr/>
        </p:nvSpPr>
        <p:spPr>
          <a:xfrm>
            <a:off x="786384" y="5043424"/>
            <a:ext cx="3119018" cy="621792"/>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The model may use the retrieved sources and nothing else — no outside knowledge, no inference beyond what the text states.</a:t>
            </a:r>
            <a:endParaRPr lang="en-US" sz="1050" dirty="0"/>
          </a:p>
        </p:txBody>
      </p:sp>
      <p:sp>
        <p:nvSpPr>
          <p:cNvPr id="43" name="Shape 38"/>
          <p:cNvSpPr/>
          <p:nvPr/>
        </p:nvSpPr>
        <p:spPr>
          <a:xfrm>
            <a:off x="4316882" y="4330192"/>
            <a:ext cx="3557930" cy="1371600"/>
          </a:xfrm>
          <a:prstGeom prst="roundRect">
            <a:avLst>
              <a:gd name="adj" fmla="val 4000"/>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44" name="Shape 39"/>
          <p:cNvSpPr/>
          <p:nvPr/>
        </p:nvSpPr>
        <p:spPr>
          <a:xfrm>
            <a:off x="4536338" y="4494784"/>
            <a:ext cx="775411" cy="219456"/>
          </a:xfrm>
          <a:prstGeom prst="roundRect">
            <a:avLst>
              <a:gd name="adj" fmla="val 50000"/>
            </a:avLst>
          </a:prstGeom>
          <a:solidFill>
            <a:srgbClr val="0E7C5A"/>
          </a:solidFill>
          <a:ln w="12700">
            <a:solidFill>
              <a:srgbClr val="0E7C5A"/>
            </a:solidFill>
            <a:prstDash val="solid"/>
          </a:ln>
        </p:spPr>
      </p:sp>
      <p:sp>
        <p:nvSpPr>
          <p:cNvPr id="45" name="Text 40"/>
          <p:cNvSpPr/>
          <p:nvPr/>
        </p:nvSpPr>
        <p:spPr>
          <a:xfrm>
            <a:off x="4536338" y="4494784"/>
            <a:ext cx="775411"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GUARANTEE</a:t>
            </a:r>
            <a:endParaRPr lang="en-US" sz="850" dirty="0"/>
          </a:p>
        </p:txBody>
      </p:sp>
      <p:sp>
        <p:nvSpPr>
          <p:cNvPr id="46" name="Text 41"/>
          <p:cNvSpPr/>
          <p:nvPr/>
        </p:nvSpPr>
        <p:spPr>
          <a:xfrm>
            <a:off x="4536338" y="4769104"/>
            <a:ext cx="3119018" cy="274320"/>
          </a:xfrm>
          <a:prstGeom prst="rect">
            <a:avLst/>
          </a:prstGeom>
          <a:noFill/>
          <a:ln/>
        </p:spPr>
        <p:txBody>
          <a:bodyPr wrap="square" lIns="0" tIns="0" rIns="0" bIns="0" rtlCol="0" anchor="ctr"/>
          <a:lstStyle/>
          <a:p>
            <a:pPr indent="0" marL="0">
              <a:buNone/>
            </a:pPr>
            <a:r>
              <a:rPr lang="en-US" sz="1400" b="1" dirty="0">
                <a:solidFill>
                  <a:srgbClr val="0E1A2B"/>
                </a:solidFill>
                <a:latin typeface="Cambria" pitchFamily="34" charset="0"/>
                <a:ea typeface="Cambria" pitchFamily="34" charset="-122"/>
                <a:cs typeface="Cambria" pitchFamily="34" charset="-120"/>
              </a:rPr>
              <a:t>Page-level provenance</a:t>
            </a:r>
            <a:endParaRPr lang="en-US" sz="1400" dirty="0"/>
          </a:p>
        </p:txBody>
      </p:sp>
      <p:sp>
        <p:nvSpPr>
          <p:cNvPr id="47" name="Text 42"/>
          <p:cNvSpPr/>
          <p:nvPr/>
        </p:nvSpPr>
        <p:spPr>
          <a:xfrm>
            <a:off x="4536338" y="5043424"/>
            <a:ext cx="3119018" cy="621792"/>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Every claim carries [n, p. X]. The page is looked up from the index after generation, not copied by the model.</a:t>
            </a:r>
            <a:endParaRPr lang="en-US" sz="1050" dirty="0"/>
          </a:p>
        </p:txBody>
      </p:sp>
      <p:sp>
        <p:nvSpPr>
          <p:cNvPr id="48" name="Shape 43"/>
          <p:cNvSpPr/>
          <p:nvPr/>
        </p:nvSpPr>
        <p:spPr>
          <a:xfrm>
            <a:off x="8066837" y="4330192"/>
            <a:ext cx="3557930" cy="1371600"/>
          </a:xfrm>
          <a:prstGeom prst="roundRect">
            <a:avLst>
              <a:gd name="adj" fmla="val 4000"/>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49" name="Shape 44"/>
          <p:cNvSpPr/>
          <p:nvPr/>
        </p:nvSpPr>
        <p:spPr>
          <a:xfrm>
            <a:off x="8286293" y="4494784"/>
            <a:ext cx="775411" cy="219456"/>
          </a:xfrm>
          <a:prstGeom prst="roundRect">
            <a:avLst>
              <a:gd name="adj" fmla="val 50000"/>
            </a:avLst>
          </a:prstGeom>
          <a:solidFill>
            <a:srgbClr val="0E7C5A"/>
          </a:solidFill>
          <a:ln w="12700">
            <a:solidFill>
              <a:srgbClr val="0E7C5A"/>
            </a:solidFill>
            <a:prstDash val="solid"/>
          </a:ln>
        </p:spPr>
      </p:sp>
      <p:sp>
        <p:nvSpPr>
          <p:cNvPr id="50" name="Text 45"/>
          <p:cNvSpPr/>
          <p:nvPr/>
        </p:nvSpPr>
        <p:spPr>
          <a:xfrm>
            <a:off x="8286293" y="4494784"/>
            <a:ext cx="775411"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GUARANTEE</a:t>
            </a:r>
            <a:endParaRPr lang="en-US" sz="850" dirty="0"/>
          </a:p>
        </p:txBody>
      </p:sp>
      <p:sp>
        <p:nvSpPr>
          <p:cNvPr id="51" name="Text 46"/>
          <p:cNvSpPr/>
          <p:nvPr/>
        </p:nvSpPr>
        <p:spPr>
          <a:xfrm>
            <a:off x="8286293" y="4769104"/>
            <a:ext cx="3119018" cy="274320"/>
          </a:xfrm>
          <a:prstGeom prst="rect">
            <a:avLst/>
          </a:prstGeom>
          <a:noFill/>
          <a:ln/>
        </p:spPr>
        <p:txBody>
          <a:bodyPr wrap="square" lIns="0" tIns="0" rIns="0" bIns="0" rtlCol="0" anchor="ctr"/>
          <a:lstStyle/>
          <a:p>
            <a:pPr indent="0" marL="0">
              <a:buNone/>
            </a:pPr>
            <a:r>
              <a:rPr lang="en-US" sz="1400" b="1" dirty="0">
                <a:solidFill>
                  <a:srgbClr val="0E1A2B"/>
                </a:solidFill>
                <a:latin typeface="Cambria" pitchFamily="34" charset="0"/>
                <a:ea typeface="Cambria" pitchFamily="34" charset="-122"/>
                <a:cs typeface="Cambria" pitchFamily="34" charset="-120"/>
              </a:rPr>
              <a:t>A narrow refusal</a:t>
            </a:r>
            <a:endParaRPr lang="en-US" sz="1400" dirty="0"/>
          </a:p>
        </p:txBody>
      </p:sp>
      <p:sp>
        <p:nvSpPr>
          <p:cNvPr id="52" name="Text 47"/>
          <p:cNvSpPr/>
          <p:nvPr/>
        </p:nvSpPr>
        <p:spPr>
          <a:xfrm>
            <a:off x="8286293" y="5043424"/>
            <a:ext cx="3119018" cy="621792"/>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Reserved for retrieval that turned up nothing bearing on the question. A grounded partial answer beats a refusal.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THE ANSWER CONTRACT</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Real output, and the evidence it was built from</a:t>
            </a:r>
            <a:endParaRPr lang="en-US" sz="3000" dirty="0"/>
          </a:p>
        </p:txBody>
      </p:sp>
      <p:sp>
        <p:nvSpPr>
          <p:cNvPr id="7" name="Text 2"/>
          <p:cNvSpPr/>
          <p:nvPr/>
        </p:nvSpPr>
        <p:spPr>
          <a:xfrm>
            <a:off x="566928" y="1499616"/>
            <a:ext cx="11057839" cy="274320"/>
          </a:xfrm>
          <a:prstGeom prst="rect">
            <a:avLst/>
          </a:prstGeom>
          <a:noFill/>
          <a:ln/>
        </p:spPr>
        <p:txBody>
          <a:bodyPr wrap="square" lIns="0" tIns="0" rIns="0" bIns="0" rtlCol="0" anchor="ctr"/>
          <a:lstStyle/>
          <a:p>
            <a:pPr indent="0" marL="0">
              <a:buNone/>
            </a:pPr>
            <a:r>
              <a:rPr lang="en-US" sz="1250" b="1" dirty="0">
                <a:solidFill>
                  <a:srgbClr val="0E1A2B"/>
                </a:solidFill>
                <a:latin typeface="Calibri" pitchFamily="34" charset="0"/>
                <a:ea typeface="Calibri" pitchFamily="34" charset="-122"/>
                <a:cs typeface="Calibri" pitchFamily="34" charset="-120"/>
              </a:rPr>
              <a:t>Q  ·  Does creatine supplementation improve high-intensity exercise performance?</a:t>
            </a:r>
            <a:endParaRPr lang="en-US" sz="1250" dirty="0"/>
          </a:p>
        </p:txBody>
      </p:sp>
      <p:sp>
        <p:nvSpPr>
          <p:cNvPr id="8" name="Shape 3"/>
          <p:cNvSpPr/>
          <p:nvPr/>
        </p:nvSpPr>
        <p:spPr>
          <a:xfrm>
            <a:off x="566928" y="1828800"/>
            <a:ext cx="6858000" cy="2798064"/>
          </a:xfrm>
          <a:prstGeom prst="roundRect">
            <a:avLst>
              <a:gd name="adj" fmla="val 1961"/>
            </a:avLst>
          </a:prstGeom>
          <a:solidFill>
            <a:srgbClr val="0E1A2B"/>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9" name="Text 4"/>
          <p:cNvSpPr/>
          <p:nvPr/>
        </p:nvSpPr>
        <p:spPr>
          <a:xfrm>
            <a:off x="731520" y="1947672"/>
            <a:ext cx="6528816" cy="2560320"/>
          </a:xfrm>
          <a:prstGeom prst="rect">
            <a:avLst/>
          </a:prstGeom>
          <a:noFill/>
          <a:ln/>
        </p:spPr>
        <p:txBody>
          <a:bodyPr wrap="square" lIns="0" tIns="0" rIns="0" bIns="0" rtlCol="0" anchor="t"/>
          <a:lstStyle/>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Yes. Multiple studies cited in the sources show that creatine</a:t>
            </a: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supplementation improves performance during high-intensity,</a:t>
            </a: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short-duration exercise such as sprinting and weight-lifting.</a:t>
            </a:r>
            <a:endParaRPr lang="en-US" sz="950" dirty="0"/>
          </a:p>
          <a:p>
            <a:pPr indent="0" marL="0">
              <a:lnSpc>
                <a:spcPts val="1360"/>
              </a:lnSpc>
              <a:buNone/>
            </a:pP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 In a randomized study of 14 female collegiate soccer</a:t>
            </a: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  players, those who received creatine had significantly</a:t>
            </a: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  greater increases in muscle strength [1, p. 18].</a:t>
            </a:r>
            <a:endParaRPr lang="en-US" sz="950" dirty="0"/>
          </a:p>
          <a:p>
            <a:pPr indent="0" marL="0">
              <a:lnSpc>
                <a:spcPts val="1360"/>
              </a:lnSpc>
              <a:buNone/>
            </a:pP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 A short-term trial (5-7 days) found improved peak power</a:t>
            </a: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  output during jump squats, and better 100-m sprint</a:t>
            </a: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  performance than placebo [6, p. 18].</a:t>
            </a:r>
            <a:endParaRPr lang="en-US" sz="950" dirty="0"/>
          </a:p>
          <a:p>
            <a:pPr indent="0" marL="0">
              <a:lnSpc>
                <a:spcPts val="1360"/>
              </a:lnSpc>
              <a:buNone/>
            </a:pP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 Position statements of the ACSM, NSCA and ISSN state that</a:t>
            </a: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  creatine enhances performance during cycles of high-</a:t>
            </a:r>
            <a:endParaRPr lang="en-US" sz="950" dirty="0"/>
          </a:p>
          <a:p>
            <a:pPr indent="0" marL="0">
              <a:lnSpc>
                <a:spcPts val="1360"/>
              </a:lnSpc>
              <a:buNone/>
            </a:pPr>
            <a:r>
              <a:rPr lang="en-US" sz="950" dirty="0">
                <a:solidFill>
                  <a:srgbClr val="C9D6E4"/>
                </a:solidFill>
                <a:latin typeface="Courier New" pitchFamily="34" charset="0"/>
                <a:ea typeface="Courier New" pitchFamily="34" charset="-122"/>
                <a:cs typeface="Courier New" pitchFamily="34" charset="-120"/>
              </a:rPr>
              <a:t>  intensity exercise with short recovery [1, p. 19].</a:t>
            </a:r>
            <a:endParaRPr lang="en-US" sz="950" dirty="0"/>
          </a:p>
        </p:txBody>
      </p:sp>
      <p:sp>
        <p:nvSpPr>
          <p:cNvPr id="10" name="Text 5"/>
          <p:cNvSpPr/>
          <p:nvPr/>
        </p:nvSpPr>
        <p:spPr>
          <a:xfrm>
            <a:off x="7644384" y="1828800"/>
            <a:ext cx="3980383" cy="237744"/>
          </a:xfrm>
          <a:prstGeom prst="rect">
            <a:avLst/>
          </a:prstGeom>
          <a:noFill/>
          <a:ln/>
        </p:spPr>
        <p:txBody>
          <a:bodyPr wrap="square" lIns="0" tIns="0" rIns="0" bIns="0" rtlCol="0" anchor="ctr"/>
          <a:lstStyle/>
          <a:p>
            <a:pPr indent="0" marL="0">
              <a:buNone/>
            </a:pPr>
            <a:r>
              <a:rPr lang="en-US" sz="950" b="1" spc="60" kern="0" dirty="0">
                <a:solidFill>
                  <a:srgbClr val="6B7A8C"/>
                </a:solidFill>
                <a:latin typeface="Calibri" pitchFamily="34" charset="0"/>
                <a:ea typeface="Calibri" pitchFamily="34" charset="-122"/>
                <a:cs typeface="Calibri" pitchFamily="34" charset="-120"/>
              </a:rPr>
              <a:t>Retrieved first — shown before anything is generated</a:t>
            </a:r>
            <a:endParaRPr lang="en-US" sz="950" dirty="0"/>
          </a:p>
        </p:txBody>
      </p:sp>
      <p:sp>
        <p:nvSpPr>
          <p:cNvPr id="11" name="Shape 6"/>
          <p:cNvSpPr/>
          <p:nvPr/>
        </p:nvSpPr>
        <p:spPr>
          <a:xfrm>
            <a:off x="7644384" y="2139696"/>
            <a:ext cx="3980383" cy="502920"/>
          </a:xfrm>
          <a:prstGeom prst="roundRect">
            <a:avLst>
              <a:gd name="adj" fmla="val 10909"/>
            </a:avLst>
          </a:prstGeom>
          <a:solidFill>
            <a:srgbClr val="F1F4F8"/>
          </a:solidFill>
          <a:ln w="9525">
            <a:solidFill>
              <a:srgbClr val="E3E9F1"/>
            </a:solidFill>
            <a:prstDash val="solid"/>
          </a:ln>
        </p:spPr>
      </p:sp>
      <p:sp>
        <p:nvSpPr>
          <p:cNvPr id="12" name="Text 7"/>
          <p:cNvSpPr/>
          <p:nvPr/>
        </p:nvSpPr>
        <p:spPr>
          <a:xfrm>
            <a:off x="7772400" y="2185416"/>
            <a:ext cx="2926080" cy="201168"/>
          </a:xfrm>
          <a:prstGeom prst="rect">
            <a:avLst/>
          </a:prstGeom>
          <a:noFill/>
          <a:ln/>
        </p:spPr>
        <p:txBody>
          <a:bodyPr wrap="square" lIns="0" tIns="0" rIns="0" bIns="0" rtlCol="0" anchor="ctr"/>
          <a:lstStyle/>
          <a:p>
            <a:pPr indent="0" marL="0">
              <a:buNone/>
            </a:pPr>
            <a:r>
              <a:rPr lang="en-US" sz="1000" b="1" dirty="0">
                <a:solidFill>
                  <a:srgbClr val="0E1A2B"/>
                </a:solidFill>
                <a:latin typeface="Calibri" pitchFamily="34" charset="0"/>
                <a:ea typeface="Calibri" pitchFamily="34" charset="-122"/>
                <a:cs typeface="Calibri" pitchFamily="34" charset="-120"/>
              </a:rPr>
              <a:t>Creatine &gt; Efficacy</a:t>
            </a:r>
            <a:endParaRPr lang="en-US" sz="1000" dirty="0"/>
          </a:p>
        </p:txBody>
      </p:sp>
      <p:sp>
        <p:nvSpPr>
          <p:cNvPr id="13" name="Text 8"/>
          <p:cNvSpPr/>
          <p:nvPr/>
        </p:nvSpPr>
        <p:spPr>
          <a:xfrm>
            <a:off x="7772400" y="2386584"/>
            <a:ext cx="3200400" cy="201168"/>
          </a:xfrm>
          <a:prstGeom prst="rect">
            <a:avLst/>
          </a:prstGeom>
          <a:noFill/>
          <a:ln/>
        </p:spPr>
        <p:txBody>
          <a:bodyPr wrap="square" lIns="0" tIns="0" rIns="0" bIns="0" rtlCol="0" anchor="ctr"/>
          <a:lstStyle/>
          <a:p>
            <a:pPr indent="0" marL="0">
              <a:buNone/>
            </a:pPr>
            <a:r>
              <a:rPr lang="en-US" sz="850" dirty="0">
                <a:solidFill>
                  <a:srgbClr val="6B7A8C"/>
                </a:solidFill>
                <a:latin typeface="Courier New" pitchFamily="34" charset="0"/>
                <a:ea typeface="Courier New" pitchFamily="34" charset="-122"/>
                <a:cs typeface="Courier New" pitchFamily="34" charset="-120"/>
              </a:rPr>
              <a:t>p. 18  ·  sim 0.750  ·  matched on question</a:t>
            </a:r>
            <a:endParaRPr lang="en-US" sz="850" dirty="0"/>
          </a:p>
        </p:txBody>
      </p:sp>
      <p:sp>
        <p:nvSpPr>
          <p:cNvPr id="14" name="Shape 9"/>
          <p:cNvSpPr/>
          <p:nvPr/>
        </p:nvSpPr>
        <p:spPr>
          <a:xfrm>
            <a:off x="7644384" y="2715768"/>
            <a:ext cx="3980383" cy="502920"/>
          </a:xfrm>
          <a:prstGeom prst="roundRect">
            <a:avLst>
              <a:gd name="adj" fmla="val 10909"/>
            </a:avLst>
          </a:prstGeom>
          <a:solidFill>
            <a:srgbClr val="F1F4F8"/>
          </a:solidFill>
          <a:ln w="9525">
            <a:solidFill>
              <a:srgbClr val="E3E9F1"/>
            </a:solidFill>
            <a:prstDash val="solid"/>
          </a:ln>
        </p:spPr>
      </p:sp>
      <p:sp>
        <p:nvSpPr>
          <p:cNvPr id="15" name="Text 10"/>
          <p:cNvSpPr/>
          <p:nvPr/>
        </p:nvSpPr>
        <p:spPr>
          <a:xfrm>
            <a:off x="7772400" y="2761488"/>
            <a:ext cx="2926080" cy="201168"/>
          </a:xfrm>
          <a:prstGeom prst="rect">
            <a:avLst/>
          </a:prstGeom>
          <a:noFill/>
          <a:ln/>
        </p:spPr>
        <p:txBody>
          <a:bodyPr wrap="square" lIns="0" tIns="0" rIns="0" bIns="0" rtlCol="0" anchor="ctr"/>
          <a:lstStyle/>
          <a:p>
            <a:pPr indent="0" marL="0">
              <a:buNone/>
            </a:pPr>
            <a:r>
              <a:rPr lang="en-US" sz="1000" b="1" dirty="0">
                <a:solidFill>
                  <a:srgbClr val="0E1A2B"/>
                </a:solidFill>
                <a:latin typeface="Calibri" pitchFamily="34" charset="0"/>
                <a:ea typeface="Calibri" pitchFamily="34" charset="-122"/>
                <a:cs typeface="Calibri" pitchFamily="34" charset="-120"/>
              </a:rPr>
              <a:t>Creatine</a:t>
            </a:r>
            <a:endParaRPr lang="en-US" sz="1000" dirty="0"/>
          </a:p>
        </p:txBody>
      </p:sp>
      <p:sp>
        <p:nvSpPr>
          <p:cNvPr id="16" name="Text 11"/>
          <p:cNvSpPr/>
          <p:nvPr/>
        </p:nvSpPr>
        <p:spPr>
          <a:xfrm>
            <a:off x="7772400" y="2962656"/>
            <a:ext cx="3200400" cy="201168"/>
          </a:xfrm>
          <a:prstGeom prst="rect">
            <a:avLst/>
          </a:prstGeom>
          <a:noFill/>
          <a:ln/>
        </p:spPr>
        <p:txBody>
          <a:bodyPr wrap="square" lIns="0" tIns="0" rIns="0" bIns="0" rtlCol="0" anchor="ctr"/>
          <a:lstStyle/>
          <a:p>
            <a:pPr indent="0" marL="0">
              <a:buNone/>
            </a:pPr>
            <a:r>
              <a:rPr lang="en-US" sz="850" dirty="0">
                <a:solidFill>
                  <a:srgbClr val="6B7A8C"/>
                </a:solidFill>
                <a:latin typeface="Courier New" pitchFamily="34" charset="0"/>
                <a:ea typeface="Courier New" pitchFamily="34" charset="-122"/>
                <a:cs typeface="Courier New" pitchFamily="34" charset="-120"/>
              </a:rPr>
              <a:t>p. 17  ·  sim 0.742  ·  matched on question</a:t>
            </a:r>
            <a:endParaRPr lang="en-US" sz="850" dirty="0"/>
          </a:p>
        </p:txBody>
      </p:sp>
      <p:sp>
        <p:nvSpPr>
          <p:cNvPr id="17" name="Shape 12"/>
          <p:cNvSpPr/>
          <p:nvPr/>
        </p:nvSpPr>
        <p:spPr>
          <a:xfrm>
            <a:off x="7644384" y="3291840"/>
            <a:ext cx="3980383" cy="502920"/>
          </a:xfrm>
          <a:prstGeom prst="roundRect">
            <a:avLst>
              <a:gd name="adj" fmla="val 10909"/>
            </a:avLst>
          </a:prstGeom>
          <a:solidFill>
            <a:srgbClr val="F1F4F8"/>
          </a:solidFill>
          <a:ln w="9525">
            <a:solidFill>
              <a:srgbClr val="E3E9F1"/>
            </a:solidFill>
            <a:prstDash val="solid"/>
          </a:ln>
        </p:spPr>
      </p:sp>
      <p:sp>
        <p:nvSpPr>
          <p:cNvPr id="18" name="Text 13"/>
          <p:cNvSpPr/>
          <p:nvPr/>
        </p:nvSpPr>
        <p:spPr>
          <a:xfrm>
            <a:off x="7772400" y="3337560"/>
            <a:ext cx="2926080" cy="201168"/>
          </a:xfrm>
          <a:prstGeom prst="rect">
            <a:avLst/>
          </a:prstGeom>
          <a:noFill/>
          <a:ln/>
        </p:spPr>
        <p:txBody>
          <a:bodyPr wrap="square" lIns="0" tIns="0" rIns="0" bIns="0" rtlCol="0" anchor="ctr"/>
          <a:lstStyle/>
          <a:p>
            <a:pPr indent="0" marL="0">
              <a:buNone/>
            </a:pPr>
            <a:r>
              <a:rPr lang="en-US" sz="1000" b="1" dirty="0">
                <a:solidFill>
                  <a:srgbClr val="0E1A2B"/>
                </a:solidFill>
                <a:latin typeface="Calibri" pitchFamily="34" charset="0"/>
                <a:ea typeface="Calibri" pitchFamily="34" charset="-122"/>
                <a:cs typeface="Calibri" pitchFamily="34" charset="-120"/>
              </a:rPr>
              <a:t>Creatine &gt; Efficacy</a:t>
            </a:r>
            <a:endParaRPr lang="en-US" sz="1000" dirty="0"/>
          </a:p>
        </p:txBody>
      </p:sp>
      <p:sp>
        <p:nvSpPr>
          <p:cNvPr id="19" name="Text 14"/>
          <p:cNvSpPr/>
          <p:nvPr/>
        </p:nvSpPr>
        <p:spPr>
          <a:xfrm>
            <a:off x="7772400" y="3538728"/>
            <a:ext cx="3200400" cy="201168"/>
          </a:xfrm>
          <a:prstGeom prst="rect">
            <a:avLst/>
          </a:prstGeom>
          <a:noFill/>
          <a:ln/>
        </p:spPr>
        <p:txBody>
          <a:bodyPr wrap="square" lIns="0" tIns="0" rIns="0" bIns="0" rtlCol="0" anchor="ctr"/>
          <a:lstStyle/>
          <a:p>
            <a:pPr indent="0" marL="0">
              <a:buNone/>
            </a:pPr>
            <a:r>
              <a:rPr lang="en-US" sz="850" dirty="0">
                <a:solidFill>
                  <a:srgbClr val="6B7A8C"/>
                </a:solidFill>
                <a:latin typeface="Courier New" pitchFamily="34" charset="0"/>
                <a:ea typeface="Courier New" pitchFamily="34" charset="-122"/>
                <a:cs typeface="Courier New" pitchFamily="34" charset="-120"/>
              </a:rPr>
              <a:t>p. 18  ·  sim 0.715  ·  matched on chunk</a:t>
            </a:r>
            <a:endParaRPr lang="en-US" sz="850" dirty="0"/>
          </a:p>
        </p:txBody>
      </p:sp>
      <p:sp>
        <p:nvSpPr>
          <p:cNvPr id="20" name="Shape 15"/>
          <p:cNvSpPr/>
          <p:nvPr/>
        </p:nvSpPr>
        <p:spPr>
          <a:xfrm>
            <a:off x="7644384" y="3867912"/>
            <a:ext cx="3980383" cy="502920"/>
          </a:xfrm>
          <a:prstGeom prst="roundRect">
            <a:avLst>
              <a:gd name="adj" fmla="val 10909"/>
            </a:avLst>
          </a:prstGeom>
          <a:solidFill>
            <a:srgbClr val="F1F4F8"/>
          </a:solidFill>
          <a:ln w="9525">
            <a:solidFill>
              <a:srgbClr val="E3E9F1"/>
            </a:solidFill>
            <a:prstDash val="solid"/>
          </a:ln>
        </p:spPr>
      </p:sp>
      <p:sp>
        <p:nvSpPr>
          <p:cNvPr id="21" name="Text 16"/>
          <p:cNvSpPr/>
          <p:nvPr/>
        </p:nvSpPr>
        <p:spPr>
          <a:xfrm>
            <a:off x="7772400" y="3913632"/>
            <a:ext cx="2926080" cy="201168"/>
          </a:xfrm>
          <a:prstGeom prst="rect">
            <a:avLst/>
          </a:prstGeom>
          <a:noFill/>
          <a:ln/>
        </p:spPr>
        <p:txBody>
          <a:bodyPr wrap="square" lIns="0" tIns="0" rIns="0" bIns="0" rtlCol="0" anchor="ctr"/>
          <a:lstStyle/>
          <a:p>
            <a:pPr indent="0" marL="0">
              <a:buNone/>
            </a:pPr>
            <a:r>
              <a:rPr lang="en-US" sz="1000" b="1" dirty="0">
                <a:solidFill>
                  <a:srgbClr val="0E1A2B"/>
                </a:solidFill>
                <a:latin typeface="Calibri" pitchFamily="34" charset="0"/>
                <a:ea typeface="Calibri" pitchFamily="34" charset="-122"/>
                <a:cs typeface="Calibri" pitchFamily="34" charset="-120"/>
              </a:rPr>
              <a:t>Creatine &gt; Implications for use</a:t>
            </a:r>
            <a:endParaRPr lang="en-US" sz="1000" dirty="0"/>
          </a:p>
        </p:txBody>
      </p:sp>
      <p:sp>
        <p:nvSpPr>
          <p:cNvPr id="22" name="Text 17"/>
          <p:cNvSpPr/>
          <p:nvPr/>
        </p:nvSpPr>
        <p:spPr>
          <a:xfrm>
            <a:off x="7772400" y="4114800"/>
            <a:ext cx="3200400" cy="201168"/>
          </a:xfrm>
          <a:prstGeom prst="rect">
            <a:avLst/>
          </a:prstGeom>
          <a:noFill/>
          <a:ln/>
        </p:spPr>
        <p:txBody>
          <a:bodyPr wrap="square" lIns="0" tIns="0" rIns="0" bIns="0" rtlCol="0" anchor="ctr"/>
          <a:lstStyle/>
          <a:p>
            <a:pPr indent="0" marL="0">
              <a:buNone/>
            </a:pPr>
            <a:r>
              <a:rPr lang="en-US" sz="850" dirty="0">
                <a:solidFill>
                  <a:srgbClr val="6B7A8C"/>
                </a:solidFill>
                <a:latin typeface="Courier New" pitchFamily="34" charset="0"/>
                <a:ea typeface="Courier New" pitchFamily="34" charset="-122"/>
                <a:cs typeface="Courier New" pitchFamily="34" charset="-120"/>
              </a:rPr>
              <a:t>p. 19  ·  sim 0.709  ·  matched on chunk</a:t>
            </a:r>
            <a:endParaRPr lang="en-US" sz="850" dirty="0"/>
          </a:p>
        </p:txBody>
      </p:sp>
      <p:sp>
        <p:nvSpPr>
          <p:cNvPr id="23" name="Text 18"/>
          <p:cNvSpPr/>
          <p:nvPr/>
        </p:nvSpPr>
        <p:spPr>
          <a:xfrm>
            <a:off x="7699248" y="4462272"/>
            <a:ext cx="914400" cy="256032"/>
          </a:xfrm>
          <a:prstGeom prst="rect">
            <a:avLst/>
          </a:prstGeom>
          <a:noFill/>
          <a:ln/>
        </p:spPr>
        <p:txBody>
          <a:bodyPr wrap="square" lIns="0" tIns="0" rIns="0" bIns="0" rtlCol="0" anchor="ctr"/>
          <a:lstStyle/>
          <a:p>
            <a:pPr algn="ctr" indent="0" marL="0">
              <a:buNone/>
            </a:pPr>
            <a:r>
              <a:rPr lang="en-US" sz="1500" b="1" dirty="0">
                <a:solidFill>
                  <a:srgbClr val="0E7C5A"/>
                </a:solidFill>
                <a:latin typeface="Cambria" pitchFamily="34" charset="0"/>
                <a:ea typeface="Cambria" pitchFamily="34" charset="-122"/>
                <a:cs typeface="Cambria" pitchFamily="34" charset="-120"/>
              </a:rPr>
              <a:t>1.00</a:t>
            </a:r>
            <a:endParaRPr lang="en-US" sz="1500" dirty="0"/>
          </a:p>
        </p:txBody>
      </p:sp>
      <p:sp>
        <p:nvSpPr>
          <p:cNvPr id="24" name="Text 19"/>
          <p:cNvSpPr/>
          <p:nvPr/>
        </p:nvSpPr>
        <p:spPr>
          <a:xfrm>
            <a:off x="7644384" y="4718304"/>
            <a:ext cx="1024128" cy="219456"/>
          </a:xfrm>
          <a:prstGeom prst="rect">
            <a:avLst/>
          </a:prstGeom>
          <a:noFill/>
          <a:ln/>
        </p:spPr>
        <p:txBody>
          <a:bodyPr wrap="square" lIns="0" tIns="0" rIns="0" bIns="0" rtlCol="0" anchor="ctr"/>
          <a:lstStyle/>
          <a:p>
            <a:pPr algn="ctr" indent="0" marL="0">
              <a:buNone/>
            </a:pPr>
            <a:r>
              <a:rPr lang="en-US" sz="750" dirty="0">
                <a:solidFill>
                  <a:srgbClr val="6B7A8C"/>
                </a:solidFill>
                <a:latin typeface="Calibri" pitchFamily="34" charset="0"/>
                <a:ea typeface="Calibri" pitchFamily="34" charset="-122"/>
                <a:cs typeface="Calibri" pitchFamily="34" charset="-120"/>
              </a:rPr>
              <a:t>context recall</a:t>
            </a:r>
            <a:endParaRPr lang="en-US" sz="750" dirty="0"/>
          </a:p>
        </p:txBody>
      </p:sp>
      <p:sp>
        <p:nvSpPr>
          <p:cNvPr id="25" name="Text 20"/>
          <p:cNvSpPr/>
          <p:nvPr/>
        </p:nvSpPr>
        <p:spPr>
          <a:xfrm>
            <a:off x="8668512" y="4462272"/>
            <a:ext cx="914400" cy="256032"/>
          </a:xfrm>
          <a:prstGeom prst="rect">
            <a:avLst/>
          </a:prstGeom>
          <a:noFill/>
          <a:ln/>
        </p:spPr>
        <p:txBody>
          <a:bodyPr wrap="square" lIns="0" tIns="0" rIns="0" bIns="0" rtlCol="0" anchor="ctr"/>
          <a:lstStyle/>
          <a:p>
            <a:pPr algn="ctr" indent="0" marL="0">
              <a:buNone/>
            </a:pPr>
            <a:r>
              <a:rPr lang="en-US" sz="1500" b="1" dirty="0">
                <a:solidFill>
                  <a:srgbClr val="0E7C5A"/>
                </a:solidFill>
                <a:latin typeface="Cambria" pitchFamily="34" charset="0"/>
                <a:ea typeface="Cambria" pitchFamily="34" charset="-122"/>
                <a:cs typeface="Cambria" pitchFamily="34" charset="-120"/>
              </a:rPr>
              <a:t>1.00</a:t>
            </a:r>
            <a:endParaRPr lang="en-US" sz="1500" dirty="0"/>
          </a:p>
        </p:txBody>
      </p:sp>
      <p:sp>
        <p:nvSpPr>
          <p:cNvPr id="26" name="Text 21"/>
          <p:cNvSpPr/>
          <p:nvPr/>
        </p:nvSpPr>
        <p:spPr>
          <a:xfrm>
            <a:off x="8613648" y="4718304"/>
            <a:ext cx="1024128" cy="219456"/>
          </a:xfrm>
          <a:prstGeom prst="rect">
            <a:avLst/>
          </a:prstGeom>
          <a:noFill/>
          <a:ln/>
        </p:spPr>
        <p:txBody>
          <a:bodyPr wrap="square" lIns="0" tIns="0" rIns="0" bIns="0" rtlCol="0" anchor="ctr"/>
          <a:lstStyle/>
          <a:p>
            <a:pPr algn="ctr" indent="0" marL="0">
              <a:buNone/>
            </a:pPr>
            <a:r>
              <a:rPr lang="en-US" sz="750" dirty="0">
                <a:solidFill>
                  <a:srgbClr val="6B7A8C"/>
                </a:solidFill>
                <a:latin typeface="Calibri" pitchFamily="34" charset="0"/>
                <a:ea typeface="Calibri" pitchFamily="34" charset="-122"/>
                <a:cs typeface="Calibri" pitchFamily="34" charset="-120"/>
              </a:rPr>
              <a:t>faithfulness</a:t>
            </a:r>
            <a:endParaRPr lang="en-US" sz="750" dirty="0"/>
          </a:p>
        </p:txBody>
      </p:sp>
      <p:sp>
        <p:nvSpPr>
          <p:cNvPr id="27" name="Text 22"/>
          <p:cNvSpPr/>
          <p:nvPr/>
        </p:nvSpPr>
        <p:spPr>
          <a:xfrm>
            <a:off x="9637776" y="4462272"/>
            <a:ext cx="914400" cy="256032"/>
          </a:xfrm>
          <a:prstGeom prst="rect">
            <a:avLst/>
          </a:prstGeom>
          <a:noFill/>
          <a:ln/>
        </p:spPr>
        <p:txBody>
          <a:bodyPr wrap="square" lIns="0" tIns="0" rIns="0" bIns="0" rtlCol="0" anchor="ctr"/>
          <a:lstStyle/>
          <a:p>
            <a:pPr algn="ctr" indent="0" marL="0">
              <a:buNone/>
            </a:pPr>
            <a:r>
              <a:rPr lang="en-US" sz="1500" b="1" dirty="0">
                <a:solidFill>
                  <a:srgbClr val="0E7C5A"/>
                </a:solidFill>
                <a:latin typeface="Cambria" pitchFamily="34" charset="0"/>
                <a:ea typeface="Cambria" pitchFamily="34" charset="-122"/>
                <a:cs typeface="Cambria" pitchFamily="34" charset="-120"/>
              </a:rPr>
              <a:t>0.82</a:t>
            </a:r>
            <a:endParaRPr lang="en-US" sz="1500" dirty="0"/>
          </a:p>
        </p:txBody>
      </p:sp>
      <p:sp>
        <p:nvSpPr>
          <p:cNvPr id="28" name="Text 23"/>
          <p:cNvSpPr/>
          <p:nvPr/>
        </p:nvSpPr>
        <p:spPr>
          <a:xfrm>
            <a:off x="9582912" y="4718304"/>
            <a:ext cx="1024128" cy="219456"/>
          </a:xfrm>
          <a:prstGeom prst="rect">
            <a:avLst/>
          </a:prstGeom>
          <a:noFill/>
          <a:ln/>
        </p:spPr>
        <p:txBody>
          <a:bodyPr wrap="square" lIns="0" tIns="0" rIns="0" bIns="0" rtlCol="0" anchor="ctr"/>
          <a:lstStyle/>
          <a:p>
            <a:pPr algn="ctr" indent="0" marL="0">
              <a:buNone/>
            </a:pPr>
            <a:r>
              <a:rPr lang="en-US" sz="750" dirty="0">
                <a:solidFill>
                  <a:srgbClr val="6B7A8C"/>
                </a:solidFill>
                <a:latin typeface="Calibri" pitchFamily="34" charset="0"/>
                <a:ea typeface="Calibri" pitchFamily="34" charset="-122"/>
                <a:cs typeface="Calibri" pitchFamily="34" charset="-120"/>
              </a:rPr>
              <a:t>precision</a:t>
            </a:r>
            <a:endParaRPr lang="en-US" sz="750" dirty="0"/>
          </a:p>
        </p:txBody>
      </p:sp>
      <p:sp>
        <p:nvSpPr>
          <p:cNvPr id="29" name="Text 24"/>
          <p:cNvSpPr/>
          <p:nvPr/>
        </p:nvSpPr>
        <p:spPr>
          <a:xfrm>
            <a:off x="10607040" y="4462272"/>
            <a:ext cx="914400" cy="256032"/>
          </a:xfrm>
          <a:prstGeom prst="rect">
            <a:avLst/>
          </a:prstGeom>
          <a:noFill/>
          <a:ln/>
        </p:spPr>
        <p:txBody>
          <a:bodyPr wrap="square" lIns="0" tIns="0" rIns="0" bIns="0" rtlCol="0" anchor="ctr"/>
          <a:lstStyle/>
          <a:p>
            <a:pPr algn="ctr" indent="0" marL="0">
              <a:buNone/>
            </a:pPr>
            <a:r>
              <a:rPr lang="en-US" sz="1500" b="1" dirty="0">
                <a:solidFill>
                  <a:srgbClr val="0E7C5A"/>
                </a:solidFill>
                <a:latin typeface="Cambria" pitchFamily="34" charset="0"/>
                <a:ea typeface="Cambria" pitchFamily="34" charset="-122"/>
                <a:cs typeface="Cambria" pitchFamily="34" charset="-120"/>
              </a:rPr>
              <a:t>0.92</a:t>
            </a:r>
            <a:endParaRPr lang="en-US" sz="1500" dirty="0"/>
          </a:p>
        </p:txBody>
      </p:sp>
      <p:sp>
        <p:nvSpPr>
          <p:cNvPr id="30" name="Text 25"/>
          <p:cNvSpPr/>
          <p:nvPr/>
        </p:nvSpPr>
        <p:spPr>
          <a:xfrm>
            <a:off x="10552176" y="4718304"/>
            <a:ext cx="1024128" cy="219456"/>
          </a:xfrm>
          <a:prstGeom prst="rect">
            <a:avLst/>
          </a:prstGeom>
          <a:noFill/>
          <a:ln/>
        </p:spPr>
        <p:txBody>
          <a:bodyPr wrap="square" lIns="0" tIns="0" rIns="0" bIns="0" rtlCol="0" anchor="ctr"/>
          <a:lstStyle/>
          <a:p>
            <a:pPr algn="ctr" indent="0" marL="0">
              <a:buNone/>
            </a:pPr>
            <a:r>
              <a:rPr lang="en-US" sz="750" dirty="0">
                <a:solidFill>
                  <a:srgbClr val="6B7A8C"/>
                </a:solidFill>
                <a:latin typeface="Calibri" pitchFamily="34" charset="0"/>
                <a:ea typeface="Calibri" pitchFamily="34" charset="-122"/>
                <a:cs typeface="Calibri" pitchFamily="34" charset="-120"/>
              </a:rPr>
              <a:t>relevancy</a:t>
            </a:r>
            <a:endParaRPr lang="en-US" sz="750" dirty="0"/>
          </a:p>
        </p:txBody>
      </p:sp>
      <p:sp>
        <p:nvSpPr>
          <p:cNvPr id="31" name="Text 26"/>
          <p:cNvSpPr/>
          <p:nvPr/>
        </p:nvSpPr>
        <p:spPr>
          <a:xfrm>
            <a:off x="566928" y="4736592"/>
            <a:ext cx="6858000" cy="457200"/>
          </a:xfrm>
          <a:prstGeom prst="rect">
            <a:avLst/>
          </a:prstGeom>
          <a:noFill/>
          <a:ln/>
        </p:spPr>
        <p:txBody>
          <a:bodyPr wrap="square" lIns="0" tIns="0" rIns="0" bIns="0" rtlCol="0" anchor="ctr"/>
          <a:lstStyle/>
          <a:p>
            <a:pPr indent="0" marL="0">
              <a:lnSpc>
                <a:spcPts val="1350"/>
              </a:lnSpc>
              <a:buNone/>
            </a:pPr>
            <a:r>
              <a:rPr lang="en-US" sz="1000" i="1" dirty="0">
                <a:solidFill>
                  <a:srgbClr val="6B7A8C"/>
                </a:solidFill>
                <a:latin typeface="Calibri" pitchFamily="34" charset="0"/>
                <a:ea typeface="Calibri" pitchFamily="34" charset="-122"/>
                <a:cs typeface="Calibri" pitchFamily="34" charset="-120"/>
              </a:rPr>
              <a:t>Judge-scored, question 1 of the golden set. “Matched on question” means the hit came through a hypothetical question generated for that chunk at build time, not the chunk text itself.</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THE PRODUCT</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What it looks like in the hand</a:t>
            </a:r>
            <a:endParaRPr lang="en-US" sz="3000" dirty="0"/>
          </a:p>
        </p:txBody>
      </p:sp>
      <p:sp>
        <p:nvSpPr>
          <p:cNvPr id="7" name="Shape 2"/>
          <p:cNvSpPr/>
          <p:nvPr/>
        </p:nvSpPr>
        <p:spPr>
          <a:xfrm>
            <a:off x="566928" y="1554480"/>
            <a:ext cx="7498080" cy="3401568"/>
          </a:xfrm>
          <a:prstGeom prst="roundRect">
            <a:avLst>
              <a:gd name="adj" fmla="val 1613"/>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8" name="Text 3"/>
          <p:cNvSpPr/>
          <p:nvPr/>
        </p:nvSpPr>
        <p:spPr>
          <a:xfrm>
            <a:off x="1115568" y="2798064"/>
            <a:ext cx="6400800" cy="1097280"/>
          </a:xfrm>
          <a:prstGeom prst="rect">
            <a:avLst/>
          </a:prstGeom>
          <a:noFill/>
          <a:ln/>
        </p:spPr>
        <p:txBody>
          <a:bodyPr wrap="square" lIns="0" tIns="0" rIns="0" bIns="0" rtlCol="0" anchor="ctr"/>
          <a:lstStyle/>
          <a:p>
            <a:pPr algn="ctr" indent="0" marL="0">
              <a:lnSpc>
                <a:spcPts val="1800"/>
              </a:lnSpc>
              <a:buNone/>
            </a:pPr>
            <a:r>
              <a:rPr lang="en-US" sz="1200" dirty="0">
                <a:solidFill>
                  <a:srgbClr val="6B7A8C"/>
                </a:solidFill>
                <a:latin typeface="Calibri" pitchFamily="34" charset="0"/>
                <a:ea typeface="Calibri" pitchFamily="34" charset="-122"/>
                <a:cs typeface="Calibri" pitchFamily="34" charset="-120"/>
              </a:rPr>
              <a:t>App screens</a:t>
            </a:r>
            <a:endParaRPr lang="en-US" sz="1200" dirty="0"/>
          </a:p>
          <a:p>
            <a:pPr algn="ctr" indent="0" marL="0">
              <a:lnSpc>
                <a:spcPts val="1800"/>
              </a:lnSpc>
              <a:buNone/>
            </a:pPr>
            <a:endParaRPr lang="en-US" sz="1200" dirty="0"/>
          </a:p>
          <a:p>
            <a:pPr algn="ctr" indent="0" marL="0">
              <a:lnSpc>
                <a:spcPts val="1800"/>
              </a:lnSpc>
              <a:buNone/>
            </a:pPr>
            <a:r>
              <a:rPr lang="en-US" sz="1200" dirty="0">
                <a:solidFill>
                  <a:srgbClr val="6B7A8C"/>
                </a:solidFill>
                <a:latin typeface="Calibri" pitchFamily="34" charset="0"/>
                <a:ea typeface="Calibri" pitchFamily="34" charset="-122"/>
                <a:cs typeface="Calibri" pitchFamily="34" charset="-120"/>
              </a:rPr>
              <a:t>Drop the mockup PNG into presentation/assets/screens/ and rebuild — it lands here at full width.</a:t>
            </a:r>
            <a:endParaRPr lang="en-US" sz="1200" dirty="0"/>
          </a:p>
        </p:txBody>
      </p:sp>
      <p:sp>
        <p:nvSpPr>
          <p:cNvPr id="9" name="Shape 4"/>
          <p:cNvSpPr/>
          <p:nvPr/>
        </p:nvSpPr>
        <p:spPr>
          <a:xfrm>
            <a:off x="8229600" y="1609344"/>
            <a:ext cx="292608" cy="292608"/>
          </a:xfrm>
          <a:prstGeom prst="ellipse">
            <a:avLst/>
          </a:prstGeom>
          <a:solidFill>
            <a:srgbClr val="FF7900"/>
          </a:solidFill>
          <a:ln w="12700">
            <a:solidFill>
              <a:srgbClr val="FF7900"/>
            </a:solidFill>
            <a:prstDash val="solid"/>
          </a:ln>
        </p:spPr>
      </p:sp>
      <p:sp>
        <p:nvSpPr>
          <p:cNvPr id="10" name="Text 5"/>
          <p:cNvSpPr/>
          <p:nvPr/>
        </p:nvSpPr>
        <p:spPr>
          <a:xfrm>
            <a:off x="8229600" y="16093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6"/>
          <p:cNvSpPr/>
          <p:nvPr/>
        </p:nvSpPr>
        <p:spPr>
          <a:xfrm>
            <a:off x="8631936" y="1572768"/>
            <a:ext cx="2992831" cy="256032"/>
          </a:xfrm>
          <a:prstGeom prst="rect">
            <a:avLst/>
          </a:prstGeom>
          <a:noFill/>
          <a:ln/>
        </p:spPr>
        <p:txBody>
          <a:bodyPr wrap="square" lIns="0" tIns="0" rIns="0" bIns="0" rtlCol="0" anchor="ctr"/>
          <a:lstStyle/>
          <a:p>
            <a:pPr indent="0" marL="0">
              <a:buNone/>
            </a:pPr>
            <a:r>
              <a:rPr lang="en-US" sz="1350" b="1" dirty="0">
                <a:solidFill>
                  <a:srgbClr val="0E1A2B"/>
                </a:solidFill>
                <a:latin typeface="Cambria" pitchFamily="34" charset="0"/>
                <a:ea typeface="Cambria" pitchFamily="34" charset="-122"/>
                <a:cs typeface="Cambria" pitchFamily="34" charset="-120"/>
              </a:rPr>
              <a:t>Evidence before prose</a:t>
            </a:r>
            <a:endParaRPr lang="en-US" sz="1350" dirty="0"/>
          </a:p>
        </p:txBody>
      </p:sp>
      <p:sp>
        <p:nvSpPr>
          <p:cNvPr id="12" name="Text 7"/>
          <p:cNvSpPr/>
          <p:nvPr/>
        </p:nvSpPr>
        <p:spPr>
          <a:xfrm>
            <a:off x="8631936" y="1847088"/>
            <a:ext cx="2992831" cy="786384"/>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The Sources screen lists the retrieved passages, their section path and their page — the reader can check the system before trusting it.</a:t>
            </a:r>
            <a:endParaRPr lang="en-US" sz="1050" dirty="0"/>
          </a:p>
        </p:txBody>
      </p:sp>
      <p:sp>
        <p:nvSpPr>
          <p:cNvPr id="13" name="Shape 8"/>
          <p:cNvSpPr/>
          <p:nvPr/>
        </p:nvSpPr>
        <p:spPr>
          <a:xfrm>
            <a:off x="8229600" y="2779776"/>
            <a:ext cx="292608" cy="292608"/>
          </a:xfrm>
          <a:prstGeom prst="ellipse">
            <a:avLst/>
          </a:prstGeom>
          <a:solidFill>
            <a:srgbClr val="FF7900"/>
          </a:solidFill>
          <a:ln w="12700">
            <a:solidFill>
              <a:srgbClr val="FF7900"/>
            </a:solidFill>
            <a:prstDash val="solid"/>
          </a:ln>
        </p:spPr>
      </p:sp>
      <p:sp>
        <p:nvSpPr>
          <p:cNvPr id="14" name="Text 9"/>
          <p:cNvSpPr/>
          <p:nvPr/>
        </p:nvSpPr>
        <p:spPr>
          <a:xfrm>
            <a:off x="8229600" y="277977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0"/>
          <p:cNvSpPr/>
          <p:nvPr/>
        </p:nvSpPr>
        <p:spPr>
          <a:xfrm>
            <a:off x="8631936" y="2743200"/>
            <a:ext cx="2992831" cy="256032"/>
          </a:xfrm>
          <a:prstGeom prst="rect">
            <a:avLst/>
          </a:prstGeom>
          <a:noFill/>
          <a:ln/>
        </p:spPr>
        <p:txBody>
          <a:bodyPr wrap="square" lIns="0" tIns="0" rIns="0" bIns="0" rtlCol="0" anchor="ctr"/>
          <a:lstStyle/>
          <a:p>
            <a:pPr indent="0" marL="0">
              <a:buNone/>
            </a:pPr>
            <a:r>
              <a:rPr lang="en-US" sz="1350" b="1" dirty="0">
                <a:solidFill>
                  <a:srgbClr val="0E1A2B"/>
                </a:solidFill>
                <a:latin typeface="Cambria" pitchFamily="34" charset="0"/>
                <a:ea typeface="Cambria" pitchFamily="34" charset="-122"/>
                <a:cs typeface="Cambria" pitchFamily="34" charset="-120"/>
              </a:rPr>
              <a:t>Strength is shown, not implied</a:t>
            </a:r>
            <a:endParaRPr lang="en-US" sz="1350" dirty="0"/>
          </a:p>
        </p:txBody>
      </p:sp>
      <p:sp>
        <p:nvSpPr>
          <p:cNvPr id="16" name="Text 11"/>
          <p:cNvSpPr/>
          <p:nvPr/>
        </p:nvSpPr>
        <p:spPr>
          <a:xfrm>
            <a:off x="8631936" y="3017520"/>
            <a:ext cx="2992831" cy="786384"/>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Each ingredient carries an evidence badge drawn from what the fact sheet actually says, including “limited” and “no benefit”.</a:t>
            </a:r>
            <a:endParaRPr lang="en-US" sz="1050" dirty="0"/>
          </a:p>
        </p:txBody>
      </p:sp>
      <p:sp>
        <p:nvSpPr>
          <p:cNvPr id="17" name="Shape 12"/>
          <p:cNvSpPr/>
          <p:nvPr/>
        </p:nvSpPr>
        <p:spPr>
          <a:xfrm>
            <a:off x="8229600" y="3950208"/>
            <a:ext cx="292608" cy="292608"/>
          </a:xfrm>
          <a:prstGeom prst="ellipse">
            <a:avLst/>
          </a:prstGeom>
          <a:solidFill>
            <a:srgbClr val="FF7900"/>
          </a:solidFill>
          <a:ln w="12700">
            <a:solidFill>
              <a:srgbClr val="FF7900"/>
            </a:solidFill>
            <a:prstDash val="solid"/>
          </a:ln>
        </p:spPr>
      </p:sp>
      <p:sp>
        <p:nvSpPr>
          <p:cNvPr id="18" name="Text 13"/>
          <p:cNvSpPr/>
          <p:nvPr/>
        </p:nvSpPr>
        <p:spPr>
          <a:xfrm>
            <a:off x="8229600" y="39502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4"/>
          <p:cNvSpPr/>
          <p:nvPr/>
        </p:nvSpPr>
        <p:spPr>
          <a:xfrm>
            <a:off x="8631936" y="3913632"/>
            <a:ext cx="2992831" cy="256032"/>
          </a:xfrm>
          <a:prstGeom prst="rect">
            <a:avLst/>
          </a:prstGeom>
          <a:noFill/>
          <a:ln/>
        </p:spPr>
        <p:txBody>
          <a:bodyPr wrap="square" lIns="0" tIns="0" rIns="0" bIns="0" rtlCol="0" anchor="ctr"/>
          <a:lstStyle/>
          <a:p>
            <a:pPr indent="0" marL="0">
              <a:buNone/>
            </a:pPr>
            <a:r>
              <a:rPr lang="en-US" sz="1350" b="1" dirty="0">
                <a:solidFill>
                  <a:srgbClr val="0E1A2B"/>
                </a:solidFill>
                <a:latin typeface="Cambria" pitchFamily="34" charset="0"/>
                <a:ea typeface="Cambria" pitchFamily="34" charset="-122"/>
                <a:cs typeface="Cambria" pitchFamily="34" charset="-120"/>
              </a:rPr>
              <a:t>Comparison is a first-class view</a:t>
            </a:r>
            <a:endParaRPr lang="en-US" sz="1350" dirty="0"/>
          </a:p>
        </p:txBody>
      </p:sp>
      <p:sp>
        <p:nvSpPr>
          <p:cNvPr id="20" name="Text 15"/>
          <p:cNvSpPr/>
          <p:nvPr/>
        </p:nvSpPr>
        <p:spPr>
          <a:xfrm>
            <a:off x="8631936" y="4187952"/>
            <a:ext cx="2992831" cy="786384"/>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The questions people actually ask are comparative. The compare screen answers them side by side, from the same corpus.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6108192"/>
            <a:ext cx="4306229" cy="585216"/>
          </a:xfrm>
          <a:prstGeom prst="roundRect">
            <a:avLst>
              <a:gd name="adj" fmla="val 9375"/>
            </a:avLst>
          </a:prstGeom>
          <a:solidFill>
            <a:srgbClr val="FFFFFF"/>
          </a:solidFill>
          <a:ln w="12700">
            <a:solidFill>
              <a:srgbClr val="FFFFFF"/>
            </a:solidFill>
            <a:prstDash val="solid"/>
          </a:ln>
        </p:spPr>
      </p:sp>
      <p:pic>
        <p:nvPicPr>
          <p:cNvPr id="3" name="Image 0" descr="/Users/Marwan/Projects/athletic-dietry-rag/presentation/assets/logos/creativa.png">    </p:cNvPr>
          <p:cNvPicPr>
            <a:picLocks noChangeAspect="1"/>
          </p:cNvPicPr>
          <p:nvPr/>
        </p:nvPicPr>
        <p:blipFill>
          <a:blip r:embed="rId1"/>
          <a:stretch>
            <a:fillRect/>
          </a:stretch>
        </p:blipFill>
        <p:spPr>
          <a:xfrm>
            <a:off x="731520" y="6208776"/>
            <a:ext cx="356021" cy="384048"/>
          </a:xfrm>
          <a:prstGeom prst="rect">
            <a:avLst/>
          </a:prstGeom>
        </p:spPr>
      </p:pic>
      <p:pic>
        <p:nvPicPr>
          <p:cNvPr id="4" name="Image 1" descr="/Users/Marwan/Projects/athletic-dietry-rag/presentation/assets/logos/instant.png">    </p:cNvPr>
          <p:cNvPicPr>
            <a:picLocks noChangeAspect="1"/>
          </p:cNvPicPr>
          <p:nvPr/>
        </p:nvPicPr>
        <p:blipFill>
          <a:blip r:embed="rId2"/>
          <a:stretch>
            <a:fillRect/>
          </a:stretch>
        </p:blipFill>
        <p:spPr>
          <a:xfrm>
            <a:off x="1416725" y="6305902"/>
            <a:ext cx="1481328" cy="189795"/>
          </a:xfrm>
          <a:prstGeom prst="rect">
            <a:avLst/>
          </a:prstGeom>
        </p:spPr>
      </p:pic>
      <p:pic>
        <p:nvPicPr>
          <p:cNvPr id="5" name="Image 2" descr="/Users/Marwan/Projects/athletic-dietry-rag/presentation/assets/logos/orange.png">    </p:cNvPr>
          <p:cNvPicPr>
            <a:picLocks noChangeAspect="1"/>
          </p:cNvPicPr>
          <p:nvPr/>
        </p:nvPicPr>
        <p:blipFill>
          <a:blip r:embed="rId3"/>
          <a:stretch>
            <a:fillRect/>
          </a:stretch>
        </p:blipFill>
        <p:spPr>
          <a:xfrm>
            <a:off x="3227237" y="6240122"/>
            <a:ext cx="1481328" cy="321355"/>
          </a:xfrm>
          <a:prstGeom prst="rect">
            <a:avLst/>
          </a:prstGeom>
        </p:spPr>
      </p:pic>
      <p:sp>
        <p:nvSpPr>
          <p:cNvPr id="6" name="Text 1"/>
          <p:cNvSpPr/>
          <p:nvPr/>
        </p:nvSpPr>
        <p:spPr>
          <a:xfrm>
            <a:off x="566928" y="1700784"/>
            <a:ext cx="2011680" cy="1956816"/>
          </a:xfrm>
          <a:prstGeom prst="rect">
            <a:avLst/>
          </a:prstGeom>
          <a:noFill/>
          <a:ln/>
        </p:spPr>
        <p:txBody>
          <a:bodyPr wrap="square" lIns="0" tIns="0" rIns="0" bIns="0" rtlCol="0" anchor="ctr"/>
          <a:lstStyle/>
          <a:p>
            <a:pPr indent="0" marL="0">
              <a:buNone/>
            </a:pPr>
            <a:r>
              <a:rPr lang="en-US" sz="11600" b="1" dirty="0">
                <a:solidFill>
                  <a:srgbClr val="2A3D55"/>
                </a:solidFill>
                <a:latin typeface="Cambria" pitchFamily="34" charset="0"/>
                <a:ea typeface="Cambria" pitchFamily="34" charset="-122"/>
                <a:cs typeface="Cambria" pitchFamily="34" charset="-120"/>
              </a:rPr>
              <a:t>03</a:t>
            </a:r>
            <a:endParaRPr lang="en-US" sz="11600" dirty="0"/>
          </a:p>
        </p:txBody>
      </p:sp>
      <p:sp>
        <p:nvSpPr>
          <p:cNvPr id="7" name="Text 2"/>
          <p:cNvSpPr/>
          <p:nvPr/>
        </p:nvSpPr>
        <p:spPr>
          <a:xfrm>
            <a:off x="2441448" y="1956816"/>
            <a:ext cx="9183319" cy="274320"/>
          </a:xfrm>
          <a:prstGeom prst="rect">
            <a:avLst/>
          </a:prstGeom>
          <a:noFill/>
          <a:ln/>
        </p:spPr>
        <p:txBody>
          <a:bodyPr wrap="square" lIns="0" tIns="0" rIns="0" bIns="0" rtlCol="0" anchor="ctr"/>
          <a:lstStyle/>
          <a:p>
            <a:pPr indent="0" marL="0">
              <a:buNone/>
            </a:pPr>
            <a:r>
              <a:rPr lang="en-US" sz="1100" b="1" spc="160" kern="0" dirty="0">
                <a:solidFill>
                  <a:srgbClr val="FF7900"/>
                </a:solidFill>
                <a:latin typeface="Calibri" pitchFamily="34" charset="0"/>
                <a:ea typeface="Calibri" pitchFamily="34" charset="-122"/>
                <a:cs typeface="Calibri" pitchFamily="34" charset="-120"/>
              </a:rPr>
              <a:t>SECTION THREE</a:t>
            </a:r>
            <a:endParaRPr lang="en-US" sz="1100" dirty="0"/>
          </a:p>
        </p:txBody>
      </p:sp>
      <p:sp>
        <p:nvSpPr>
          <p:cNvPr id="8" name="Text 3"/>
          <p:cNvSpPr/>
          <p:nvPr/>
        </p:nvSpPr>
        <p:spPr>
          <a:xfrm>
            <a:off x="2414016" y="2231136"/>
            <a:ext cx="9046159" cy="1005840"/>
          </a:xfrm>
          <a:prstGeom prst="rect">
            <a:avLst/>
          </a:prstGeom>
          <a:noFill/>
          <a:ln/>
        </p:spPr>
        <p:txBody>
          <a:bodyPr wrap="square" lIns="0" tIns="0" rIns="0" bIns="0" rtlCol="0" anchor="t"/>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The technology</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we used</a:t>
            </a:r>
            <a:endParaRPr lang="en-US" sz="3400" dirty="0"/>
          </a:p>
        </p:txBody>
      </p:sp>
      <p:sp>
        <p:nvSpPr>
          <p:cNvPr id="9" name="Text 4"/>
          <p:cNvSpPr/>
          <p:nvPr/>
        </p:nvSpPr>
        <p:spPr>
          <a:xfrm>
            <a:off x="2441448" y="3438144"/>
            <a:ext cx="8680399" cy="731520"/>
          </a:xfrm>
          <a:prstGeom prst="rect">
            <a:avLst/>
          </a:prstGeom>
          <a:noFill/>
          <a:ln/>
        </p:spPr>
        <p:txBody>
          <a:bodyPr wrap="square" lIns="0" tIns="0" rIns="0" bIns="0" rtlCol="0" anchor="t"/>
          <a:lstStyle/>
          <a:p>
            <a:pPr indent="0" marL="0">
              <a:lnSpc>
                <a:spcPts val="1900"/>
              </a:lnSpc>
              <a:buNone/>
            </a:pPr>
            <a:r>
              <a:rPr lang="en-US" sz="1350" i="1" dirty="0">
                <a:solidFill>
                  <a:srgbClr val="8FA3B8"/>
                </a:solidFill>
                <a:latin typeface="Calibri" pitchFamily="34" charset="0"/>
                <a:ea typeface="Calibri" pitchFamily="34" charset="-122"/>
                <a:cs typeface="Calibri" pitchFamily="34" charset="-120"/>
              </a:rPr>
              <a:t>Every model runs locally. No key, no quota, and no user's health question leaves the machine.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USED TECHNOLOGY</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Chosen for provenance, licensing and portability</a:t>
            </a:r>
            <a:endParaRPr lang="en-US" sz="3000" dirty="0"/>
          </a:p>
        </p:txBody>
      </p:sp>
      <p:sp>
        <p:nvSpPr>
          <p:cNvPr id="7" name="Shape 2"/>
          <p:cNvSpPr/>
          <p:nvPr/>
        </p:nvSpPr>
        <p:spPr>
          <a:xfrm>
            <a:off x="566928" y="1572768"/>
            <a:ext cx="7818120" cy="420624"/>
          </a:xfrm>
          <a:prstGeom prst="rect">
            <a:avLst/>
          </a:prstGeom>
          <a:solidFill>
            <a:srgbClr val="F1F4F8"/>
          </a:solidFill>
          <a:ln w="12700">
            <a:solidFill>
              <a:srgbClr val="F1F4F8"/>
            </a:solidFill>
            <a:prstDash val="solid"/>
          </a:ln>
        </p:spPr>
      </p:sp>
      <p:sp>
        <p:nvSpPr>
          <p:cNvPr id="8" name="Text 3"/>
          <p:cNvSpPr/>
          <p:nvPr/>
        </p:nvSpPr>
        <p:spPr>
          <a:xfrm>
            <a:off x="694944" y="1572768"/>
            <a:ext cx="1371600" cy="420624"/>
          </a:xfrm>
          <a:prstGeom prst="rect">
            <a:avLst/>
          </a:prstGeom>
          <a:noFill/>
          <a:ln/>
        </p:spPr>
        <p:txBody>
          <a:bodyPr wrap="square" lIns="0" tIns="0" rIns="0" bIns="0" rtlCol="0" anchor="ctr"/>
          <a:lstStyle/>
          <a:p>
            <a:pPr indent="0" marL="0">
              <a:buNone/>
            </a:pPr>
            <a:r>
              <a:rPr lang="en-US" sz="1000" b="1" dirty="0">
                <a:solidFill>
                  <a:srgbClr val="6B7A8C"/>
                </a:solidFill>
                <a:latin typeface="Calibri" pitchFamily="34" charset="0"/>
                <a:ea typeface="Calibri" pitchFamily="34" charset="-122"/>
                <a:cs typeface="Calibri" pitchFamily="34" charset="-120"/>
              </a:rPr>
              <a:t>Ingestion</a:t>
            </a:r>
            <a:endParaRPr lang="en-US" sz="1000" dirty="0"/>
          </a:p>
        </p:txBody>
      </p:sp>
      <p:sp>
        <p:nvSpPr>
          <p:cNvPr id="9" name="Text 4"/>
          <p:cNvSpPr/>
          <p:nvPr/>
        </p:nvSpPr>
        <p:spPr>
          <a:xfrm>
            <a:off x="2084832" y="1572768"/>
            <a:ext cx="1737360" cy="420624"/>
          </a:xfrm>
          <a:prstGeom prst="rect">
            <a:avLst/>
          </a:prstGeom>
          <a:noFill/>
          <a:ln/>
        </p:spPr>
        <p:txBody>
          <a:bodyPr wrap="square" lIns="0" tIns="0" rIns="0" bIns="0" rtlCol="0" anchor="ctr"/>
          <a:lstStyle/>
          <a:p>
            <a:pPr indent="0" marL="0">
              <a:buNone/>
            </a:pPr>
            <a:r>
              <a:rPr lang="en-US" sz="950" b="1" dirty="0">
                <a:solidFill>
                  <a:srgbClr val="0E1A2B"/>
                </a:solidFill>
                <a:latin typeface="Courier New" pitchFamily="34" charset="0"/>
                <a:ea typeface="Courier New" pitchFamily="34" charset="-122"/>
                <a:cs typeface="Courier New" pitchFamily="34" charset="-120"/>
              </a:rPr>
              <a:t>pdfplumber</a:t>
            </a:r>
            <a:endParaRPr lang="en-US" sz="950" dirty="0"/>
          </a:p>
        </p:txBody>
      </p:sp>
      <p:sp>
        <p:nvSpPr>
          <p:cNvPr id="10" name="Text 5"/>
          <p:cNvSpPr/>
          <p:nvPr/>
        </p:nvSpPr>
        <p:spPr>
          <a:xfrm>
            <a:off x="3877056" y="1572768"/>
            <a:ext cx="4937760" cy="420624"/>
          </a:xfrm>
          <a:prstGeom prst="rect">
            <a:avLst/>
          </a:prstGeom>
          <a:noFill/>
          <a:ln/>
        </p:spPr>
        <p:txBody>
          <a:bodyPr wrap="square" lIns="0" tIns="0" rIns="0" bIns="0" rtlCol="0" anchor="ctr"/>
          <a:lstStyle/>
          <a:p>
            <a:pPr indent="0" marL="0">
              <a:lnSpc>
                <a:spcPts val="1250"/>
              </a:lnSpc>
              <a:buNone/>
            </a:pPr>
            <a:r>
              <a:rPr lang="en-US" sz="1000" dirty="0">
                <a:solidFill>
                  <a:srgbClr val="46566B"/>
                </a:solidFill>
                <a:latin typeface="Calibri" pitchFamily="34" charset="0"/>
                <a:ea typeface="Calibri" pitchFamily="34" charset="-122"/>
                <a:cs typeface="Calibri" pitchFamily="34" charset="-120"/>
              </a:rPr>
              <a:t>Exposes per-character font size — the signal we rebuild headings from. Chosen over PyMuPDF specifically to avoid its AGPL licensing.</a:t>
            </a:r>
            <a:endParaRPr lang="en-US" sz="1000" dirty="0"/>
          </a:p>
        </p:txBody>
      </p:sp>
      <p:sp>
        <p:nvSpPr>
          <p:cNvPr id="11" name="Text 6"/>
          <p:cNvSpPr/>
          <p:nvPr/>
        </p:nvSpPr>
        <p:spPr>
          <a:xfrm>
            <a:off x="694944" y="1993392"/>
            <a:ext cx="1371600" cy="420624"/>
          </a:xfrm>
          <a:prstGeom prst="rect">
            <a:avLst/>
          </a:prstGeom>
          <a:noFill/>
          <a:ln/>
        </p:spPr>
        <p:txBody>
          <a:bodyPr wrap="square" lIns="0" tIns="0" rIns="0" bIns="0" rtlCol="0" anchor="ctr"/>
          <a:lstStyle/>
          <a:p>
            <a:pPr indent="0" marL="0">
              <a:buNone/>
            </a:pPr>
            <a:r>
              <a:rPr lang="en-US" sz="1000" b="1" dirty="0">
                <a:solidFill>
                  <a:srgbClr val="6B7A8C"/>
                </a:solidFill>
                <a:latin typeface="Calibri" pitchFamily="34" charset="0"/>
                <a:ea typeface="Calibri" pitchFamily="34" charset="-122"/>
                <a:cs typeface="Calibri" pitchFamily="34" charset="-120"/>
              </a:rPr>
              <a:t>Chunking</a:t>
            </a:r>
            <a:endParaRPr lang="en-US" sz="1000" dirty="0"/>
          </a:p>
        </p:txBody>
      </p:sp>
      <p:sp>
        <p:nvSpPr>
          <p:cNvPr id="12" name="Text 7"/>
          <p:cNvSpPr/>
          <p:nvPr/>
        </p:nvSpPr>
        <p:spPr>
          <a:xfrm>
            <a:off x="2084832" y="1993392"/>
            <a:ext cx="1737360" cy="420624"/>
          </a:xfrm>
          <a:prstGeom prst="rect">
            <a:avLst/>
          </a:prstGeom>
          <a:noFill/>
          <a:ln/>
        </p:spPr>
        <p:txBody>
          <a:bodyPr wrap="square" lIns="0" tIns="0" rIns="0" bIns="0" rtlCol="0" anchor="ctr"/>
          <a:lstStyle/>
          <a:p>
            <a:pPr indent="0" marL="0">
              <a:buNone/>
            </a:pPr>
            <a:r>
              <a:rPr lang="en-US" sz="950" b="1" dirty="0">
                <a:solidFill>
                  <a:srgbClr val="0E1A2B"/>
                </a:solidFill>
                <a:latin typeface="Courier New" pitchFamily="34" charset="0"/>
                <a:ea typeface="Courier New" pitchFamily="34" charset="-122"/>
                <a:cs typeface="Courier New" pitchFamily="34" charset="-120"/>
              </a:rPr>
              <a:t>langchain-text-splitters</a:t>
            </a:r>
            <a:endParaRPr lang="en-US" sz="950" dirty="0"/>
          </a:p>
        </p:txBody>
      </p:sp>
      <p:sp>
        <p:nvSpPr>
          <p:cNvPr id="13" name="Text 8"/>
          <p:cNvSpPr/>
          <p:nvPr/>
        </p:nvSpPr>
        <p:spPr>
          <a:xfrm>
            <a:off x="3877056" y="1993392"/>
            <a:ext cx="4937760" cy="420624"/>
          </a:xfrm>
          <a:prstGeom prst="rect">
            <a:avLst/>
          </a:prstGeom>
          <a:noFill/>
          <a:ln/>
        </p:spPr>
        <p:txBody>
          <a:bodyPr wrap="square" lIns="0" tIns="0" rIns="0" bIns="0" rtlCol="0" anchor="ctr"/>
          <a:lstStyle/>
          <a:p>
            <a:pPr indent="0" marL="0">
              <a:lnSpc>
                <a:spcPts val="1250"/>
              </a:lnSpc>
              <a:buNone/>
            </a:pPr>
            <a:r>
              <a:rPr lang="en-US" sz="1000" dirty="0">
                <a:solidFill>
                  <a:srgbClr val="46566B"/>
                </a:solidFill>
                <a:latin typeface="Calibri" pitchFamily="34" charset="0"/>
                <a:ea typeface="Calibri" pitchFamily="34" charset="-122"/>
                <a:cs typeface="Calibri" pitchFamily="34" charset="-120"/>
              </a:rPr>
              <a:t>Heading-aware splitting, so no chunk mixes two ingredients and every chunk states its own subject.</a:t>
            </a:r>
            <a:endParaRPr lang="en-US" sz="1000" dirty="0"/>
          </a:p>
        </p:txBody>
      </p:sp>
      <p:sp>
        <p:nvSpPr>
          <p:cNvPr id="14" name="Shape 9"/>
          <p:cNvSpPr/>
          <p:nvPr/>
        </p:nvSpPr>
        <p:spPr>
          <a:xfrm>
            <a:off x="566928" y="2414016"/>
            <a:ext cx="7818120" cy="420624"/>
          </a:xfrm>
          <a:prstGeom prst="rect">
            <a:avLst/>
          </a:prstGeom>
          <a:solidFill>
            <a:srgbClr val="F1F4F8"/>
          </a:solidFill>
          <a:ln w="12700">
            <a:solidFill>
              <a:srgbClr val="F1F4F8"/>
            </a:solidFill>
            <a:prstDash val="solid"/>
          </a:ln>
        </p:spPr>
      </p:sp>
      <p:sp>
        <p:nvSpPr>
          <p:cNvPr id="15" name="Text 10"/>
          <p:cNvSpPr/>
          <p:nvPr/>
        </p:nvSpPr>
        <p:spPr>
          <a:xfrm>
            <a:off x="694944" y="2414016"/>
            <a:ext cx="1371600" cy="420624"/>
          </a:xfrm>
          <a:prstGeom prst="rect">
            <a:avLst/>
          </a:prstGeom>
          <a:noFill/>
          <a:ln/>
        </p:spPr>
        <p:txBody>
          <a:bodyPr wrap="square" lIns="0" tIns="0" rIns="0" bIns="0" rtlCol="0" anchor="ctr"/>
          <a:lstStyle/>
          <a:p>
            <a:pPr indent="0" marL="0">
              <a:buNone/>
            </a:pPr>
            <a:r>
              <a:rPr lang="en-US" sz="1000" b="1" dirty="0">
                <a:solidFill>
                  <a:srgbClr val="6B7A8C"/>
                </a:solidFill>
                <a:latin typeface="Calibri" pitchFamily="34" charset="0"/>
                <a:ea typeface="Calibri" pitchFamily="34" charset="-122"/>
                <a:cs typeface="Calibri" pitchFamily="34" charset="-120"/>
              </a:rPr>
              <a:t>Embeddings</a:t>
            </a:r>
            <a:endParaRPr lang="en-US" sz="1000" dirty="0"/>
          </a:p>
        </p:txBody>
      </p:sp>
      <p:sp>
        <p:nvSpPr>
          <p:cNvPr id="16" name="Text 11"/>
          <p:cNvSpPr/>
          <p:nvPr/>
        </p:nvSpPr>
        <p:spPr>
          <a:xfrm>
            <a:off x="2084832" y="2414016"/>
            <a:ext cx="1737360" cy="420624"/>
          </a:xfrm>
          <a:prstGeom prst="rect">
            <a:avLst/>
          </a:prstGeom>
          <a:noFill/>
          <a:ln/>
        </p:spPr>
        <p:txBody>
          <a:bodyPr wrap="square" lIns="0" tIns="0" rIns="0" bIns="0" rtlCol="0" anchor="ctr"/>
          <a:lstStyle/>
          <a:p>
            <a:pPr indent="0" marL="0">
              <a:buNone/>
            </a:pPr>
            <a:r>
              <a:rPr lang="en-US" sz="950" b="1" dirty="0">
                <a:solidFill>
                  <a:srgbClr val="0E1A2B"/>
                </a:solidFill>
                <a:latin typeface="Courier New" pitchFamily="34" charset="0"/>
                <a:ea typeface="Courier New" pitchFamily="34" charset="-122"/>
                <a:cs typeface="Courier New" pitchFamily="34" charset="-120"/>
              </a:rPr>
              <a:t>EmbeddingGemma-300m</a:t>
            </a:r>
            <a:endParaRPr lang="en-US" sz="950" dirty="0"/>
          </a:p>
        </p:txBody>
      </p:sp>
      <p:sp>
        <p:nvSpPr>
          <p:cNvPr id="17" name="Text 12"/>
          <p:cNvSpPr/>
          <p:nvPr/>
        </p:nvSpPr>
        <p:spPr>
          <a:xfrm>
            <a:off x="3877056" y="2414016"/>
            <a:ext cx="4937760" cy="420624"/>
          </a:xfrm>
          <a:prstGeom prst="rect">
            <a:avLst/>
          </a:prstGeom>
          <a:noFill/>
          <a:ln/>
        </p:spPr>
        <p:txBody>
          <a:bodyPr wrap="square" lIns="0" tIns="0" rIns="0" bIns="0" rtlCol="0" anchor="ctr"/>
          <a:lstStyle/>
          <a:p>
            <a:pPr indent="0" marL="0">
              <a:lnSpc>
                <a:spcPts val="1250"/>
              </a:lnSpc>
              <a:buNone/>
            </a:pPr>
            <a:r>
              <a:rPr lang="en-US" sz="1000" dirty="0">
                <a:solidFill>
                  <a:srgbClr val="46566B"/>
                </a:solidFill>
                <a:latin typeface="Calibri" pitchFamily="34" charset="0"/>
                <a:ea typeface="Calibri" pitchFamily="34" charset="-122"/>
                <a:cs typeface="Calibri" pitchFamily="34" charset="-120"/>
              </a:rPr>
              <a:t>768 dims, unit-normalised, asymmetric. Its own instruction templates separate a match from a mismatch by 0.47, against 0.35 with no prefixes.</a:t>
            </a:r>
            <a:endParaRPr lang="en-US" sz="1000" dirty="0"/>
          </a:p>
        </p:txBody>
      </p:sp>
      <p:sp>
        <p:nvSpPr>
          <p:cNvPr id="18" name="Text 13"/>
          <p:cNvSpPr/>
          <p:nvPr/>
        </p:nvSpPr>
        <p:spPr>
          <a:xfrm>
            <a:off x="694944" y="2834640"/>
            <a:ext cx="1371600" cy="420624"/>
          </a:xfrm>
          <a:prstGeom prst="rect">
            <a:avLst/>
          </a:prstGeom>
          <a:noFill/>
          <a:ln/>
        </p:spPr>
        <p:txBody>
          <a:bodyPr wrap="square" lIns="0" tIns="0" rIns="0" bIns="0" rtlCol="0" anchor="ctr"/>
          <a:lstStyle/>
          <a:p>
            <a:pPr indent="0" marL="0">
              <a:buNone/>
            </a:pPr>
            <a:r>
              <a:rPr lang="en-US" sz="1000" b="1" dirty="0">
                <a:solidFill>
                  <a:srgbClr val="6B7A8C"/>
                </a:solidFill>
                <a:latin typeface="Calibri" pitchFamily="34" charset="0"/>
                <a:ea typeface="Calibri" pitchFamily="34" charset="-122"/>
                <a:cs typeface="Calibri" pitchFamily="34" charset="-120"/>
              </a:rPr>
              <a:t>Vector store</a:t>
            </a:r>
            <a:endParaRPr lang="en-US" sz="1000" dirty="0"/>
          </a:p>
        </p:txBody>
      </p:sp>
      <p:sp>
        <p:nvSpPr>
          <p:cNvPr id="19" name="Text 14"/>
          <p:cNvSpPr/>
          <p:nvPr/>
        </p:nvSpPr>
        <p:spPr>
          <a:xfrm>
            <a:off x="2084832" y="2834640"/>
            <a:ext cx="1737360" cy="420624"/>
          </a:xfrm>
          <a:prstGeom prst="rect">
            <a:avLst/>
          </a:prstGeom>
          <a:noFill/>
          <a:ln/>
        </p:spPr>
        <p:txBody>
          <a:bodyPr wrap="square" lIns="0" tIns="0" rIns="0" bIns="0" rtlCol="0" anchor="ctr"/>
          <a:lstStyle/>
          <a:p>
            <a:pPr indent="0" marL="0">
              <a:buNone/>
            </a:pPr>
            <a:r>
              <a:rPr lang="en-US" sz="950" b="1" dirty="0">
                <a:solidFill>
                  <a:srgbClr val="0E1A2B"/>
                </a:solidFill>
                <a:latin typeface="Courier New" pitchFamily="34" charset="0"/>
                <a:ea typeface="Courier New" pitchFamily="34" charset="-122"/>
                <a:cs typeface="Courier New" pitchFamily="34" charset="-120"/>
              </a:rPr>
              <a:t>ChromaDB</a:t>
            </a:r>
            <a:endParaRPr lang="en-US" sz="950" dirty="0"/>
          </a:p>
        </p:txBody>
      </p:sp>
      <p:sp>
        <p:nvSpPr>
          <p:cNvPr id="20" name="Text 15"/>
          <p:cNvSpPr/>
          <p:nvPr/>
        </p:nvSpPr>
        <p:spPr>
          <a:xfrm>
            <a:off x="3877056" y="2834640"/>
            <a:ext cx="4937760" cy="420624"/>
          </a:xfrm>
          <a:prstGeom prst="rect">
            <a:avLst/>
          </a:prstGeom>
          <a:noFill/>
          <a:ln/>
        </p:spPr>
        <p:txBody>
          <a:bodyPr wrap="square" lIns="0" tIns="0" rIns="0" bIns="0" rtlCol="0" anchor="ctr"/>
          <a:lstStyle/>
          <a:p>
            <a:pPr indent="0" marL="0">
              <a:lnSpc>
                <a:spcPts val="1250"/>
              </a:lnSpc>
              <a:buNone/>
            </a:pPr>
            <a:r>
              <a:rPr lang="en-US" sz="1000" dirty="0">
                <a:solidFill>
                  <a:srgbClr val="46566B"/>
                </a:solidFill>
                <a:latin typeface="Calibri" pitchFamily="34" charset="0"/>
                <a:ea typeface="Calibri" pitchFamily="34" charset="-122"/>
                <a:cs typeface="Calibri" pitchFamily="34" charset="-120"/>
              </a:rPr>
              <a:t>Local persistence, metadata filtering, and a collection name derived from every setting that changes the vectors.</a:t>
            </a:r>
            <a:endParaRPr lang="en-US" sz="1000" dirty="0"/>
          </a:p>
        </p:txBody>
      </p:sp>
      <p:sp>
        <p:nvSpPr>
          <p:cNvPr id="21" name="Shape 16"/>
          <p:cNvSpPr/>
          <p:nvPr/>
        </p:nvSpPr>
        <p:spPr>
          <a:xfrm>
            <a:off x="566928" y="3255264"/>
            <a:ext cx="7818120" cy="420624"/>
          </a:xfrm>
          <a:prstGeom prst="rect">
            <a:avLst/>
          </a:prstGeom>
          <a:solidFill>
            <a:srgbClr val="F1F4F8"/>
          </a:solidFill>
          <a:ln w="12700">
            <a:solidFill>
              <a:srgbClr val="F1F4F8"/>
            </a:solidFill>
            <a:prstDash val="solid"/>
          </a:ln>
        </p:spPr>
      </p:sp>
      <p:sp>
        <p:nvSpPr>
          <p:cNvPr id="22" name="Text 17"/>
          <p:cNvSpPr/>
          <p:nvPr/>
        </p:nvSpPr>
        <p:spPr>
          <a:xfrm>
            <a:off x="694944" y="3255264"/>
            <a:ext cx="1371600" cy="420624"/>
          </a:xfrm>
          <a:prstGeom prst="rect">
            <a:avLst/>
          </a:prstGeom>
          <a:noFill/>
          <a:ln/>
        </p:spPr>
        <p:txBody>
          <a:bodyPr wrap="square" lIns="0" tIns="0" rIns="0" bIns="0" rtlCol="0" anchor="ctr"/>
          <a:lstStyle/>
          <a:p>
            <a:pPr indent="0" marL="0">
              <a:buNone/>
            </a:pPr>
            <a:r>
              <a:rPr lang="en-US" sz="1000" b="1" dirty="0">
                <a:solidFill>
                  <a:srgbClr val="6B7A8C"/>
                </a:solidFill>
                <a:latin typeface="Calibri" pitchFamily="34" charset="0"/>
                <a:ea typeface="Calibri" pitchFamily="34" charset="-122"/>
                <a:cs typeface="Calibri" pitchFamily="34" charset="-120"/>
              </a:rPr>
              <a:t>Generation &amp; rerank</a:t>
            </a:r>
            <a:endParaRPr lang="en-US" sz="1000" dirty="0"/>
          </a:p>
        </p:txBody>
      </p:sp>
      <p:sp>
        <p:nvSpPr>
          <p:cNvPr id="23" name="Text 18"/>
          <p:cNvSpPr/>
          <p:nvPr/>
        </p:nvSpPr>
        <p:spPr>
          <a:xfrm>
            <a:off x="2084832" y="3255264"/>
            <a:ext cx="1737360" cy="420624"/>
          </a:xfrm>
          <a:prstGeom prst="rect">
            <a:avLst/>
          </a:prstGeom>
          <a:noFill/>
          <a:ln/>
        </p:spPr>
        <p:txBody>
          <a:bodyPr wrap="square" lIns="0" tIns="0" rIns="0" bIns="0" rtlCol="0" anchor="ctr"/>
          <a:lstStyle/>
          <a:p>
            <a:pPr indent="0" marL="0">
              <a:buNone/>
            </a:pPr>
            <a:r>
              <a:rPr lang="en-US" sz="950" b="1" dirty="0">
                <a:solidFill>
                  <a:srgbClr val="0E1A2B"/>
                </a:solidFill>
                <a:latin typeface="Courier New" pitchFamily="34" charset="0"/>
                <a:ea typeface="Courier New" pitchFamily="34" charset="-122"/>
                <a:cs typeface="Courier New" pitchFamily="34" charset="-120"/>
              </a:rPr>
              <a:t>gpt-oss-20b</a:t>
            </a:r>
            <a:endParaRPr lang="en-US" sz="950" dirty="0"/>
          </a:p>
        </p:txBody>
      </p:sp>
      <p:sp>
        <p:nvSpPr>
          <p:cNvPr id="24" name="Text 19"/>
          <p:cNvSpPr/>
          <p:nvPr/>
        </p:nvSpPr>
        <p:spPr>
          <a:xfrm>
            <a:off x="3877056" y="3255264"/>
            <a:ext cx="4937760" cy="420624"/>
          </a:xfrm>
          <a:prstGeom prst="rect">
            <a:avLst/>
          </a:prstGeom>
          <a:noFill/>
          <a:ln/>
        </p:spPr>
        <p:txBody>
          <a:bodyPr wrap="square" lIns="0" tIns="0" rIns="0" bIns="0" rtlCol="0" anchor="ctr"/>
          <a:lstStyle/>
          <a:p>
            <a:pPr indent="0" marL="0">
              <a:lnSpc>
                <a:spcPts val="1250"/>
              </a:lnSpc>
              <a:buNone/>
            </a:pPr>
            <a:r>
              <a:rPr lang="en-US" sz="1000" dirty="0">
                <a:solidFill>
                  <a:srgbClr val="46566B"/>
                </a:solidFill>
                <a:latin typeface="Calibri" pitchFamily="34" charset="0"/>
                <a:ea typeface="Calibri" pitchFamily="34" charset="-122"/>
                <a:cs typeface="Calibri" pitchFamily="34" charset="-120"/>
              </a:rPr>
              <a:t>Answering, query expansion and listwise reranking, all through one OpenAI-shaped client.</a:t>
            </a:r>
            <a:endParaRPr lang="en-US" sz="1000" dirty="0"/>
          </a:p>
        </p:txBody>
      </p:sp>
      <p:sp>
        <p:nvSpPr>
          <p:cNvPr id="25" name="Text 20"/>
          <p:cNvSpPr/>
          <p:nvPr/>
        </p:nvSpPr>
        <p:spPr>
          <a:xfrm>
            <a:off x="694944" y="3675888"/>
            <a:ext cx="1371600" cy="420624"/>
          </a:xfrm>
          <a:prstGeom prst="rect">
            <a:avLst/>
          </a:prstGeom>
          <a:noFill/>
          <a:ln/>
        </p:spPr>
        <p:txBody>
          <a:bodyPr wrap="square" lIns="0" tIns="0" rIns="0" bIns="0" rtlCol="0" anchor="ctr"/>
          <a:lstStyle/>
          <a:p>
            <a:pPr indent="0" marL="0">
              <a:buNone/>
            </a:pPr>
            <a:r>
              <a:rPr lang="en-US" sz="1000" b="1" dirty="0">
                <a:solidFill>
                  <a:srgbClr val="6B7A8C"/>
                </a:solidFill>
                <a:latin typeface="Calibri" pitchFamily="34" charset="0"/>
                <a:ea typeface="Calibri" pitchFamily="34" charset="-122"/>
                <a:cs typeface="Calibri" pitchFamily="34" charset="-120"/>
              </a:rPr>
              <a:t>Evaluation</a:t>
            </a:r>
            <a:endParaRPr lang="en-US" sz="1000" dirty="0"/>
          </a:p>
        </p:txBody>
      </p:sp>
      <p:sp>
        <p:nvSpPr>
          <p:cNvPr id="26" name="Text 21"/>
          <p:cNvSpPr/>
          <p:nvPr/>
        </p:nvSpPr>
        <p:spPr>
          <a:xfrm>
            <a:off x="2084832" y="3675888"/>
            <a:ext cx="1737360" cy="420624"/>
          </a:xfrm>
          <a:prstGeom prst="rect">
            <a:avLst/>
          </a:prstGeom>
          <a:noFill/>
          <a:ln/>
        </p:spPr>
        <p:txBody>
          <a:bodyPr wrap="square" lIns="0" tIns="0" rIns="0" bIns="0" rtlCol="0" anchor="ctr"/>
          <a:lstStyle/>
          <a:p>
            <a:pPr indent="0" marL="0">
              <a:buNone/>
            </a:pPr>
            <a:r>
              <a:rPr lang="en-US" sz="950" b="1" dirty="0">
                <a:solidFill>
                  <a:srgbClr val="0E1A2B"/>
                </a:solidFill>
                <a:latin typeface="Courier New" pitchFamily="34" charset="0"/>
                <a:ea typeface="Courier New" pitchFamily="34" charset="-122"/>
                <a:cs typeface="Courier New" pitchFamily="34" charset="-120"/>
              </a:rPr>
              <a:t>ragas</a:t>
            </a:r>
            <a:endParaRPr lang="en-US" sz="950" dirty="0"/>
          </a:p>
        </p:txBody>
      </p:sp>
      <p:sp>
        <p:nvSpPr>
          <p:cNvPr id="27" name="Text 22"/>
          <p:cNvSpPr/>
          <p:nvPr/>
        </p:nvSpPr>
        <p:spPr>
          <a:xfrm>
            <a:off x="3877056" y="3675888"/>
            <a:ext cx="4937760" cy="420624"/>
          </a:xfrm>
          <a:prstGeom prst="rect">
            <a:avLst/>
          </a:prstGeom>
          <a:noFill/>
          <a:ln/>
        </p:spPr>
        <p:txBody>
          <a:bodyPr wrap="square" lIns="0" tIns="0" rIns="0" bIns="0" rtlCol="0" anchor="ctr"/>
          <a:lstStyle/>
          <a:p>
            <a:pPr indent="0" marL="0">
              <a:lnSpc>
                <a:spcPts val="1250"/>
              </a:lnSpc>
              <a:buNone/>
            </a:pPr>
            <a:r>
              <a:rPr lang="en-US" sz="1000" dirty="0">
                <a:solidFill>
                  <a:srgbClr val="46566B"/>
                </a:solidFill>
                <a:latin typeface="Calibri" pitchFamily="34" charset="0"/>
                <a:ea typeface="Calibri" pitchFamily="34" charset="-122"/>
                <a:cs typeface="Calibri" pitchFamily="34" charset="-120"/>
              </a:rPr>
              <a:t>Four judge-scored metrics. Imported only when a run starts, so the pipeline never depends on it.</a:t>
            </a:r>
            <a:endParaRPr lang="en-US" sz="1000" dirty="0"/>
          </a:p>
        </p:txBody>
      </p:sp>
      <p:sp>
        <p:nvSpPr>
          <p:cNvPr id="28" name="Shape 23"/>
          <p:cNvSpPr/>
          <p:nvPr/>
        </p:nvSpPr>
        <p:spPr>
          <a:xfrm>
            <a:off x="566928" y="4096512"/>
            <a:ext cx="7818120" cy="420624"/>
          </a:xfrm>
          <a:prstGeom prst="rect">
            <a:avLst/>
          </a:prstGeom>
          <a:solidFill>
            <a:srgbClr val="F1F4F8"/>
          </a:solidFill>
          <a:ln w="12700">
            <a:solidFill>
              <a:srgbClr val="F1F4F8"/>
            </a:solidFill>
            <a:prstDash val="solid"/>
          </a:ln>
        </p:spPr>
      </p:sp>
      <p:sp>
        <p:nvSpPr>
          <p:cNvPr id="29" name="Text 24"/>
          <p:cNvSpPr/>
          <p:nvPr/>
        </p:nvSpPr>
        <p:spPr>
          <a:xfrm>
            <a:off x="694944" y="4096512"/>
            <a:ext cx="1371600" cy="420624"/>
          </a:xfrm>
          <a:prstGeom prst="rect">
            <a:avLst/>
          </a:prstGeom>
          <a:noFill/>
          <a:ln/>
        </p:spPr>
        <p:txBody>
          <a:bodyPr wrap="square" lIns="0" tIns="0" rIns="0" bIns="0" rtlCol="0" anchor="ctr"/>
          <a:lstStyle/>
          <a:p>
            <a:pPr indent="0" marL="0">
              <a:buNone/>
            </a:pPr>
            <a:r>
              <a:rPr lang="en-US" sz="1000" b="1" dirty="0">
                <a:solidFill>
                  <a:srgbClr val="6B7A8C"/>
                </a:solidFill>
                <a:latin typeface="Calibri" pitchFamily="34" charset="0"/>
                <a:ea typeface="Calibri" pitchFamily="34" charset="-122"/>
                <a:cs typeface="Calibri" pitchFamily="34" charset="-120"/>
              </a:rPr>
              <a:t>Interfaces</a:t>
            </a:r>
            <a:endParaRPr lang="en-US" sz="1000" dirty="0"/>
          </a:p>
        </p:txBody>
      </p:sp>
      <p:sp>
        <p:nvSpPr>
          <p:cNvPr id="30" name="Text 25"/>
          <p:cNvSpPr/>
          <p:nvPr/>
        </p:nvSpPr>
        <p:spPr>
          <a:xfrm>
            <a:off x="2084832" y="4096512"/>
            <a:ext cx="1737360" cy="420624"/>
          </a:xfrm>
          <a:prstGeom prst="rect">
            <a:avLst/>
          </a:prstGeom>
          <a:noFill/>
          <a:ln/>
        </p:spPr>
        <p:txBody>
          <a:bodyPr wrap="square" lIns="0" tIns="0" rIns="0" bIns="0" rtlCol="0" anchor="ctr"/>
          <a:lstStyle/>
          <a:p>
            <a:pPr indent="0" marL="0">
              <a:buNone/>
            </a:pPr>
            <a:r>
              <a:rPr lang="en-US" sz="950" b="1" dirty="0">
                <a:solidFill>
                  <a:srgbClr val="0E1A2B"/>
                </a:solidFill>
                <a:latin typeface="Courier New" pitchFamily="34" charset="0"/>
                <a:ea typeface="Courier New" pitchFamily="34" charset="-122"/>
                <a:cs typeface="Courier New" pitchFamily="34" charset="-120"/>
              </a:rPr>
              <a:t>Streamlit · CLI · mobile</a:t>
            </a:r>
            <a:endParaRPr lang="en-US" sz="950" dirty="0"/>
          </a:p>
        </p:txBody>
      </p:sp>
      <p:sp>
        <p:nvSpPr>
          <p:cNvPr id="31" name="Text 26"/>
          <p:cNvSpPr/>
          <p:nvPr/>
        </p:nvSpPr>
        <p:spPr>
          <a:xfrm>
            <a:off x="3877056" y="4096512"/>
            <a:ext cx="4937760" cy="420624"/>
          </a:xfrm>
          <a:prstGeom prst="rect">
            <a:avLst/>
          </a:prstGeom>
          <a:noFill/>
          <a:ln/>
        </p:spPr>
        <p:txBody>
          <a:bodyPr wrap="square" lIns="0" tIns="0" rIns="0" bIns="0" rtlCol="0" anchor="ctr"/>
          <a:lstStyle/>
          <a:p>
            <a:pPr indent="0" marL="0">
              <a:lnSpc>
                <a:spcPts val="1250"/>
              </a:lnSpc>
              <a:buNone/>
            </a:pPr>
            <a:r>
              <a:rPr lang="en-US" sz="1000" dirty="0">
                <a:solidFill>
                  <a:srgbClr val="46566B"/>
                </a:solidFill>
                <a:latin typeface="Calibri" pitchFamily="34" charset="0"/>
                <a:ea typeface="Calibri" pitchFamily="34" charset="-122"/>
                <a:cs typeface="Calibri" pitchFamily="34" charset="-120"/>
              </a:rPr>
              <a:t>The Streamlit app exposes every hyperparameter of every stage; the CLI makes runs reproducible.</a:t>
            </a:r>
            <a:endParaRPr lang="en-US" sz="1000" dirty="0"/>
          </a:p>
        </p:txBody>
      </p:sp>
      <p:sp>
        <p:nvSpPr>
          <p:cNvPr id="32" name="Shape 27"/>
          <p:cNvSpPr/>
          <p:nvPr/>
        </p:nvSpPr>
        <p:spPr>
          <a:xfrm>
            <a:off x="8613648" y="1572768"/>
            <a:ext cx="3011119" cy="2889504"/>
          </a:xfrm>
          <a:prstGeom prst="roundRect">
            <a:avLst>
              <a:gd name="adj" fmla="val 1899"/>
            </a:avLst>
          </a:prstGeom>
          <a:solidFill>
            <a:srgbClr val="0E1A2B"/>
          </a:solidFill>
          <a:ln w="9525">
            <a:solidFill>
              <a:srgbClr val="0E1A2B"/>
            </a:solidFill>
            <a:prstDash val="solid"/>
          </a:ln>
          <a:effectLst>
            <a:outerShdw sx="100000" sy="100000" kx="0" ky="0" algn="bl" rotWithShape="0" blurRad="127000" dist="508" dir="5400000">
              <a:srgbClr val="000000">
                <a:alpha val="9000"/>
              </a:srgbClr>
            </a:outerShdw>
          </a:effectLst>
        </p:spPr>
      </p:sp>
      <p:sp>
        <p:nvSpPr>
          <p:cNvPr id="33" name="Text 28"/>
          <p:cNvSpPr/>
          <p:nvPr/>
        </p:nvSpPr>
        <p:spPr>
          <a:xfrm>
            <a:off x="8851392" y="1773936"/>
            <a:ext cx="2651760" cy="2743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Why local models</a:t>
            </a:r>
            <a:endParaRPr lang="en-US" sz="1450" dirty="0"/>
          </a:p>
        </p:txBody>
      </p:sp>
      <p:sp>
        <p:nvSpPr>
          <p:cNvPr id="34" name="Text 29"/>
          <p:cNvSpPr/>
          <p:nvPr/>
        </p:nvSpPr>
        <p:spPr>
          <a:xfrm>
            <a:off x="8851392" y="2121408"/>
            <a:ext cx="2651760" cy="2194560"/>
          </a:xfrm>
          <a:prstGeom prst="rect">
            <a:avLst/>
          </a:prstGeom>
          <a:noFill/>
          <a:ln/>
        </p:spPr>
        <p:txBody>
          <a:bodyPr wrap="square" lIns="0" tIns="0" rIns="0" bIns="0" rtlCol="0" anchor="t"/>
          <a:lstStyle/>
          <a:p>
            <a:pPr indent="0" marL="0">
              <a:lnSpc>
                <a:spcPts val="1350"/>
              </a:lnSpc>
              <a:buNone/>
            </a:pPr>
            <a:r>
              <a:rPr lang="en-US" sz="1000" b="1" dirty="0">
                <a:solidFill>
                  <a:srgbClr val="FF7900"/>
                </a:solidFill>
                <a:latin typeface="Calibri" pitchFamily="34" charset="0"/>
                <a:ea typeface="Calibri" pitchFamily="34" charset="-122"/>
                <a:cs typeface="Calibri" pitchFamily="34" charset="-120"/>
              </a:rPr>
              <a:t>Privacy. </a:t>
            </a:r>
            <a:pPr indent="0" marL="0">
              <a:lnSpc>
                <a:spcPts val="1350"/>
              </a:lnSpc>
              <a:buNone/>
            </a:pPr>
            <a:r>
              <a:rPr lang="en-US" sz="1000" dirty="0">
                <a:solidFill>
                  <a:srgbClr val="8FA3B8"/>
                </a:solidFill>
                <a:latin typeface="Calibri" pitchFamily="34" charset="0"/>
                <a:ea typeface="Calibri" pitchFamily="34" charset="-122"/>
                <a:cs typeface="Calibri" pitchFamily="34" charset="-120"/>
              </a:rPr>
              <a:t>A supplement question can be a health question. Nothing is sent to a third party.
</a:t>
            </a:r>
            <a:pPr indent="0" marL="0">
              <a:lnSpc>
                <a:spcPts val="1350"/>
              </a:lnSpc>
              <a:buNone/>
            </a:pPr>
            <a:r>
              <a:rPr lang="en-US" sz="1000" b="1" dirty="0">
                <a:solidFill>
                  <a:srgbClr val="FF7900"/>
                </a:solidFill>
                <a:latin typeface="Calibri" pitchFamily="34" charset="0"/>
                <a:ea typeface="Calibri" pitchFamily="34" charset="-122"/>
                <a:cs typeface="Calibri" pitchFamily="34" charset="-120"/>
              </a:rPr>
              <a:t>No quota. </a:t>
            </a:r>
            <a:pPr indent="0" marL="0">
              <a:lnSpc>
                <a:spcPts val="1350"/>
              </a:lnSpc>
              <a:buNone/>
            </a:pPr>
            <a:r>
              <a:rPr lang="en-US" sz="1000" dirty="0">
                <a:solidFill>
                  <a:srgbClr val="8FA3B8"/>
                </a:solidFill>
                <a:latin typeface="Calibri" pitchFamily="34" charset="0"/>
                <a:ea typeface="Calibri" pitchFamily="34" charset="-122"/>
                <a:cs typeface="Calibri" pitchFamily="34" charset="-120"/>
              </a:rPr>
              <a:t>A full evaluation run is ~240 model calls. Metered, that shapes what you are willing to measure.
</a:t>
            </a:r>
            <a:pPr indent="0" marL="0">
              <a:lnSpc>
                <a:spcPts val="1350"/>
              </a:lnSpc>
              <a:buNone/>
            </a:pPr>
            <a:r>
              <a:rPr lang="en-US" sz="1000" b="1" dirty="0">
                <a:solidFill>
                  <a:srgbClr val="FF7900"/>
                </a:solidFill>
                <a:latin typeface="Calibri" pitchFamily="34" charset="0"/>
                <a:ea typeface="Calibri" pitchFamily="34" charset="-122"/>
                <a:cs typeface="Calibri" pitchFamily="34" charset="-120"/>
              </a:rPr>
              <a:t>Portable. </a:t>
            </a:r>
            <a:pPr indent="0" marL="0">
              <a:lnSpc>
                <a:spcPts val="1350"/>
              </a:lnSpc>
              <a:buNone/>
            </a:pPr>
            <a:r>
              <a:rPr lang="en-US" sz="1000" dirty="0">
                <a:solidFill>
                  <a:srgbClr val="8FA3B8"/>
                </a:solidFill>
                <a:latin typeface="Calibri" pitchFamily="34" charset="0"/>
                <a:ea typeface="Calibri" pitchFamily="34" charset="-122"/>
                <a:cs typeface="Calibri" pitchFamily="34" charset="-120"/>
              </a:rPr>
              <a:t>One client speaks the OpenAI shape, so the provider is a base URL and two model ids. This pipeline has run on Gemini, then OpenRouter, now LM Studio.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ARCHITECTURE</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One class per stage, and a settings object that owns the index</a:t>
            </a:r>
            <a:endParaRPr lang="en-US" sz="3000" dirty="0"/>
          </a:p>
        </p:txBody>
      </p:sp>
      <p:sp>
        <p:nvSpPr>
          <p:cNvPr id="7" name="Shape 2"/>
          <p:cNvSpPr/>
          <p:nvPr/>
        </p:nvSpPr>
        <p:spPr>
          <a:xfrm>
            <a:off x="566928" y="1898904"/>
            <a:ext cx="3657600" cy="1975104"/>
          </a:xfrm>
          <a:prstGeom prst="roundRect">
            <a:avLst>
              <a:gd name="adj" fmla="val 2778"/>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8" name="Text 3"/>
          <p:cNvSpPr/>
          <p:nvPr/>
        </p:nvSpPr>
        <p:spPr>
          <a:xfrm>
            <a:off x="749808" y="2045208"/>
            <a:ext cx="3291840" cy="237744"/>
          </a:xfrm>
          <a:prstGeom prst="rect">
            <a:avLst/>
          </a:prstGeom>
          <a:noFill/>
          <a:ln/>
        </p:spPr>
        <p:txBody>
          <a:bodyPr wrap="square" lIns="0" tIns="0" rIns="0" bIns="0" rtlCol="0" anchor="ctr"/>
          <a:lstStyle/>
          <a:p>
            <a:pPr indent="0" marL="0">
              <a:buNone/>
            </a:pPr>
            <a:r>
              <a:rPr lang="en-US" sz="1000" b="1" spc="80" kern="0" dirty="0">
                <a:solidFill>
                  <a:srgbClr val="6B7A8C"/>
                </a:solidFill>
                <a:latin typeface="Calibri" pitchFamily="34" charset="0"/>
                <a:ea typeface="Calibri" pitchFamily="34" charset="-122"/>
                <a:cs typeface="Calibri" pitchFamily="34" charset="-120"/>
              </a:rPr>
              <a:t>1 · Ingestion</a:t>
            </a:r>
            <a:endParaRPr lang="en-US" sz="1000" dirty="0"/>
          </a:p>
        </p:txBody>
      </p:sp>
      <p:sp>
        <p:nvSpPr>
          <p:cNvPr id="9" name="Text 4"/>
          <p:cNvSpPr/>
          <p:nvPr/>
        </p:nvSpPr>
        <p:spPr>
          <a:xfrm>
            <a:off x="749808" y="2356104"/>
            <a:ext cx="329184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PdfReader</a:t>
            </a:r>
            <a:endParaRPr lang="en-US" sz="950" dirty="0"/>
          </a:p>
        </p:txBody>
      </p:sp>
      <p:sp>
        <p:nvSpPr>
          <p:cNvPr id="10" name="Text 5"/>
          <p:cNvSpPr/>
          <p:nvPr/>
        </p:nvSpPr>
        <p:spPr>
          <a:xfrm>
            <a:off x="749808" y="2593848"/>
            <a:ext cx="329184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MarkdownCleaner</a:t>
            </a:r>
            <a:endParaRPr lang="en-US" sz="950" dirty="0"/>
          </a:p>
        </p:txBody>
      </p:sp>
      <p:sp>
        <p:nvSpPr>
          <p:cNvPr id="11" name="Text 6"/>
          <p:cNvSpPr/>
          <p:nvPr/>
        </p:nvSpPr>
        <p:spPr>
          <a:xfrm>
            <a:off x="749808" y="2831592"/>
            <a:ext cx="329184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MarkdownChunker</a:t>
            </a:r>
            <a:endParaRPr lang="en-US" sz="950" dirty="0"/>
          </a:p>
        </p:txBody>
      </p:sp>
      <p:sp>
        <p:nvSpPr>
          <p:cNvPr id="12" name="Text 7"/>
          <p:cNvSpPr/>
          <p:nvPr/>
        </p:nvSpPr>
        <p:spPr>
          <a:xfrm>
            <a:off x="749808" y="3069336"/>
            <a:ext cx="329184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QuestionGenerator</a:t>
            </a:r>
            <a:endParaRPr lang="en-US" sz="950" dirty="0"/>
          </a:p>
        </p:txBody>
      </p:sp>
      <p:sp>
        <p:nvSpPr>
          <p:cNvPr id="13" name="Text 8"/>
          <p:cNvSpPr/>
          <p:nvPr/>
        </p:nvSpPr>
        <p:spPr>
          <a:xfrm>
            <a:off x="749808" y="3307080"/>
            <a:ext cx="329184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ServerEmbedder</a:t>
            </a:r>
            <a:endParaRPr lang="en-US" sz="950" dirty="0"/>
          </a:p>
        </p:txBody>
      </p:sp>
      <p:sp>
        <p:nvSpPr>
          <p:cNvPr id="14" name="Text 9"/>
          <p:cNvSpPr/>
          <p:nvPr/>
        </p:nvSpPr>
        <p:spPr>
          <a:xfrm>
            <a:off x="749808" y="3544824"/>
            <a:ext cx="329184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VectorIndex</a:t>
            </a:r>
            <a:endParaRPr lang="en-US" sz="950" dirty="0"/>
          </a:p>
        </p:txBody>
      </p:sp>
      <p:sp>
        <p:nvSpPr>
          <p:cNvPr id="15" name="Shape 10"/>
          <p:cNvSpPr/>
          <p:nvPr/>
        </p:nvSpPr>
        <p:spPr>
          <a:xfrm>
            <a:off x="4398264" y="1898904"/>
            <a:ext cx="2103120" cy="1975104"/>
          </a:xfrm>
          <a:prstGeom prst="roundRect">
            <a:avLst>
              <a:gd name="adj" fmla="val 2778"/>
            </a:avLst>
          </a:prstGeom>
          <a:solidFill>
            <a:srgbClr val="0E1A2B"/>
          </a:solidFill>
          <a:ln w="9525">
            <a:solidFill>
              <a:srgbClr val="0E1A2B"/>
            </a:solidFill>
            <a:prstDash val="solid"/>
          </a:ln>
          <a:effectLst>
            <a:outerShdw sx="100000" sy="100000" kx="0" ky="0" algn="bl" rotWithShape="0" blurRad="127000" dist="508" dir="5400000">
              <a:srgbClr val="000000">
                <a:alpha val="9000"/>
              </a:srgbClr>
            </a:outerShdw>
          </a:effectLst>
        </p:spPr>
      </p:sp>
      <p:sp>
        <p:nvSpPr>
          <p:cNvPr id="16" name="Text 11"/>
          <p:cNvSpPr/>
          <p:nvPr/>
        </p:nvSpPr>
        <p:spPr>
          <a:xfrm>
            <a:off x="4581144" y="2045208"/>
            <a:ext cx="1737360" cy="237744"/>
          </a:xfrm>
          <a:prstGeom prst="rect">
            <a:avLst/>
          </a:prstGeom>
          <a:noFill/>
          <a:ln/>
        </p:spPr>
        <p:txBody>
          <a:bodyPr wrap="square" lIns="0" tIns="0" rIns="0" bIns="0" rtlCol="0" anchor="ctr"/>
          <a:lstStyle/>
          <a:p>
            <a:pPr indent="0" marL="0">
              <a:buNone/>
            </a:pPr>
            <a:r>
              <a:rPr lang="en-US" sz="1000" b="1" spc="80" kern="0" dirty="0">
                <a:solidFill>
                  <a:srgbClr val="FF7900"/>
                </a:solidFill>
                <a:latin typeface="Calibri" pitchFamily="34" charset="0"/>
                <a:ea typeface="Calibri" pitchFamily="34" charset="-122"/>
                <a:cs typeface="Calibri" pitchFamily="34" charset="-120"/>
              </a:rPr>
              <a:t>2 · Retrieval</a:t>
            </a:r>
            <a:endParaRPr lang="en-US" sz="1000" dirty="0"/>
          </a:p>
        </p:txBody>
      </p:sp>
      <p:sp>
        <p:nvSpPr>
          <p:cNvPr id="17" name="Text 12"/>
          <p:cNvSpPr/>
          <p:nvPr/>
        </p:nvSpPr>
        <p:spPr>
          <a:xfrm>
            <a:off x="4581144" y="2356104"/>
            <a:ext cx="1737360" cy="219456"/>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QueryExpander</a:t>
            </a:r>
            <a:endParaRPr lang="en-US" sz="950" dirty="0"/>
          </a:p>
        </p:txBody>
      </p:sp>
      <p:sp>
        <p:nvSpPr>
          <p:cNvPr id="18" name="Text 13"/>
          <p:cNvSpPr/>
          <p:nvPr/>
        </p:nvSpPr>
        <p:spPr>
          <a:xfrm>
            <a:off x="4581144" y="2593848"/>
            <a:ext cx="1737360" cy="219456"/>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Retriever</a:t>
            </a:r>
            <a:endParaRPr lang="en-US" sz="950" dirty="0"/>
          </a:p>
        </p:txBody>
      </p:sp>
      <p:sp>
        <p:nvSpPr>
          <p:cNvPr id="19" name="Text 14"/>
          <p:cNvSpPr/>
          <p:nvPr/>
        </p:nvSpPr>
        <p:spPr>
          <a:xfrm>
            <a:off x="4581144" y="2831592"/>
            <a:ext cx="1737360" cy="219456"/>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Reranker</a:t>
            </a:r>
            <a:endParaRPr lang="en-US" sz="950" dirty="0"/>
          </a:p>
        </p:txBody>
      </p:sp>
      <p:sp>
        <p:nvSpPr>
          <p:cNvPr id="20" name="Shape 15"/>
          <p:cNvSpPr/>
          <p:nvPr/>
        </p:nvSpPr>
        <p:spPr>
          <a:xfrm>
            <a:off x="6675120" y="1898904"/>
            <a:ext cx="2103120" cy="1975104"/>
          </a:xfrm>
          <a:prstGeom prst="roundRect">
            <a:avLst>
              <a:gd name="adj" fmla="val 2778"/>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1" name="Text 16"/>
          <p:cNvSpPr/>
          <p:nvPr/>
        </p:nvSpPr>
        <p:spPr>
          <a:xfrm>
            <a:off x="6858000" y="2045208"/>
            <a:ext cx="1737360" cy="237744"/>
          </a:xfrm>
          <a:prstGeom prst="rect">
            <a:avLst/>
          </a:prstGeom>
          <a:noFill/>
          <a:ln/>
        </p:spPr>
        <p:txBody>
          <a:bodyPr wrap="square" lIns="0" tIns="0" rIns="0" bIns="0" rtlCol="0" anchor="ctr"/>
          <a:lstStyle/>
          <a:p>
            <a:pPr indent="0" marL="0">
              <a:buNone/>
            </a:pPr>
            <a:r>
              <a:rPr lang="en-US" sz="1000" b="1" spc="80" kern="0" dirty="0">
                <a:solidFill>
                  <a:srgbClr val="6B7A8C"/>
                </a:solidFill>
                <a:latin typeface="Calibri" pitchFamily="34" charset="0"/>
                <a:ea typeface="Calibri" pitchFamily="34" charset="-122"/>
                <a:cs typeface="Calibri" pitchFamily="34" charset="-120"/>
              </a:rPr>
              <a:t>3 · Generation</a:t>
            </a:r>
            <a:endParaRPr lang="en-US" sz="1000" dirty="0"/>
          </a:p>
        </p:txBody>
      </p:sp>
      <p:sp>
        <p:nvSpPr>
          <p:cNvPr id="22" name="Text 17"/>
          <p:cNvSpPr/>
          <p:nvPr/>
        </p:nvSpPr>
        <p:spPr>
          <a:xfrm>
            <a:off x="6858000" y="2356104"/>
            <a:ext cx="173736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Answerer</a:t>
            </a:r>
            <a:endParaRPr lang="en-US" sz="950" dirty="0"/>
          </a:p>
        </p:txBody>
      </p:sp>
      <p:sp>
        <p:nvSpPr>
          <p:cNvPr id="23" name="Text 18"/>
          <p:cNvSpPr/>
          <p:nvPr/>
        </p:nvSpPr>
        <p:spPr>
          <a:xfrm>
            <a:off x="6858000" y="2593848"/>
            <a:ext cx="173736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LLMClient</a:t>
            </a:r>
            <a:endParaRPr lang="en-US" sz="950" dirty="0"/>
          </a:p>
        </p:txBody>
      </p:sp>
      <p:sp>
        <p:nvSpPr>
          <p:cNvPr id="24" name="Shape 19"/>
          <p:cNvSpPr/>
          <p:nvPr/>
        </p:nvSpPr>
        <p:spPr>
          <a:xfrm>
            <a:off x="8951976" y="1898904"/>
            <a:ext cx="2651760" cy="1975104"/>
          </a:xfrm>
          <a:prstGeom prst="roundRect">
            <a:avLst>
              <a:gd name="adj" fmla="val 2778"/>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5" name="Text 20"/>
          <p:cNvSpPr/>
          <p:nvPr/>
        </p:nvSpPr>
        <p:spPr>
          <a:xfrm>
            <a:off x="9134856" y="2045208"/>
            <a:ext cx="2286000" cy="237744"/>
          </a:xfrm>
          <a:prstGeom prst="rect">
            <a:avLst/>
          </a:prstGeom>
          <a:noFill/>
          <a:ln/>
        </p:spPr>
        <p:txBody>
          <a:bodyPr wrap="square" lIns="0" tIns="0" rIns="0" bIns="0" rtlCol="0" anchor="ctr"/>
          <a:lstStyle/>
          <a:p>
            <a:pPr indent="0" marL="0">
              <a:buNone/>
            </a:pPr>
            <a:r>
              <a:rPr lang="en-US" sz="1000" b="1" spc="80" kern="0" dirty="0">
                <a:solidFill>
                  <a:srgbClr val="6B7A8C"/>
                </a:solidFill>
                <a:latin typeface="Calibri" pitchFamily="34" charset="0"/>
                <a:ea typeface="Calibri" pitchFamily="34" charset="-122"/>
                <a:cs typeface="Calibri" pitchFamily="34" charset="-120"/>
              </a:rPr>
              <a:t>4 · Safety &amp; proof</a:t>
            </a:r>
            <a:endParaRPr lang="en-US" sz="1000" dirty="0"/>
          </a:p>
        </p:txBody>
      </p:sp>
      <p:sp>
        <p:nvSpPr>
          <p:cNvPr id="26" name="Text 21"/>
          <p:cNvSpPr/>
          <p:nvPr/>
        </p:nvSpPr>
        <p:spPr>
          <a:xfrm>
            <a:off x="9134856" y="2356104"/>
            <a:ext cx="228600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Answerer refusal</a:t>
            </a:r>
            <a:endParaRPr lang="en-US" sz="950" dirty="0"/>
          </a:p>
        </p:txBody>
      </p:sp>
      <p:sp>
        <p:nvSpPr>
          <p:cNvPr id="27" name="Text 22"/>
          <p:cNvSpPr/>
          <p:nvPr/>
        </p:nvSpPr>
        <p:spPr>
          <a:xfrm>
            <a:off x="9134856" y="2593848"/>
            <a:ext cx="228600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citation rewrite</a:t>
            </a:r>
            <a:endParaRPr lang="en-US" sz="950" dirty="0"/>
          </a:p>
        </p:txBody>
      </p:sp>
      <p:sp>
        <p:nvSpPr>
          <p:cNvPr id="28" name="Text 23"/>
          <p:cNvSpPr/>
          <p:nvPr/>
        </p:nvSpPr>
        <p:spPr>
          <a:xfrm>
            <a:off x="9134856" y="2831592"/>
            <a:ext cx="228600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EvaluationEngine</a:t>
            </a:r>
            <a:endParaRPr lang="en-US" sz="950" dirty="0"/>
          </a:p>
        </p:txBody>
      </p:sp>
      <p:sp>
        <p:nvSpPr>
          <p:cNvPr id="29" name="Text 24"/>
          <p:cNvSpPr/>
          <p:nvPr/>
        </p:nvSpPr>
        <p:spPr>
          <a:xfrm>
            <a:off x="9134856" y="3069336"/>
            <a:ext cx="2286000" cy="219456"/>
          </a:xfrm>
          <a:prstGeom prst="rect">
            <a:avLst/>
          </a:prstGeom>
          <a:noFill/>
          <a:ln/>
        </p:spPr>
        <p:txBody>
          <a:bodyPr wrap="square" lIns="0" tIns="0" rIns="0" bIns="0" rtlCol="0" anchor="ctr"/>
          <a:lstStyle/>
          <a:p>
            <a:pPr indent="0" marL="0">
              <a:buNone/>
            </a:pPr>
            <a:r>
              <a:rPr lang="en-US" sz="950" dirty="0">
                <a:solidFill>
                  <a:srgbClr val="0E1A2B"/>
                </a:solidFill>
                <a:latin typeface="Courier New" pitchFamily="34" charset="0"/>
                <a:ea typeface="Courier New" pitchFamily="34" charset="-122"/>
                <a:cs typeface="Courier New" pitchFamily="34" charset="-120"/>
              </a:rPr>
              <a:t>ChunkInspector</a:t>
            </a:r>
            <a:endParaRPr lang="en-US" sz="950" dirty="0"/>
          </a:p>
        </p:txBody>
      </p:sp>
      <p:sp>
        <p:nvSpPr>
          <p:cNvPr id="30" name="Text 25"/>
          <p:cNvSpPr/>
          <p:nvPr/>
        </p:nvSpPr>
        <p:spPr>
          <a:xfrm>
            <a:off x="566928" y="4038600"/>
            <a:ext cx="5852160" cy="237744"/>
          </a:xfrm>
          <a:prstGeom prst="rect">
            <a:avLst/>
          </a:prstGeom>
          <a:noFill/>
          <a:ln/>
        </p:spPr>
        <p:txBody>
          <a:bodyPr wrap="square" lIns="0" tIns="0" rIns="0" bIns="0" rtlCol="0" anchor="ctr"/>
          <a:lstStyle/>
          <a:p>
            <a:pPr indent="0" marL="0">
              <a:buNone/>
            </a:pPr>
            <a:r>
              <a:rPr lang="en-US" sz="1100" dirty="0">
                <a:solidFill>
                  <a:srgbClr val="6B7A8C"/>
                </a:solidFill>
                <a:latin typeface="Calibri" pitchFamily="34" charset="0"/>
                <a:ea typeface="Calibri" pitchFamily="34" charset="-122"/>
                <a:cs typeface="Calibri" pitchFamily="34" charset="-120"/>
              </a:rPr>
              <a:t>Stages are callable objects and compose with the pipe operator:</a:t>
            </a:r>
            <a:endParaRPr lang="en-US" sz="1100" dirty="0"/>
          </a:p>
        </p:txBody>
      </p:sp>
      <p:sp>
        <p:nvSpPr>
          <p:cNvPr id="31" name="Shape 26"/>
          <p:cNvSpPr/>
          <p:nvPr/>
        </p:nvSpPr>
        <p:spPr>
          <a:xfrm>
            <a:off x="566928" y="4294632"/>
            <a:ext cx="6949440" cy="402336"/>
          </a:xfrm>
          <a:prstGeom prst="roundRect">
            <a:avLst>
              <a:gd name="adj" fmla="val 13636"/>
            </a:avLst>
          </a:prstGeom>
          <a:solidFill>
            <a:srgbClr val="0E1A2B"/>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32" name="Text 27"/>
          <p:cNvSpPr/>
          <p:nvPr/>
        </p:nvSpPr>
        <p:spPr>
          <a:xfrm>
            <a:off x="731520" y="4413504"/>
            <a:ext cx="6620256" cy="164592"/>
          </a:xfrm>
          <a:prstGeom prst="rect">
            <a:avLst/>
          </a:prstGeom>
          <a:noFill/>
          <a:ln/>
        </p:spPr>
        <p:txBody>
          <a:bodyPr wrap="square" lIns="0" tIns="0" rIns="0" bIns="0" rtlCol="0" anchor="t"/>
          <a:lstStyle/>
          <a:p>
            <a:pPr indent="0" marL="0">
              <a:lnSpc>
                <a:spcPts val="1400"/>
              </a:lnSpc>
              <a:buNone/>
            </a:pPr>
            <a:r>
              <a:rPr lang="en-US" sz="950" dirty="0">
                <a:solidFill>
                  <a:srgbClr val="C9D6E4"/>
                </a:solidFill>
                <a:latin typeface="Courier New" pitchFamily="34" charset="0"/>
                <a:ea typeface="Courier New" pitchFamily="34" charset="-122"/>
                <a:cs typeface="Courier New" pitchFamily="34" charset="-120"/>
              </a:rPr>
              <a:t>chunks = (PdfReader() | MarkdownCleaner() | MarkdownChunker(600, 100))(source)</a:t>
            </a:r>
            <a:endParaRPr lang="en-US" sz="950" dirty="0"/>
          </a:p>
        </p:txBody>
      </p:sp>
      <p:sp>
        <p:nvSpPr>
          <p:cNvPr id="33" name="Shape 28"/>
          <p:cNvSpPr/>
          <p:nvPr/>
        </p:nvSpPr>
        <p:spPr>
          <a:xfrm>
            <a:off x="7699248" y="4002024"/>
            <a:ext cx="3925519" cy="1042416"/>
          </a:xfrm>
          <a:prstGeom prst="roundRect">
            <a:avLst>
              <a:gd name="adj" fmla="val 5263"/>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34" name="Text 29"/>
          <p:cNvSpPr/>
          <p:nvPr/>
        </p:nvSpPr>
        <p:spPr>
          <a:xfrm>
            <a:off x="7918704" y="4148328"/>
            <a:ext cx="3486607" cy="786384"/>
          </a:xfrm>
          <a:prstGeom prst="rect">
            <a:avLst/>
          </a:prstGeom>
          <a:noFill/>
          <a:ln/>
        </p:spPr>
        <p:txBody>
          <a:bodyPr wrap="square" lIns="0" tIns="0" rIns="0" bIns="0" rtlCol="0" anchor="t"/>
          <a:lstStyle/>
          <a:p>
            <a:pPr indent="0" marL="0">
              <a:lnSpc>
                <a:spcPts val="1350"/>
              </a:lnSpc>
              <a:buNone/>
            </a:pPr>
            <a:r>
              <a:rPr lang="en-US" sz="1000" b="1" dirty="0">
                <a:solidFill>
                  <a:srgbClr val="0E1A2B"/>
                </a:solidFill>
                <a:latin typeface="Calibri" pitchFamily="34" charset="0"/>
                <a:ea typeface="Calibri" pitchFamily="34" charset="-122"/>
                <a:cs typeface="Calibri" pitchFamily="34" charset="-120"/>
              </a:rPr>
              <a:t>Settings decides what an index is. </a:t>
            </a:r>
            <a:pPr indent="0" marL="0">
              <a:lnSpc>
                <a:spcPts val="1350"/>
              </a:lnSpc>
              <a:buNone/>
            </a:pPr>
            <a:r>
              <a:rPr lang="en-US" sz="1000" dirty="0">
                <a:solidFill>
                  <a:srgbClr val="46566B"/>
                </a:solidFill>
                <a:latin typeface="Calibri" pitchFamily="34" charset="0"/>
                <a:ea typeface="Calibri" pitchFamily="34" charset="-122"/>
                <a:cs typeface="Calibri" pitchFamily="34" charset="-120"/>
              </a:rPr>
              <a:t>Every value that changes the vectors is part of the collection name, so moving a slider builds a separate index instead of corrupting the previous one — and moving it back reuses what you already paid for.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6108192"/>
            <a:ext cx="4306229" cy="585216"/>
          </a:xfrm>
          <a:prstGeom prst="roundRect">
            <a:avLst>
              <a:gd name="adj" fmla="val 9375"/>
            </a:avLst>
          </a:prstGeom>
          <a:solidFill>
            <a:srgbClr val="FFFFFF"/>
          </a:solidFill>
          <a:ln w="12700">
            <a:solidFill>
              <a:srgbClr val="FFFFFF"/>
            </a:solidFill>
            <a:prstDash val="solid"/>
          </a:ln>
        </p:spPr>
      </p:sp>
      <p:pic>
        <p:nvPicPr>
          <p:cNvPr id="3" name="Image 0" descr="/Users/Marwan/Projects/athletic-dietry-rag/presentation/assets/logos/creativa.png">    </p:cNvPr>
          <p:cNvPicPr>
            <a:picLocks noChangeAspect="1"/>
          </p:cNvPicPr>
          <p:nvPr/>
        </p:nvPicPr>
        <p:blipFill>
          <a:blip r:embed="rId1"/>
          <a:stretch>
            <a:fillRect/>
          </a:stretch>
        </p:blipFill>
        <p:spPr>
          <a:xfrm>
            <a:off x="731520" y="6208776"/>
            <a:ext cx="356021" cy="384048"/>
          </a:xfrm>
          <a:prstGeom prst="rect">
            <a:avLst/>
          </a:prstGeom>
        </p:spPr>
      </p:pic>
      <p:pic>
        <p:nvPicPr>
          <p:cNvPr id="4" name="Image 1" descr="/Users/Marwan/Projects/athletic-dietry-rag/presentation/assets/logos/instant.png">    </p:cNvPr>
          <p:cNvPicPr>
            <a:picLocks noChangeAspect="1"/>
          </p:cNvPicPr>
          <p:nvPr/>
        </p:nvPicPr>
        <p:blipFill>
          <a:blip r:embed="rId2"/>
          <a:stretch>
            <a:fillRect/>
          </a:stretch>
        </p:blipFill>
        <p:spPr>
          <a:xfrm>
            <a:off x="1416725" y="6305902"/>
            <a:ext cx="1481328" cy="189795"/>
          </a:xfrm>
          <a:prstGeom prst="rect">
            <a:avLst/>
          </a:prstGeom>
        </p:spPr>
      </p:pic>
      <p:pic>
        <p:nvPicPr>
          <p:cNvPr id="5" name="Image 2" descr="/Users/Marwan/Projects/athletic-dietry-rag/presentation/assets/logos/orange.png">    </p:cNvPr>
          <p:cNvPicPr>
            <a:picLocks noChangeAspect="1"/>
          </p:cNvPicPr>
          <p:nvPr/>
        </p:nvPicPr>
        <p:blipFill>
          <a:blip r:embed="rId3"/>
          <a:stretch>
            <a:fillRect/>
          </a:stretch>
        </p:blipFill>
        <p:spPr>
          <a:xfrm>
            <a:off x="3227237" y="6240122"/>
            <a:ext cx="1481328" cy="321355"/>
          </a:xfrm>
          <a:prstGeom prst="rect">
            <a:avLst/>
          </a:prstGeom>
        </p:spPr>
      </p:pic>
      <p:sp>
        <p:nvSpPr>
          <p:cNvPr id="6" name="Text 1"/>
          <p:cNvSpPr/>
          <p:nvPr/>
        </p:nvSpPr>
        <p:spPr>
          <a:xfrm>
            <a:off x="566928" y="1700784"/>
            <a:ext cx="2011680" cy="1956816"/>
          </a:xfrm>
          <a:prstGeom prst="rect">
            <a:avLst/>
          </a:prstGeom>
          <a:noFill/>
          <a:ln/>
        </p:spPr>
        <p:txBody>
          <a:bodyPr wrap="square" lIns="0" tIns="0" rIns="0" bIns="0" rtlCol="0" anchor="ctr"/>
          <a:lstStyle/>
          <a:p>
            <a:pPr indent="0" marL="0">
              <a:buNone/>
            </a:pPr>
            <a:r>
              <a:rPr lang="en-US" sz="11600" b="1" dirty="0">
                <a:solidFill>
                  <a:srgbClr val="2A3D55"/>
                </a:solidFill>
                <a:latin typeface="Cambria" pitchFamily="34" charset="0"/>
                <a:ea typeface="Cambria" pitchFamily="34" charset="-122"/>
                <a:cs typeface="Cambria" pitchFamily="34" charset="-120"/>
              </a:rPr>
              <a:t>04</a:t>
            </a:r>
            <a:endParaRPr lang="en-US" sz="11600" dirty="0"/>
          </a:p>
        </p:txBody>
      </p:sp>
      <p:sp>
        <p:nvSpPr>
          <p:cNvPr id="7" name="Text 2"/>
          <p:cNvSpPr/>
          <p:nvPr/>
        </p:nvSpPr>
        <p:spPr>
          <a:xfrm>
            <a:off x="2441448" y="1956816"/>
            <a:ext cx="9183319" cy="274320"/>
          </a:xfrm>
          <a:prstGeom prst="rect">
            <a:avLst/>
          </a:prstGeom>
          <a:noFill/>
          <a:ln/>
        </p:spPr>
        <p:txBody>
          <a:bodyPr wrap="square" lIns="0" tIns="0" rIns="0" bIns="0" rtlCol="0" anchor="ctr"/>
          <a:lstStyle/>
          <a:p>
            <a:pPr indent="0" marL="0">
              <a:buNone/>
            </a:pPr>
            <a:r>
              <a:rPr lang="en-US" sz="1100" b="1" spc="160" kern="0" dirty="0">
                <a:solidFill>
                  <a:srgbClr val="FF7900"/>
                </a:solidFill>
                <a:latin typeface="Calibri" pitchFamily="34" charset="0"/>
                <a:ea typeface="Calibri" pitchFamily="34" charset="-122"/>
                <a:cs typeface="Calibri" pitchFamily="34" charset="-120"/>
              </a:rPr>
              <a:t>SECTION FOUR</a:t>
            </a:r>
            <a:endParaRPr lang="en-US" sz="1100" dirty="0"/>
          </a:p>
        </p:txBody>
      </p:sp>
      <p:sp>
        <p:nvSpPr>
          <p:cNvPr id="8" name="Text 3"/>
          <p:cNvSpPr/>
          <p:nvPr/>
        </p:nvSpPr>
        <p:spPr>
          <a:xfrm>
            <a:off x="2414016" y="2231136"/>
            <a:ext cx="9046159" cy="1005840"/>
          </a:xfrm>
          <a:prstGeom prst="rect">
            <a:avLst/>
          </a:prstGeom>
          <a:noFill/>
          <a:ln/>
        </p:spPr>
        <p:txBody>
          <a:bodyPr wrap="square" lIns="0" tIns="0" rIns="0" bIns="0" rtlCol="0" anchor="t"/>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How much this</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is needed</a:t>
            </a:r>
            <a:endParaRPr lang="en-US" sz="3400" dirty="0"/>
          </a:p>
        </p:txBody>
      </p:sp>
      <p:sp>
        <p:nvSpPr>
          <p:cNvPr id="9" name="Text 4"/>
          <p:cNvSpPr/>
          <p:nvPr/>
        </p:nvSpPr>
        <p:spPr>
          <a:xfrm>
            <a:off x="2441448" y="3438144"/>
            <a:ext cx="8680399" cy="731520"/>
          </a:xfrm>
          <a:prstGeom prst="rect">
            <a:avLst/>
          </a:prstGeom>
          <a:noFill/>
          <a:ln/>
        </p:spPr>
        <p:txBody>
          <a:bodyPr wrap="square" lIns="0" tIns="0" rIns="0" bIns="0" rtlCol="0" anchor="t"/>
          <a:lstStyle/>
          <a:p>
            <a:pPr indent="0" marL="0">
              <a:lnSpc>
                <a:spcPts val="1900"/>
              </a:lnSpc>
              <a:buNone/>
            </a:pPr>
            <a:r>
              <a:rPr lang="en-US" sz="1350" i="1" dirty="0">
                <a:solidFill>
                  <a:srgbClr val="8FA3B8"/>
                </a:solidFill>
                <a:latin typeface="Calibri" pitchFamily="34" charset="0"/>
                <a:ea typeface="Calibri" pitchFamily="34" charset="-122"/>
                <a:cs typeface="Calibri" pitchFamily="34" charset="-120"/>
              </a:rPr>
              <a:t>Every figure on the next slide was retrieved from the document the system indexes — and carries the page it came from.</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THE DEGREE OF NEED</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The audience is most of the people who train</a:t>
            </a:r>
            <a:endParaRPr lang="en-US" sz="3000" dirty="0"/>
          </a:p>
        </p:txBody>
      </p:sp>
      <p:sp>
        <p:nvSpPr>
          <p:cNvPr id="7" name="Text 2"/>
          <p:cNvSpPr/>
          <p:nvPr/>
        </p:nvSpPr>
        <p:spPr>
          <a:xfrm>
            <a:off x="566928" y="1517904"/>
            <a:ext cx="11057839" cy="562864"/>
          </a:xfrm>
          <a:prstGeom prst="rect">
            <a:avLst/>
          </a:prstGeom>
          <a:noFill/>
          <a:ln/>
        </p:spPr>
        <p:txBody>
          <a:bodyPr wrap="square" lIns="0" tIns="0" rIns="0" bIns="0" rtlCol="0" anchor="t"/>
          <a:lstStyle/>
          <a:p>
            <a:pPr indent="0" marL="0">
              <a:lnSpc>
                <a:spcPts val="2000"/>
              </a:lnSpc>
              <a:buNone/>
            </a:pPr>
            <a:r>
              <a:rPr lang="en-US" sz="1450" i="1" dirty="0">
                <a:solidFill>
                  <a:srgbClr val="6B7A8C"/>
                </a:solidFill>
                <a:latin typeface="Calibri" pitchFamily="34" charset="0"/>
                <a:ea typeface="Calibri" pitchFamily="34" charset="-122"/>
                <a:cs typeface="Calibri" pitchFamily="34" charset="-120"/>
              </a:rPr>
              <a:t>These numbers are not from a market deck. They were pulled out of our own index by our own retriever — which is the product, demonstrated on itself.</a:t>
            </a:r>
            <a:endParaRPr lang="en-US" sz="1450" dirty="0"/>
          </a:p>
        </p:txBody>
      </p:sp>
      <p:sp>
        <p:nvSpPr>
          <p:cNvPr id="8" name="Shape 3"/>
          <p:cNvSpPr/>
          <p:nvPr/>
        </p:nvSpPr>
        <p:spPr>
          <a:xfrm>
            <a:off x="566928" y="2263648"/>
            <a:ext cx="2620442" cy="1700784"/>
          </a:xfrm>
          <a:prstGeom prst="roundRect">
            <a:avLst>
              <a:gd name="adj" fmla="val 3226"/>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9" name="Text 4"/>
          <p:cNvSpPr/>
          <p:nvPr/>
        </p:nvSpPr>
        <p:spPr>
          <a:xfrm>
            <a:off x="786384" y="2428240"/>
            <a:ext cx="2181530" cy="566928"/>
          </a:xfrm>
          <a:prstGeom prst="rect">
            <a:avLst/>
          </a:prstGeom>
          <a:noFill/>
          <a:ln/>
        </p:spPr>
        <p:txBody>
          <a:bodyPr wrap="square" lIns="0" tIns="0" rIns="0" bIns="0" rtlCol="0" anchor="ctr"/>
          <a:lstStyle/>
          <a:p>
            <a:pPr indent="0" marL="0">
              <a:buNone/>
            </a:pPr>
            <a:r>
              <a:rPr lang="en-US" sz="3600" b="1" dirty="0">
                <a:solidFill>
                  <a:srgbClr val="0E1A2B"/>
                </a:solidFill>
                <a:latin typeface="Cambria" pitchFamily="34" charset="0"/>
                <a:ea typeface="Cambria" pitchFamily="34" charset="-122"/>
                <a:cs typeface="Cambria" pitchFamily="34" charset="-120"/>
              </a:rPr>
              <a:t>66%</a:t>
            </a:r>
            <a:endParaRPr lang="en-US" sz="3600" dirty="0"/>
          </a:p>
        </p:txBody>
      </p:sp>
      <p:sp>
        <p:nvSpPr>
          <p:cNvPr id="10" name="Text 5"/>
          <p:cNvSpPr/>
          <p:nvPr/>
        </p:nvSpPr>
        <p:spPr>
          <a:xfrm>
            <a:off x="786384" y="3031744"/>
            <a:ext cx="2181530" cy="566928"/>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of 1,248 US college students</a:t>
            </a: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reported using a dietary supplement</a:t>
            </a:r>
            <a:endParaRPr lang="en-US" sz="1050" dirty="0"/>
          </a:p>
        </p:txBody>
      </p:sp>
      <p:sp>
        <p:nvSpPr>
          <p:cNvPr id="11" name="Text 6"/>
          <p:cNvSpPr/>
          <p:nvPr/>
        </p:nvSpPr>
        <p:spPr>
          <a:xfrm>
            <a:off x="786384" y="3598672"/>
            <a:ext cx="2181530" cy="219456"/>
          </a:xfrm>
          <a:prstGeom prst="rect">
            <a:avLst/>
          </a:prstGeom>
          <a:noFill/>
          <a:ln/>
        </p:spPr>
        <p:txBody>
          <a:bodyPr wrap="square" lIns="0" tIns="0" rIns="0" bIns="0" rtlCol="0" anchor="ctr"/>
          <a:lstStyle/>
          <a:p>
            <a:pPr indent="0" marL="0">
              <a:buNone/>
            </a:pPr>
            <a:r>
              <a:rPr lang="en-US" sz="900" b="1" dirty="0">
                <a:solidFill>
                  <a:srgbClr val="FF7900"/>
                </a:solidFill>
                <a:latin typeface="Courier New" pitchFamily="34" charset="0"/>
                <a:ea typeface="Courier New" pitchFamily="34" charset="-122"/>
                <a:cs typeface="Courier New" pitchFamily="34" charset="-120"/>
              </a:rPr>
              <a:t>[1, p. 1]</a:t>
            </a:r>
            <a:endParaRPr lang="en-US" sz="900" dirty="0"/>
          </a:p>
        </p:txBody>
      </p:sp>
      <p:sp>
        <p:nvSpPr>
          <p:cNvPr id="12" name="Shape 7"/>
          <p:cNvSpPr/>
          <p:nvPr/>
        </p:nvSpPr>
        <p:spPr>
          <a:xfrm>
            <a:off x="3379394" y="2263648"/>
            <a:ext cx="2620442" cy="1700784"/>
          </a:xfrm>
          <a:prstGeom prst="roundRect">
            <a:avLst>
              <a:gd name="adj" fmla="val 3226"/>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3" name="Text 8"/>
          <p:cNvSpPr/>
          <p:nvPr/>
        </p:nvSpPr>
        <p:spPr>
          <a:xfrm>
            <a:off x="3598850" y="2428240"/>
            <a:ext cx="2181530" cy="566928"/>
          </a:xfrm>
          <a:prstGeom prst="rect">
            <a:avLst/>
          </a:prstGeom>
          <a:noFill/>
          <a:ln/>
        </p:spPr>
        <p:txBody>
          <a:bodyPr wrap="square" lIns="0" tIns="0" rIns="0" bIns="0" rtlCol="0" anchor="ctr"/>
          <a:lstStyle/>
          <a:p>
            <a:pPr indent="0" marL="0">
              <a:buNone/>
            </a:pPr>
            <a:r>
              <a:rPr lang="en-US" sz="3600" b="1" dirty="0">
                <a:solidFill>
                  <a:srgbClr val="0E1A2B"/>
                </a:solidFill>
                <a:latin typeface="Cambria" pitchFamily="34" charset="0"/>
                <a:ea typeface="Cambria" pitchFamily="34" charset="-122"/>
                <a:cs typeface="Cambria" pitchFamily="34" charset="-120"/>
              </a:rPr>
              <a:t>41.7%</a:t>
            </a:r>
            <a:endParaRPr lang="en-US" sz="3600" dirty="0"/>
          </a:p>
        </p:txBody>
      </p:sp>
      <p:sp>
        <p:nvSpPr>
          <p:cNvPr id="14" name="Text 9"/>
          <p:cNvSpPr/>
          <p:nvPr/>
        </p:nvSpPr>
        <p:spPr>
          <a:xfrm>
            <a:off x="3598850" y="3031744"/>
            <a:ext cx="2181530" cy="566928"/>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of ~21,000 US college athletes</a:t>
            </a: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take protein products; 14.0% creatine</a:t>
            </a:r>
            <a:endParaRPr lang="en-US" sz="1050" dirty="0"/>
          </a:p>
        </p:txBody>
      </p:sp>
      <p:sp>
        <p:nvSpPr>
          <p:cNvPr id="15" name="Text 10"/>
          <p:cNvSpPr/>
          <p:nvPr/>
        </p:nvSpPr>
        <p:spPr>
          <a:xfrm>
            <a:off x="3598850" y="3598672"/>
            <a:ext cx="2181530" cy="219456"/>
          </a:xfrm>
          <a:prstGeom prst="rect">
            <a:avLst/>
          </a:prstGeom>
          <a:noFill/>
          <a:ln/>
        </p:spPr>
        <p:txBody>
          <a:bodyPr wrap="square" lIns="0" tIns="0" rIns="0" bIns="0" rtlCol="0" anchor="ctr"/>
          <a:lstStyle/>
          <a:p>
            <a:pPr indent="0" marL="0">
              <a:buNone/>
            </a:pPr>
            <a:r>
              <a:rPr lang="en-US" sz="900" b="1" dirty="0">
                <a:solidFill>
                  <a:srgbClr val="FF7900"/>
                </a:solidFill>
                <a:latin typeface="Courier New" pitchFamily="34" charset="0"/>
                <a:ea typeface="Courier New" pitchFamily="34" charset="-122"/>
                <a:cs typeface="Courier New" pitchFamily="34" charset="-120"/>
              </a:rPr>
              <a:t>[1, p. 1]</a:t>
            </a:r>
            <a:endParaRPr lang="en-US" sz="900" dirty="0"/>
          </a:p>
        </p:txBody>
      </p:sp>
      <p:sp>
        <p:nvSpPr>
          <p:cNvPr id="16" name="Shape 11"/>
          <p:cNvSpPr/>
          <p:nvPr/>
        </p:nvSpPr>
        <p:spPr>
          <a:xfrm>
            <a:off x="6191860" y="2263648"/>
            <a:ext cx="2620442" cy="1700784"/>
          </a:xfrm>
          <a:prstGeom prst="roundRect">
            <a:avLst>
              <a:gd name="adj" fmla="val 3226"/>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7" name="Text 12"/>
          <p:cNvSpPr/>
          <p:nvPr/>
        </p:nvSpPr>
        <p:spPr>
          <a:xfrm>
            <a:off x="6411316" y="2428240"/>
            <a:ext cx="2181530" cy="566928"/>
          </a:xfrm>
          <a:prstGeom prst="rect">
            <a:avLst/>
          </a:prstGeom>
          <a:noFill/>
          <a:ln/>
        </p:spPr>
        <p:txBody>
          <a:bodyPr wrap="square" lIns="0" tIns="0" rIns="0" bIns="0" rtlCol="0" anchor="ctr"/>
          <a:lstStyle/>
          <a:p>
            <a:pPr indent="0" marL="0">
              <a:buNone/>
            </a:pPr>
            <a:r>
              <a:rPr lang="en-US" sz="3600" b="1" dirty="0">
                <a:solidFill>
                  <a:srgbClr val="0E1A2B"/>
                </a:solidFill>
                <a:latin typeface="Cambria" pitchFamily="34" charset="0"/>
                <a:ea typeface="Cambria" pitchFamily="34" charset="-122"/>
                <a:cs typeface="Cambria" pitchFamily="34" charset="-120"/>
              </a:rPr>
              <a:t>2 in 3</a:t>
            </a:r>
            <a:endParaRPr lang="en-US" sz="3600" dirty="0"/>
          </a:p>
        </p:txBody>
      </p:sp>
      <p:sp>
        <p:nvSpPr>
          <p:cNvPr id="18" name="Text 13"/>
          <p:cNvSpPr/>
          <p:nvPr/>
        </p:nvSpPr>
        <p:spPr>
          <a:xfrm>
            <a:off x="6411316" y="3031744"/>
            <a:ext cx="2181530" cy="566928"/>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of 3,887 adult and adolescent</a:t>
            </a: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elite track and field athletes</a:t>
            </a:r>
            <a:endParaRPr lang="en-US" sz="1050" dirty="0"/>
          </a:p>
        </p:txBody>
      </p:sp>
      <p:sp>
        <p:nvSpPr>
          <p:cNvPr id="19" name="Text 14"/>
          <p:cNvSpPr/>
          <p:nvPr/>
        </p:nvSpPr>
        <p:spPr>
          <a:xfrm>
            <a:off x="6411316" y="3598672"/>
            <a:ext cx="2181530" cy="219456"/>
          </a:xfrm>
          <a:prstGeom prst="rect">
            <a:avLst/>
          </a:prstGeom>
          <a:noFill/>
          <a:ln/>
        </p:spPr>
        <p:txBody>
          <a:bodyPr wrap="square" lIns="0" tIns="0" rIns="0" bIns="0" rtlCol="0" anchor="ctr"/>
          <a:lstStyle/>
          <a:p>
            <a:pPr indent="0" marL="0">
              <a:buNone/>
            </a:pPr>
            <a:r>
              <a:rPr lang="en-US" sz="900" b="1" dirty="0">
                <a:solidFill>
                  <a:srgbClr val="FF7900"/>
                </a:solidFill>
                <a:latin typeface="Courier New" pitchFamily="34" charset="0"/>
                <a:ea typeface="Courier New" pitchFamily="34" charset="-122"/>
                <a:cs typeface="Courier New" pitchFamily="34" charset="-120"/>
              </a:rPr>
              <a:t>[1, p. 1]</a:t>
            </a:r>
            <a:endParaRPr lang="en-US" sz="900" dirty="0"/>
          </a:p>
        </p:txBody>
      </p:sp>
      <p:sp>
        <p:nvSpPr>
          <p:cNvPr id="20" name="Shape 15"/>
          <p:cNvSpPr/>
          <p:nvPr/>
        </p:nvSpPr>
        <p:spPr>
          <a:xfrm>
            <a:off x="9004325" y="2263648"/>
            <a:ext cx="2620442" cy="1700784"/>
          </a:xfrm>
          <a:prstGeom prst="roundRect">
            <a:avLst>
              <a:gd name="adj" fmla="val 3226"/>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1" name="Text 16"/>
          <p:cNvSpPr/>
          <p:nvPr/>
        </p:nvSpPr>
        <p:spPr>
          <a:xfrm>
            <a:off x="9223781" y="2428240"/>
            <a:ext cx="2181530" cy="566928"/>
          </a:xfrm>
          <a:prstGeom prst="rect">
            <a:avLst/>
          </a:prstGeom>
          <a:noFill/>
          <a:ln/>
        </p:spPr>
        <p:txBody>
          <a:bodyPr wrap="square" lIns="0" tIns="0" rIns="0" bIns="0" rtlCol="0" anchor="ctr"/>
          <a:lstStyle/>
          <a:p>
            <a:pPr indent="0" marL="0">
              <a:buNone/>
            </a:pPr>
            <a:r>
              <a:rPr lang="en-US" sz="3600" b="1" dirty="0">
                <a:solidFill>
                  <a:srgbClr val="0E1A2B"/>
                </a:solidFill>
                <a:latin typeface="Cambria" pitchFamily="34" charset="0"/>
                <a:ea typeface="Cambria" pitchFamily="34" charset="-122"/>
                <a:cs typeface="Cambria" pitchFamily="34" charset="-120"/>
              </a:rPr>
              <a:t>22.8%</a:t>
            </a:r>
            <a:endParaRPr lang="en-US" sz="3600" dirty="0"/>
          </a:p>
        </p:txBody>
      </p:sp>
      <p:sp>
        <p:nvSpPr>
          <p:cNvPr id="22" name="Text 17"/>
          <p:cNvSpPr/>
          <p:nvPr/>
        </p:nvSpPr>
        <p:spPr>
          <a:xfrm>
            <a:off x="9223781" y="3031744"/>
            <a:ext cx="2181530" cy="566928"/>
          </a:xfrm>
          <a:prstGeom prst="rect">
            <a:avLst/>
          </a:prstGeom>
          <a:noFill/>
          <a:ln/>
        </p:spPr>
        <p:txBody>
          <a:bodyPr wrap="square" lIns="0" tIns="0" rIns="0" bIns="0" rtlCol="0" anchor="t"/>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of 106,698 US military personnel (men)</a:t>
            </a:r>
            <a:endParaRPr lang="en-US" sz="1050" dirty="0"/>
          </a:p>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used bodybuilding supplements</a:t>
            </a:r>
            <a:endParaRPr lang="en-US" sz="1050" dirty="0"/>
          </a:p>
        </p:txBody>
      </p:sp>
      <p:sp>
        <p:nvSpPr>
          <p:cNvPr id="23" name="Text 18"/>
          <p:cNvSpPr/>
          <p:nvPr/>
        </p:nvSpPr>
        <p:spPr>
          <a:xfrm>
            <a:off x="9223781" y="3598672"/>
            <a:ext cx="2181530" cy="219456"/>
          </a:xfrm>
          <a:prstGeom prst="rect">
            <a:avLst/>
          </a:prstGeom>
          <a:noFill/>
          <a:ln/>
        </p:spPr>
        <p:txBody>
          <a:bodyPr wrap="square" lIns="0" tIns="0" rIns="0" bIns="0" rtlCol="0" anchor="ctr"/>
          <a:lstStyle/>
          <a:p>
            <a:pPr indent="0" marL="0">
              <a:buNone/>
            </a:pPr>
            <a:r>
              <a:rPr lang="en-US" sz="900" b="1" dirty="0">
                <a:solidFill>
                  <a:srgbClr val="FF7900"/>
                </a:solidFill>
                <a:latin typeface="Courier New" pitchFamily="34" charset="0"/>
                <a:ea typeface="Courier New" pitchFamily="34" charset="-122"/>
                <a:cs typeface="Courier New" pitchFamily="34" charset="-120"/>
              </a:rPr>
              <a:t>[1, p. 2]</a:t>
            </a:r>
            <a:endParaRPr lang="en-US" sz="900" dirty="0"/>
          </a:p>
        </p:txBody>
      </p:sp>
      <p:sp>
        <p:nvSpPr>
          <p:cNvPr id="24" name="Shape 19"/>
          <p:cNvSpPr/>
          <p:nvPr/>
        </p:nvSpPr>
        <p:spPr>
          <a:xfrm>
            <a:off x="566928" y="4074160"/>
            <a:ext cx="5669280" cy="1408176"/>
          </a:xfrm>
          <a:prstGeom prst="roundRect">
            <a:avLst>
              <a:gd name="adj" fmla="val 3896"/>
            </a:avLst>
          </a:prstGeom>
          <a:solidFill>
            <a:srgbClr val="0E1A2B"/>
          </a:solidFill>
          <a:ln w="9525">
            <a:solidFill>
              <a:srgbClr val="0E1A2B"/>
            </a:solidFill>
            <a:prstDash val="solid"/>
          </a:ln>
          <a:effectLst>
            <a:outerShdw sx="100000" sy="100000" kx="0" ky="0" algn="bl" rotWithShape="0" blurRad="127000" dist="508" dir="5400000">
              <a:srgbClr val="000000">
                <a:alpha val="9000"/>
              </a:srgbClr>
            </a:outerShdw>
          </a:effectLst>
        </p:spPr>
      </p:sp>
      <p:sp>
        <p:nvSpPr>
          <p:cNvPr id="25" name="Text 20"/>
          <p:cNvSpPr/>
          <p:nvPr/>
        </p:nvSpPr>
        <p:spPr>
          <a:xfrm>
            <a:off x="804672" y="4220464"/>
            <a:ext cx="5212080" cy="2743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And the market is larger than the evidence</a:t>
            </a:r>
            <a:endParaRPr lang="en-US" sz="1450" dirty="0"/>
          </a:p>
        </p:txBody>
      </p:sp>
      <p:sp>
        <p:nvSpPr>
          <p:cNvPr id="26" name="Text 21"/>
          <p:cNvSpPr/>
          <p:nvPr/>
        </p:nvSpPr>
        <p:spPr>
          <a:xfrm>
            <a:off x="804672" y="4531360"/>
            <a:ext cx="5212080" cy="859536"/>
          </a:xfrm>
          <a:prstGeom prst="rect">
            <a:avLst/>
          </a:prstGeom>
          <a:noFill/>
          <a:ln/>
        </p:spPr>
        <p:txBody>
          <a:bodyPr wrap="square" lIns="0" tIns="0" rIns="0" bIns="0" rtlCol="0" anchor="t"/>
          <a:lstStyle/>
          <a:p>
            <a:pPr indent="0" marL="0">
              <a:lnSpc>
                <a:spcPts val="1400"/>
              </a:lnSpc>
              <a:buNone/>
            </a:pPr>
            <a:r>
              <a:rPr lang="en-US" sz="1050" dirty="0">
                <a:solidFill>
                  <a:srgbClr val="8FA3B8"/>
                </a:solidFill>
                <a:latin typeface="Calibri" pitchFamily="34" charset="0"/>
                <a:ea typeface="Calibri" pitchFamily="34" charset="-122"/>
                <a:cs typeface="Calibri" pitchFamily="34" charset="-120"/>
              </a:rPr>
              <a:t>Sports nutrition supplements were $5.67 billion of retail sales in 2016 — 13.8% of the $41.16 billion dietary supplement category [1, p. 1]. Spending is not the constraint. Knowing what is actually supported is.</a:t>
            </a:r>
            <a:endParaRPr lang="en-US" sz="1050" dirty="0"/>
          </a:p>
        </p:txBody>
      </p:sp>
      <p:sp>
        <p:nvSpPr>
          <p:cNvPr id="27" name="Shape 22"/>
          <p:cNvSpPr/>
          <p:nvPr/>
        </p:nvSpPr>
        <p:spPr>
          <a:xfrm>
            <a:off x="6455664" y="4074160"/>
            <a:ext cx="5169103" cy="1408176"/>
          </a:xfrm>
          <a:prstGeom prst="roundRect">
            <a:avLst>
              <a:gd name="adj" fmla="val 3896"/>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8" name="Text 23"/>
          <p:cNvSpPr/>
          <p:nvPr/>
        </p:nvSpPr>
        <p:spPr>
          <a:xfrm>
            <a:off x="6693408" y="4220464"/>
            <a:ext cx="4846320" cy="274320"/>
          </a:xfrm>
          <a:prstGeom prst="rect">
            <a:avLst/>
          </a:prstGeom>
          <a:noFill/>
          <a:ln/>
        </p:spPr>
        <p:txBody>
          <a:bodyPr wrap="square" lIns="0" tIns="0" rIns="0" bIns="0" rtlCol="0" anchor="ctr"/>
          <a:lstStyle/>
          <a:p>
            <a:pPr indent="0" marL="0">
              <a:buNone/>
            </a:pPr>
            <a:r>
              <a:rPr lang="en-US" sz="1450" b="1" dirty="0">
                <a:solidFill>
                  <a:srgbClr val="0E1A2B"/>
                </a:solidFill>
                <a:latin typeface="Cambria" pitchFamily="34" charset="0"/>
                <a:ea typeface="Cambria" pitchFamily="34" charset="-122"/>
                <a:cs typeface="Cambria" pitchFamily="34" charset="-120"/>
              </a:rPr>
              <a:t>Why more information does not fix it</a:t>
            </a:r>
            <a:endParaRPr lang="en-US" sz="1450" dirty="0"/>
          </a:p>
        </p:txBody>
      </p:sp>
      <p:sp>
        <p:nvSpPr>
          <p:cNvPr id="29" name="Text 24"/>
          <p:cNvSpPr/>
          <p:nvPr/>
        </p:nvSpPr>
        <p:spPr>
          <a:xfrm>
            <a:off x="6693408" y="4531360"/>
            <a:ext cx="4693615" cy="896112"/>
          </a:xfrm>
          <a:prstGeom prst="rect">
            <a:avLst/>
          </a:prstGeom>
          <a:noFill/>
          <a:ln/>
        </p:spPr>
        <p:txBody>
          <a:bodyPr wrap="square" lIns="0" tIns="0" rIns="0" bIns="0" rtlCol="0" anchor="t"/>
          <a:lstStyle/>
          <a:p>
            <a:pPr indent="0" marL="0">
              <a:lnSpc>
                <a:spcPts val="1350"/>
              </a:lnSpc>
              <a:buNone/>
            </a:pPr>
            <a:r>
              <a:rPr lang="en-US" sz="1050" dirty="0">
                <a:solidFill>
                  <a:srgbClr val="46566B"/>
                </a:solidFill>
                <a:latin typeface="Calibri" pitchFamily="34" charset="0"/>
                <a:ea typeface="Calibri" pitchFamily="34" charset="-122"/>
                <a:cs typeface="Calibri" pitchFamily="34" charset="-120"/>
              </a:rPr>
              <a:t>The National Athletic Trainers' Association notes that study outcomes are often equivocal, which makes these substances controversial and confusing to use [1, p. 2]. Most trials enrol only conditioned athletes, and the market sells blends while the research tests single ingredients [1, p. 2].</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6108192"/>
            <a:ext cx="4306229" cy="585216"/>
          </a:xfrm>
          <a:prstGeom prst="roundRect">
            <a:avLst>
              <a:gd name="adj" fmla="val 9375"/>
            </a:avLst>
          </a:prstGeom>
          <a:solidFill>
            <a:srgbClr val="FFFFFF"/>
          </a:solidFill>
          <a:ln w="12700">
            <a:solidFill>
              <a:srgbClr val="FFFFFF"/>
            </a:solidFill>
            <a:prstDash val="solid"/>
          </a:ln>
        </p:spPr>
      </p:sp>
      <p:pic>
        <p:nvPicPr>
          <p:cNvPr id="3" name="Image 0" descr="/Users/Marwan/Projects/athletic-dietry-rag/presentation/assets/logos/creativa.png">    </p:cNvPr>
          <p:cNvPicPr>
            <a:picLocks noChangeAspect="1"/>
          </p:cNvPicPr>
          <p:nvPr/>
        </p:nvPicPr>
        <p:blipFill>
          <a:blip r:embed="rId1"/>
          <a:stretch>
            <a:fillRect/>
          </a:stretch>
        </p:blipFill>
        <p:spPr>
          <a:xfrm>
            <a:off x="731520" y="6208776"/>
            <a:ext cx="356021" cy="384048"/>
          </a:xfrm>
          <a:prstGeom prst="rect">
            <a:avLst/>
          </a:prstGeom>
        </p:spPr>
      </p:pic>
      <p:pic>
        <p:nvPicPr>
          <p:cNvPr id="4" name="Image 1" descr="/Users/Marwan/Projects/athletic-dietry-rag/presentation/assets/logos/instant.png">    </p:cNvPr>
          <p:cNvPicPr>
            <a:picLocks noChangeAspect="1"/>
          </p:cNvPicPr>
          <p:nvPr/>
        </p:nvPicPr>
        <p:blipFill>
          <a:blip r:embed="rId2"/>
          <a:stretch>
            <a:fillRect/>
          </a:stretch>
        </p:blipFill>
        <p:spPr>
          <a:xfrm>
            <a:off x="1416725" y="6305902"/>
            <a:ext cx="1481328" cy="189795"/>
          </a:xfrm>
          <a:prstGeom prst="rect">
            <a:avLst/>
          </a:prstGeom>
        </p:spPr>
      </p:pic>
      <p:pic>
        <p:nvPicPr>
          <p:cNvPr id="5" name="Image 2" descr="/Users/Marwan/Projects/athletic-dietry-rag/presentation/assets/logos/orange.png">    </p:cNvPr>
          <p:cNvPicPr>
            <a:picLocks noChangeAspect="1"/>
          </p:cNvPicPr>
          <p:nvPr/>
        </p:nvPicPr>
        <p:blipFill>
          <a:blip r:embed="rId3"/>
          <a:stretch>
            <a:fillRect/>
          </a:stretch>
        </p:blipFill>
        <p:spPr>
          <a:xfrm>
            <a:off x="3227237" y="6240122"/>
            <a:ext cx="1481328" cy="321355"/>
          </a:xfrm>
          <a:prstGeom prst="rect">
            <a:avLst/>
          </a:prstGeom>
        </p:spPr>
      </p:pic>
      <p:sp>
        <p:nvSpPr>
          <p:cNvPr id="6" name="Text 1"/>
          <p:cNvSpPr/>
          <p:nvPr/>
        </p:nvSpPr>
        <p:spPr>
          <a:xfrm>
            <a:off x="566928" y="1700784"/>
            <a:ext cx="2011680" cy="1956816"/>
          </a:xfrm>
          <a:prstGeom prst="rect">
            <a:avLst/>
          </a:prstGeom>
          <a:noFill/>
          <a:ln/>
        </p:spPr>
        <p:txBody>
          <a:bodyPr wrap="square" lIns="0" tIns="0" rIns="0" bIns="0" rtlCol="0" anchor="ctr"/>
          <a:lstStyle/>
          <a:p>
            <a:pPr indent="0" marL="0">
              <a:buNone/>
            </a:pPr>
            <a:r>
              <a:rPr lang="en-US" sz="11600" b="1" dirty="0">
                <a:solidFill>
                  <a:srgbClr val="2A3D55"/>
                </a:solidFill>
                <a:latin typeface="Cambria" pitchFamily="34" charset="0"/>
                <a:ea typeface="Cambria" pitchFamily="34" charset="-122"/>
                <a:cs typeface="Cambria" pitchFamily="34" charset="-120"/>
              </a:rPr>
              <a:t>05</a:t>
            </a:r>
            <a:endParaRPr lang="en-US" sz="11600" dirty="0"/>
          </a:p>
        </p:txBody>
      </p:sp>
      <p:sp>
        <p:nvSpPr>
          <p:cNvPr id="7" name="Text 2"/>
          <p:cNvSpPr/>
          <p:nvPr/>
        </p:nvSpPr>
        <p:spPr>
          <a:xfrm>
            <a:off x="2441448" y="1956816"/>
            <a:ext cx="9183319" cy="274320"/>
          </a:xfrm>
          <a:prstGeom prst="rect">
            <a:avLst/>
          </a:prstGeom>
          <a:noFill/>
          <a:ln/>
        </p:spPr>
        <p:txBody>
          <a:bodyPr wrap="square" lIns="0" tIns="0" rIns="0" bIns="0" rtlCol="0" anchor="ctr"/>
          <a:lstStyle/>
          <a:p>
            <a:pPr indent="0" marL="0">
              <a:buNone/>
            </a:pPr>
            <a:r>
              <a:rPr lang="en-US" sz="1100" b="1" spc="160" kern="0" dirty="0">
                <a:solidFill>
                  <a:srgbClr val="FF7900"/>
                </a:solidFill>
                <a:latin typeface="Calibri" pitchFamily="34" charset="0"/>
                <a:ea typeface="Calibri" pitchFamily="34" charset="-122"/>
                <a:cs typeface="Calibri" pitchFamily="34" charset="-120"/>
              </a:rPr>
              <a:t>SECTION FIVE</a:t>
            </a:r>
            <a:endParaRPr lang="en-US" sz="1100" dirty="0"/>
          </a:p>
        </p:txBody>
      </p:sp>
      <p:sp>
        <p:nvSpPr>
          <p:cNvPr id="8" name="Text 3"/>
          <p:cNvSpPr/>
          <p:nvPr/>
        </p:nvSpPr>
        <p:spPr>
          <a:xfrm>
            <a:off x="2414016" y="2231136"/>
            <a:ext cx="9046159" cy="1005840"/>
          </a:xfrm>
          <a:prstGeom prst="rect">
            <a:avLst/>
          </a:prstGeom>
          <a:noFill/>
          <a:ln/>
        </p:spPr>
        <p:txBody>
          <a:bodyPr wrap="square" lIns="0" tIns="0" rIns="0" bIns="0" rtlCol="0" anchor="t"/>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The technical work</a:t>
            </a:r>
            <a:endParaRPr lang="en-US" sz="3400" dirty="0"/>
          </a:p>
        </p:txBody>
      </p:sp>
      <p:sp>
        <p:nvSpPr>
          <p:cNvPr id="9" name="Text 4"/>
          <p:cNvSpPr/>
          <p:nvPr/>
        </p:nvSpPr>
        <p:spPr>
          <a:xfrm>
            <a:off x="2441448" y="3438144"/>
            <a:ext cx="8680399" cy="731520"/>
          </a:xfrm>
          <a:prstGeom prst="rect">
            <a:avLst/>
          </a:prstGeom>
          <a:noFill/>
          <a:ln/>
        </p:spPr>
        <p:txBody>
          <a:bodyPr wrap="square" lIns="0" tIns="0" rIns="0" bIns="0" rtlCol="0" anchor="t"/>
          <a:lstStyle/>
          <a:p>
            <a:pPr indent="0" marL="0">
              <a:lnSpc>
                <a:spcPts val="1900"/>
              </a:lnSpc>
              <a:buNone/>
            </a:pPr>
            <a:r>
              <a:rPr lang="en-US" sz="1350" i="1" dirty="0">
                <a:solidFill>
                  <a:srgbClr val="8FA3B8"/>
                </a:solidFill>
                <a:latin typeface="Calibri" pitchFamily="34" charset="0"/>
                <a:ea typeface="Calibri" pitchFamily="34" charset="-122"/>
                <a:cs typeface="Calibri" pitchFamily="34" charset="-120"/>
              </a:rPr>
              <a:t>Four layers, each with the defect that taught us how to build it. Every number that follows was measured, not estimated.</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LAYER 1 · INGESTION</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A PDF has no headings. The whole pipeline depends on them.</a:t>
            </a:r>
            <a:endParaRPr lang="en-US" sz="3000" dirty="0"/>
          </a:p>
        </p:txBody>
      </p:sp>
      <p:sp>
        <p:nvSpPr>
          <p:cNvPr id="7" name="Text 2"/>
          <p:cNvSpPr/>
          <p:nvPr/>
        </p:nvSpPr>
        <p:spPr>
          <a:xfrm>
            <a:off x="566928" y="1880616"/>
            <a:ext cx="5212080" cy="201168"/>
          </a:xfrm>
          <a:prstGeom prst="rect">
            <a:avLst/>
          </a:prstGeom>
          <a:noFill/>
          <a:ln/>
        </p:spPr>
        <p:txBody>
          <a:bodyPr wrap="square" lIns="0" tIns="0" rIns="0" bIns="0" rtlCol="0" anchor="ctr"/>
          <a:lstStyle/>
          <a:p>
            <a:pPr indent="0" marL="0">
              <a:buNone/>
            </a:pPr>
            <a:r>
              <a:rPr lang="en-US" sz="850" b="1" spc="110" kern="0" dirty="0">
                <a:solidFill>
                  <a:srgbClr val="FF7900"/>
                </a:solidFill>
                <a:latin typeface="Calibri" pitchFamily="34" charset="0"/>
                <a:ea typeface="Calibri" pitchFamily="34" charset="-122"/>
                <a:cs typeface="Calibri" pitchFamily="34" charset="-120"/>
              </a:rPr>
              <a:t>THE CONSTRAINT</a:t>
            </a:r>
            <a:endParaRPr lang="en-US" sz="850" dirty="0"/>
          </a:p>
        </p:txBody>
      </p:sp>
      <p:sp>
        <p:nvSpPr>
          <p:cNvPr id="8" name="Text 3"/>
          <p:cNvSpPr/>
          <p:nvPr/>
        </p:nvSpPr>
        <p:spPr>
          <a:xfrm>
            <a:off x="566928" y="2090928"/>
            <a:ext cx="5212080" cy="736600"/>
          </a:xfrm>
          <a:prstGeom prst="rect">
            <a:avLst/>
          </a:prstGeom>
          <a:noFill/>
          <a:ln/>
        </p:spPr>
        <p:txBody>
          <a:bodyPr wrap="square" lIns="0" tIns="0" rIns="0" bIns="0" rtlCol="0" anchor="t"/>
          <a:lstStyle/>
          <a:p>
            <a:pPr indent="0" marL="0">
              <a:lnSpc>
                <a:spcPts val="1450"/>
              </a:lnSpc>
              <a:buNone/>
            </a:pPr>
            <a:r>
              <a:rPr lang="en-US" sz="1100" dirty="0">
                <a:solidFill>
                  <a:srgbClr val="39485C"/>
                </a:solidFill>
                <a:latin typeface="Calibri" pitchFamily="34" charset="0"/>
                <a:ea typeface="Calibri" pitchFamily="34" charset="-122"/>
                <a:cs typeface="Calibri" pitchFamily="34" charset="-120"/>
              </a:rPr>
              <a:t>Chunks are cut at headings and stamped with their heading path — “Creatine &gt; Efficacy”. Those breadcrumbs are load-bearing: they stop a chunk mixing two ingredients and let every chunk state its own subject. A PDF contains none of it — only glyphs at coordinates.</a:t>
            </a:r>
            <a:endParaRPr lang="en-US" sz="1100" dirty="0"/>
          </a:p>
        </p:txBody>
      </p:sp>
      <p:sp>
        <p:nvSpPr>
          <p:cNvPr id="9" name="Text 4"/>
          <p:cNvSpPr/>
          <p:nvPr/>
        </p:nvSpPr>
        <p:spPr>
          <a:xfrm>
            <a:off x="566928" y="2992120"/>
            <a:ext cx="5212080" cy="201168"/>
          </a:xfrm>
          <a:prstGeom prst="rect">
            <a:avLst/>
          </a:prstGeom>
          <a:noFill/>
          <a:ln/>
        </p:spPr>
        <p:txBody>
          <a:bodyPr wrap="square" lIns="0" tIns="0" rIns="0" bIns="0" rtlCol="0" anchor="ctr"/>
          <a:lstStyle/>
          <a:p>
            <a:pPr indent="0" marL="0">
              <a:buNone/>
            </a:pPr>
            <a:r>
              <a:rPr lang="en-US" sz="850" b="1" spc="110" kern="0" dirty="0">
                <a:solidFill>
                  <a:srgbClr val="FF7900"/>
                </a:solidFill>
                <a:latin typeface="Calibri" pitchFamily="34" charset="0"/>
                <a:ea typeface="Calibri" pitchFamily="34" charset="-122"/>
                <a:cs typeface="Calibri" pitchFamily="34" charset="-120"/>
              </a:rPr>
              <a:t>WHAT WE DID</a:t>
            </a:r>
            <a:endParaRPr lang="en-US" sz="850" dirty="0"/>
          </a:p>
        </p:txBody>
      </p:sp>
      <p:sp>
        <p:nvSpPr>
          <p:cNvPr id="10" name="Text 5"/>
          <p:cNvSpPr/>
          <p:nvPr/>
        </p:nvSpPr>
        <p:spPr>
          <a:xfrm>
            <a:off x="566928" y="3202432"/>
            <a:ext cx="5212080" cy="736600"/>
          </a:xfrm>
          <a:prstGeom prst="rect">
            <a:avLst/>
          </a:prstGeom>
          <a:noFill/>
          <a:ln/>
        </p:spPr>
        <p:txBody>
          <a:bodyPr wrap="square" lIns="0" tIns="0" rIns="0" bIns="0" rtlCol="0" anchor="t"/>
          <a:lstStyle/>
          <a:p>
            <a:pPr indent="0" marL="0">
              <a:lnSpc>
                <a:spcPts val="1450"/>
              </a:lnSpc>
              <a:buNone/>
            </a:pPr>
            <a:r>
              <a:rPr lang="en-US" sz="1100" dirty="0">
                <a:solidFill>
                  <a:srgbClr val="39485C"/>
                </a:solidFill>
                <a:latin typeface="Calibri" pitchFamily="34" charset="0"/>
                <a:ea typeface="Calibri" pitchFamily="34" charset="-122"/>
                <a:cs typeface="Calibri" pitchFamily="34" charset="-120"/>
              </a:rPr>
              <a:t>PdfReader recovers structure from the one signal that survives into the file. Distinct font sizes above the body size are ranked and mapped onto heading levels 1..N. Paragraphs are rejoined by noticing which lines stop short of the right margin. Nothing is hard-coded to this document.</a:t>
            </a:r>
            <a:endParaRPr lang="en-US" sz="1100" dirty="0"/>
          </a:p>
        </p:txBody>
      </p:sp>
      <p:sp>
        <p:nvSpPr>
          <p:cNvPr id="11" name="Text 6"/>
          <p:cNvSpPr/>
          <p:nvPr/>
        </p:nvSpPr>
        <p:spPr>
          <a:xfrm>
            <a:off x="566928" y="4103624"/>
            <a:ext cx="5212080" cy="201168"/>
          </a:xfrm>
          <a:prstGeom prst="rect">
            <a:avLst/>
          </a:prstGeom>
          <a:noFill/>
          <a:ln/>
        </p:spPr>
        <p:txBody>
          <a:bodyPr wrap="square" lIns="0" tIns="0" rIns="0" bIns="0" rtlCol="0" anchor="ctr"/>
          <a:lstStyle/>
          <a:p>
            <a:pPr indent="0" marL="0">
              <a:buNone/>
            </a:pPr>
            <a:r>
              <a:rPr lang="en-US" sz="850" b="1" spc="110" kern="0" dirty="0">
                <a:solidFill>
                  <a:srgbClr val="B3261E"/>
                </a:solidFill>
                <a:latin typeface="Calibri" pitchFamily="34" charset="0"/>
                <a:ea typeface="Calibri" pitchFamily="34" charset="-122"/>
                <a:cs typeface="Calibri" pitchFamily="34" charset="-120"/>
              </a:rPr>
              <a:t>THE DEFECT IT TOOK TO GET RIGHT</a:t>
            </a:r>
            <a:endParaRPr lang="en-US" sz="850" dirty="0"/>
          </a:p>
        </p:txBody>
      </p:sp>
      <p:sp>
        <p:nvSpPr>
          <p:cNvPr id="12" name="Text 7"/>
          <p:cNvSpPr/>
          <p:nvPr/>
        </p:nvSpPr>
        <p:spPr>
          <a:xfrm>
            <a:off x="566928" y="4313936"/>
            <a:ext cx="5212080" cy="1104900"/>
          </a:xfrm>
          <a:prstGeom prst="rect">
            <a:avLst/>
          </a:prstGeom>
          <a:noFill/>
          <a:ln/>
        </p:spPr>
        <p:txBody>
          <a:bodyPr wrap="square" lIns="0" tIns="0" rIns="0" bIns="0" rtlCol="0" anchor="t"/>
          <a:lstStyle/>
          <a:p>
            <a:pPr indent="0" marL="0">
              <a:lnSpc>
                <a:spcPts val="1450"/>
              </a:lnSpc>
              <a:buNone/>
            </a:pPr>
            <a:r>
              <a:rPr lang="en-US" sz="1100" dirty="0">
                <a:solidFill>
                  <a:srgbClr val="39485C"/>
                </a:solidFill>
                <a:latin typeface="Calibri" pitchFamily="34" charset="0"/>
                <a:ea typeface="Calibri" pitchFamily="34" charset="-122"/>
                <a:cs typeface="Calibri" pitchFamily="34" charset="-120"/>
              </a:rPr>
              <a:t>Our first running-head filter dropped short lines that repeated across most pages. In this document “Efficacy” and “Safety” head a subsection under each of ~21 ingredients — so they repeat, and they were deleted. 36 headings recovered where the source has 95. A running head is now defined by position as well as repetition: it must repeat and sit in the top or bottom 8% of the page.</a:t>
            </a:r>
            <a:endParaRPr lang="en-US" sz="1100" dirty="0"/>
          </a:p>
        </p:txBody>
      </p:sp>
      <p:sp>
        <p:nvSpPr>
          <p:cNvPr id="13" name="Shape 8"/>
          <p:cNvSpPr/>
          <p:nvPr/>
        </p:nvSpPr>
        <p:spPr>
          <a:xfrm>
            <a:off x="6089904" y="1880616"/>
            <a:ext cx="5534863" cy="1572768"/>
          </a:xfrm>
          <a:prstGeom prst="roundRect">
            <a:avLst>
              <a:gd name="adj" fmla="val 3488"/>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4" name="Text 9"/>
          <p:cNvSpPr/>
          <p:nvPr/>
        </p:nvSpPr>
        <p:spPr>
          <a:xfrm>
            <a:off x="6327648" y="2026920"/>
            <a:ext cx="2743200" cy="237744"/>
          </a:xfrm>
          <a:prstGeom prst="rect">
            <a:avLst/>
          </a:prstGeom>
          <a:noFill/>
          <a:ln/>
        </p:spPr>
        <p:txBody>
          <a:bodyPr wrap="square" lIns="0" tIns="0" rIns="0" bIns="0" rtlCol="0" anchor="ctr"/>
          <a:lstStyle/>
          <a:p>
            <a:pPr indent="0" marL="0">
              <a:buNone/>
            </a:pPr>
            <a:r>
              <a:rPr lang="en-US" sz="1000" b="1" spc="80" kern="0" dirty="0">
                <a:solidFill>
                  <a:srgbClr val="6B7A8C"/>
                </a:solidFill>
                <a:latin typeface="Calibri" pitchFamily="34" charset="0"/>
                <a:ea typeface="Calibri" pitchFamily="34" charset="-122"/>
                <a:cs typeface="Calibri" pitchFamily="34" charset="-120"/>
              </a:rPr>
              <a:t>Headings recovered</a:t>
            </a:r>
            <a:endParaRPr lang="en-US" sz="1000" dirty="0"/>
          </a:p>
        </p:txBody>
      </p:sp>
      <p:sp>
        <p:nvSpPr>
          <p:cNvPr id="15" name="Text 10"/>
          <p:cNvSpPr/>
          <p:nvPr/>
        </p:nvSpPr>
        <p:spPr>
          <a:xfrm>
            <a:off x="6327648" y="2319528"/>
            <a:ext cx="1371600" cy="640080"/>
          </a:xfrm>
          <a:prstGeom prst="rect">
            <a:avLst/>
          </a:prstGeom>
          <a:noFill/>
          <a:ln/>
        </p:spPr>
        <p:txBody>
          <a:bodyPr wrap="square" lIns="0" tIns="0" rIns="0" bIns="0" rtlCol="0" anchor="ctr"/>
          <a:lstStyle/>
          <a:p>
            <a:pPr algn="l" indent="0" marL="0">
              <a:buNone/>
            </a:pPr>
            <a:r>
              <a:rPr lang="en-US" sz="4200" b="1" dirty="0">
                <a:solidFill>
                  <a:srgbClr val="B3261E"/>
                </a:solidFill>
                <a:latin typeface="Cambria" pitchFamily="34" charset="0"/>
                <a:ea typeface="Cambria" pitchFamily="34" charset="-122"/>
                <a:cs typeface="Cambria" pitchFamily="34" charset="-120"/>
              </a:rPr>
              <a:t>36</a:t>
            </a:r>
            <a:endParaRPr lang="en-US" sz="4200" dirty="0"/>
          </a:p>
        </p:txBody>
      </p:sp>
      <p:sp>
        <p:nvSpPr>
          <p:cNvPr id="16" name="Text 11"/>
          <p:cNvSpPr/>
          <p:nvPr/>
        </p:nvSpPr>
        <p:spPr>
          <a:xfrm>
            <a:off x="6327648" y="2959608"/>
            <a:ext cx="1371600" cy="274320"/>
          </a:xfrm>
          <a:prstGeom prst="rect">
            <a:avLst/>
          </a:prstGeom>
          <a:noFill/>
          <a:ln/>
        </p:spPr>
        <p:txBody>
          <a:bodyPr wrap="square" lIns="0" tIns="0" rIns="0" bIns="0" rtlCol="0" anchor="t"/>
          <a:lstStyle/>
          <a:p>
            <a:pPr algn="l" indent="0" marL="0">
              <a:lnSpc>
                <a:spcPts val="1400"/>
              </a:lnSpc>
              <a:buNone/>
            </a:pPr>
            <a:r>
              <a:rPr lang="en-US" sz="1000" dirty="0">
                <a:solidFill>
                  <a:srgbClr val="6B7A8C"/>
                </a:solidFill>
                <a:latin typeface="Calibri" pitchFamily="34" charset="0"/>
                <a:ea typeface="Calibri" pitchFamily="34" charset="-122"/>
                <a:cs typeface="Calibri" pitchFamily="34" charset="-120"/>
              </a:rPr>
              <a:t>first attempt</a:t>
            </a:r>
            <a:endParaRPr lang="en-US" sz="1000" dirty="0"/>
          </a:p>
        </p:txBody>
      </p:sp>
      <p:sp>
        <p:nvSpPr>
          <p:cNvPr id="17" name="Text 12"/>
          <p:cNvSpPr/>
          <p:nvPr/>
        </p:nvSpPr>
        <p:spPr>
          <a:xfrm>
            <a:off x="7699248" y="2319528"/>
            <a:ext cx="548640" cy="640080"/>
          </a:xfrm>
          <a:prstGeom prst="rect">
            <a:avLst/>
          </a:prstGeom>
          <a:noFill/>
          <a:ln/>
        </p:spPr>
        <p:txBody>
          <a:bodyPr wrap="square" lIns="0" tIns="0" rIns="0" bIns="0" rtlCol="0" anchor="ctr"/>
          <a:lstStyle/>
          <a:p>
            <a:pPr algn="ctr" indent="0" marL="0">
              <a:buNone/>
            </a:pPr>
            <a:r>
              <a:rPr lang="en-US" sz="2200" dirty="0">
                <a:solidFill>
                  <a:srgbClr val="6B7A8C"/>
                </a:solidFill>
                <a:latin typeface="Calibri" pitchFamily="34" charset="0"/>
                <a:ea typeface="Calibri" pitchFamily="34" charset="-122"/>
                <a:cs typeface="Calibri" pitchFamily="34" charset="-120"/>
              </a:rPr>
              <a:t>→</a:t>
            </a:r>
            <a:endParaRPr lang="en-US" sz="2200" dirty="0"/>
          </a:p>
        </p:txBody>
      </p:sp>
      <p:sp>
        <p:nvSpPr>
          <p:cNvPr id="18" name="Text 13"/>
          <p:cNvSpPr/>
          <p:nvPr/>
        </p:nvSpPr>
        <p:spPr>
          <a:xfrm>
            <a:off x="8247888" y="2319528"/>
            <a:ext cx="1463040" cy="640080"/>
          </a:xfrm>
          <a:prstGeom prst="rect">
            <a:avLst/>
          </a:prstGeom>
          <a:noFill/>
          <a:ln/>
        </p:spPr>
        <p:txBody>
          <a:bodyPr wrap="square" lIns="0" tIns="0" rIns="0" bIns="0" rtlCol="0" anchor="ctr"/>
          <a:lstStyle/>
          <a:p>
            <a:pPr algn="l" indent="0" marL="0">
              <a:buNone/>
            </a:pPr>
            <a:r>
              <a:rPr lang="en-US" sz="4200" b="1" dirty="0">
                <a:solidFill>
                  <a:srgbClr val="0E7C5A"/>
                </a:solidFill>
                <a:latin typeface="Cambria" pitchFamily="34" charset="0"/>
                <a:ea typeface="Cambria" pitchFamily="34" charset="-122"/>
                <a:cs typeface="Cambria" pitchFamily="34" charset="-120"/>
              </a:rPr>
              <a:t>95</a:t>
            </a:r>
            <a:endParaRPr lang="en-US" sz="4200" dirty="0"/>
          </a:p>
        </p:txBody>
      </p:sp>
      <p:sp>
        <p:nvSpPr>
          <p:cNvPr id="19" name="Text 14"/>
          <p:cNvSpPr/>
          <p:nvPr/>
        </p:nvSpPr>
        <p:spPr>
          <a:xfrm>
            <a:off x="8247888" y="2959608"/>
            <a:ext cx="1463040" cy="533400"/>
          </a:xfrm>
          <a:prstGeom prst="rect">
            <a:avLst/>
          </a:prstGeom>
          <a:noFill/>
          <a:ln/>
        </p:spPr>
        <p:txBody>
          <a:bodyPr wrap="square" lIns="0" tIns="0" rIns="0" bIns="0" rtlCol="0" anchor="t"/>
          <a:lstStyle/>
          <a:p>
            <a:pPr algn="l" indent="0" marL="0">
              <a:lnSpc>
                <a:spcPts val="1400"/>
              </a:lnSpc>
              <a:buNone/>
            </a:pPr>
            <a:r>
              <a:rPr lang="en-US" sz="1000" dirty="0">
                <a:solidFill>
                  <a:srgbClr val="6B7A8C"/>
                </a:solidFill>
                <a:latin typeface="Calibri" pitchFamily="34" charset="0"/>
                <a:ea typeface="Calibri" pitchFamily="34" charset="-122"/>
                <a:cs typeface="Calibri" pitchFamily="34" charset="-120"/>
              </a:rPr>
              <a:t>after the fix — matching the source structure</a:t>
            </a:r>
            <a:endParaRPr lang="en-US" sz="1000" dirty="0"/>
          </a:p>
        </p:txBody>
      </p:sp>
      <p:sp>
        <p:nvSpPr>
          <p:cNvPr id="20" name="Text 15"/>
          <p:cNvSpPr/>
          <p:nvPr/>
        </p:nvSpPr>
        <p:spPr>
          <a:xfrm>
            <a:off x="6089904" y="3599688"/>
            <a:ext cx="5534863" cy="237744"/>
          </a:xfrm>
          <a:prstGeom prst="rect">
            <a:avLst/>
          </a:prstGeom>
          <a:noFill/>
          <a:ln/>
        </p:spPr>
        <p:txBody>
          <a:bodyPr wrap="square" lIns="0" tIns="0" rIns="0" bIns="0" rtlCol="0" anchor="ctr"/>
          <a:lstStyle/>
          <a:p>
            <a:pPr indent="0" marL="0">
              <a:buNone/>
            </a:pPr>
            <a:r>
              <a:rPr lang="en-US" sz="1000" b="1" spc="80" kern="0" dirty="0">
                <a:solidFill>
                  <a:srgbClr val="6B7A8C"/>
                </a:solidFill>
                <a:latin typeface="Calibri" pitchFamily="34" charset="0"/>
                <a:ea typeface="Calibri" pitchFamily="34" charset="-122"/>
                <a:cs typeface="Calibri" pitchFamily="34" charset="-120"/>
              </a:rPr>
              <a:t>Extraction quality — the notebook this replaced, and the pipeline now</a:t>
            </a:r>
            <a:endParaRPr lang="en-US" sz="1000" dirty="0"/>
          </a:p>
        </p:txBody>
      </p:sp>
      <p:graphicFrame>
        <p:nvGraphicFramePr>
          <p:cNvPr id="21" name="Chart 0" descr=""/>
          <p:cNvGraphicFramePr/>
          <p:nvPr/>
        </p:nvGraphicFramePr>
        <p:xfrm>
          <a:off x="6144768" y="3855720"/>
          <a:ext cx="5370271" cy="1298448"/>
        </p:xfrm>
        <a:graphic xmlns:a="http://schemas.openxmlformats.org/drawingml/2006/main">
          <a:graphicData uri="http://schemas.openxmlformats.org/drawingml/2006/chart">
            <c:chart xmlns:c="http://schemas.openxmlformats.org/drawingml/2006/chart" r:id="rId4"/>
          </a:graphicData>
        </a:graphic>
      </p:graphicFrame>
      <p:sp>
        <p:nvSpPr>
          <p:cNvPr id="22" name="Text 16"/>
          <p:cNvSpPr/>
          <p:nvPr/>
        </p:nvSpPr>
        <p:spPr>
          <a:xfrm>
            <a:off x="566928" y="5656580"/>
            <a:ext cx="5486400" cy="457200"/>
          </a:xfrm>
          <a:prstGeom prst="rect">
            <a:avLst/>
          </a:prstGeom>
          <a:noFill/>
          <a:ln/>
        </p:spPr>
        <p:txBody>
          <a:bodyPr wrap="square" lIns="0" tIns="0" rIns="0" bIns="0" rtlCol="0" anchor="ctr"/>
          <a:lstStyle/>
          <a:p>
            <a:pPr indent="0" marL="0">
              <a:lnSpc>
                <a:spcPts val="1400"/>
              </a:lnSpc>
              <a:buNone/>
            </a:pPr>
            <a:r>
              <a:rPr lang="en-US" sz="1050" i="1" dirty="0">
                <a:solidFill>
                  <a:srgbClr val="6B7A8C"/>
                </a:solidFill>
                <a:latin typeface="Calibri" pitchFamily="34" charset="0"/>
                <a:ea typeface="Calibri" pitchFamily="34" charset="-122"/>
                <a:cs typeface="Calibri" pitchFamily="34" charset="-120"/>
              </a:rPr>
              <a:t>286 chunks across 95 sections. 0 oversized, 0 tiny, 0 link-only, 0 without prose — and 37% fewer embeddings to pay for than the notebook produced.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LAYER 1 · PROVENANCE</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How a page number survives six stages of rewriting</a:t>
            </a:r>
            <a:endParaRPr lang="en-US" sz="3000" dirty="0"/>
          </a:p>
        </p:txBody>
      </p:sp>
      <p:sp>
        <p:nvSpPr>
          <p:cNvPr id="7" name="Shape 2"/>
          <p:cNvSpPr/>
          <p:nvPr/>
        </p:nvSpPr>
        <p:spPr>
          <a:xfrm>
            <a:off x="566928" y="1627632"/>
            <a:ext cx="292608" cy="292608"/>
          </a:xfrm>
          <a:prstGeom prst="ellipse">
            <a:avLst/>
          </a:prstGeom>
          <a:solidFill>
            <a:srgbClr val="FF7900"/>
          </a:solidFill>
          <a:ln w="12700">
            <a:solidFill>
              <a:srgbClr val="FF7900"/>
            </a:solidFill>
            <a:prstDash val="solid"/>
          </a:ln>
        </p:spPr>
      </p:sp>
      <p:sp>
        <p:nvSpPr>
          <p:cNvPr id="8" name="Text 3"/>
          <p:cNvSpPr/>
          <p:nvPr/>
        </p:nvSpPr>
        <p:spPr>
          <a:xfrm>
            <a:off x="566928" y="16276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4"/>
          <p:cNvSpPr/>
          <p:nvPr/>
        </p:nvSpPr>
        <p:spPr>
          <a:xfrm>
            <a:off x="987552" y="1572768"/>
            <a:ext cx="1700784" cy="256032"/>
          </a:xfrm>
          <a:prstGeom prst="rect">
            <a:avLst/>
          </a:prstGeom>
          <a:noFill/>
          <a:ln/>
        </p:spPr>
        <p:txBody>
          <a:bodyPr wrap="square" lIns="0" tIns="0" rIns="0" bIns="0" rtlCol="0" anchor="ctr"/>
          <a:lstStyle/>
          <a:p>
            <a:pPr indent="0" marL="0">
              <a:buNone/>
            </a:pPr>
            <a:r>
              <a:rPr lang="en-US" sz="1000" b="1" dirty="0">
                <a:solidFill>
                  <a:srgbClr val="0E1A2B"/>
                </a:solidFill>
                <a:latin typeface="Courier New" pitchFamily="34" charset="0"/>
                <a:ea typeface="Courier New" pitchFamily="34" charset="-122"/>
                <a:cs typeface="Courier New" pitchFamily="34" charset="-120"/>
              </a:rPr>
              <a:t>PdfReader</a:t>
            </a:r>
            <a:endParaRPr lang="en-US" sz="1000" dirty="0"/>
          </a:p>
        </p:txBody>
      </p:sp>
      <p:sp>
        <p:nvSpPr>
          <p:cNvPr id="10" name="Text 5"/>
          <p:cNvSpPr/>
          <p:nvPr/>
        </p:nvSpPr>
        <p:spPr>
          <a:xfrm>
            <a:off x="2724912" y="1572768"/>
            <a:ext cx="3529584" cy="457200"/>
          </a:xfrm>
          <a:prstGeom prst="rect">
            <a:avLst/>
          </a:prstGeom>
          <a:noFill/>
          <a:ln/>
        </p:spPr>
        <p:txBody>
          <a:bodyPr wrap="square" lIns="0" tIns="0" rIns="0" bIns="0" rtlCol="0" anchor="t"/>
          <a:lstStyle/>
          <a:p>
            <a:pPr indent="0" marL="0">
              <a:lnSpc>
                <a:spcPts val="1350"/>
              </a:lnSpc>
              <a:buNone/>
            </a:pPr>
            <a:r>
              <a:rPr lang="en-US" sz="1050" dirty="0">
                <a:solidFill>
                  <a:srgbClr val="46566B"/>
                </a:solidFill>
                <a:latin typeface="Calibri" pitchFamily="34" charset="0"/>
                <a:ea typeface="Calibri" pitchFamily="34" charset="-122"/>
                <a:cs typeface="Calibri" pitchFamily="34" charset="-120"/>
              </a:rPr>
              <a:t>prefixes each page's text with an HTML comment marker</a:t>
            </a:r>
            <a:endParaRPr lang="en-US" sz="1050" dirty="0"/>
          </a:p>
        </p:txBody>
      </p:sp>
      <p:sp>
        <p:nvSpPr>
          <p:cNvPr id="11" name="Shape 6"/>
          <p:cNvSpPr/>
          <p:nvPr/>
        </p:nvSpPr>
        <p:spPr>
          <a:xfrm>
            <a:off x="566928" y="2203704"/>
            <a:ext cx="292608" cy="292608"/>
          </a:xfrm>
          <a:prstGeom prst="ellipse">
            <a:avLst/>
          </a:prstGeom>
          <a:solidFill>
            <a:srgbClr val="FF7900"/>
          </a:solidFill>
          <a:ln w="12700">
            <a:solidFill>
              <a:srgbClr val="FF7900"/>
            </a:solidFill>
            <a:prstDash val="solid"/>
          </a:ln>
        </p:spPr>
      </p:sp>
      <p:sp>
        <p:nvSpPr>
          <p:cNvPr id="12" name="Text 7"/>
          <p:cNvSpPr/>
          <p:nvPr/>
        </p:nvSpPr>
        <p:spPr>
          <a:xfrm>
            <a:off x="566928" y="220370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8"/>
          <p:cNvSpPr/>
          <p:nvPr/>
        </p:nvSpPr>
        <p:spPr>
          <a:xfrm>
            <a:off x="987552" y="2148840"/>
            <a:ext cx="1700784" cy="256032"/>
          </a:xfrm>
          <a:prstGeom prst="rect">
            <a:avLst/>
          </a:prstGeom>
          <a:noFill/>
          <a:ln/>
        </p:spPr>
        <p:txBody>
          <a:bodyPr wrap="square" lIns="0" tIns="0" rIns="0" bIns="0" rtlCol="0" anchor="ctr"/>
          <a:lstStyle/>
          <a:p>
            <a:pPr indent="0" marL="0">
              <a:buNone/>
            </a:pPr>
            <a:r>
              <a:rPr lang="en-US" sz="1000" b="1" dirty="0">
                <a:solidFill>
                  <a:srgbClr val="0E1A2B"/>
                </a:solidFill>
                <a:latin typeface="Courier New" pitchFamily="34" charset="0"/>
                <a:ea typeface="Courier New" pitchFamily="34" charset="-122"/>
                <a:cs typeface="Courier New" pitchFamily="34" charset="-120"/>
              </a:rPr>
              <a:t>MarkdownCleaner</a:t>
            </a:r>
            <a:endParaRPr lang="en-US" sz="1000" dirty="0"/>
          </a:p>
        </p:txBody>
      </p:sp>
      <p:sp>
        <p:nvSpPr>
          <p:cNvPr id="14" name="Text 9"/>
          <p:cNvSpPr/>
          <p:nvPr/>
        </p:nvSpPr>
        <p:spPr>
          <a:xfrm>
            <a:off x="2724912" y="2148840"/>
            <a:ext cx="3529584" cy="457200"/>
          </a:xfrm>
          <a:prstGeom prst="rect">
            <a:avLst/>
          </a:prstGeom>
          <a:noFill/>
          <a:ln/>
        </p:spPr>
        <p:txBody>
          <a:bodyPr wrap="square" lIns="0" tIns="0" rIns="0" bIns="0" rtlCol="0" anchor="t"/>
          <a:lstStyle/>
          <a:p>
            <a:pPr indent="0" marL="0">
              <a:lnSpc>
                <a:spcPts val="1350"/>
              </a:lnSpc>
              <a:buNone/>
            </a:pPr>
            <a:r>
              <a:rPr lang="en-US" sz="1050" dirty="0">
                <a:solidFill>
                  <a:srgbClr val="46566B"/>
                </a:solidFill>
                <a:latin typeface="Calibri" pitchFamily="34" charset="0"/>
                <a:ea typeface="Calibri" pitchFamily="34" charset="-122"/>
                <a:cs typeface="Calibri" pitchFamily="34" charset="-120"/>
              </a:rPr>
              <a:t>rewrites nearly every character — and matches none of its patterns against an HTML comment</a:t>
            </a:r>
            <a:endParaRPr lang="en-US" sz="1050" dirty="0"/>
          </a:p>
        </p:txBody>
      </p:sp>
      <p:sp>
        <p:nvSpPr>
          <p:cNvPr id="15" name="Shape 10"/>
          <p:cNvSpPr/>
          <p:nvPr/>
        </p:nvSpPr>
        <p:spPr>
          <a:xfrm>
            <a:off x="566928" y="2779776"/>
            <a:ext cx="292608" cy="292608"/>
          </a:xfrm>
          <a:prstGeom prst="ellipse">
            <a:avLst/>
          </a:prstGeom>
          <a:solidFill>
            <a:srgbClr val="FF7900"/>
          </a:solidFill>
          <a:ln w="12700">
            <a:solidFill>
              <a:srgbClr val="FF7900"/>
            </a:solidFill>
            <a:prstDash val="solid"/>
          </a:ln>
        </p:spPr>
      </p:sp>
      <p:sp>
        <p:nvSpPr>
          <p:cNvPr id="16" name="Text 11"/>
          <p:cNvSpPr/>
          <p:nvPr/>
        </p:nvSpPr>
        <p:spPr>
          <a:xfrm>
            <a:off x="566928" y="277977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2"/>
          <p:cNvSpPr/>
          <p:nvPr/>
        </p:nvSpPr>
        <p:spPr>
          <a:xfrm>
            <a:off x="987552" y="2724912"/>
            <a:ext cx="1700784" cy="256032"/>
          </a:xfrm>
          <a:prstGeom prst="rect">
            <a:avLst/>
          </a:prstGeom>
          <a:noFill/>
          <a:ln/>
        </p:spPr>
        <p:txBody>
          <a:bodyPr wrap="square" lIns="0" tIns="0" rIns="0" bIns="0" rtlCol="0" anchor="ctr"/>
          <a:lstStyle/>
          <a:p>
            <a:pPr indent="0" marL="0">
              <a:buNone/>
            </a:pPr>
            <a:r>
              <a:rPr lang="en-US" sz="1000" b="1" dirty="0">
                <a:solidFill>
                  <a:srgbClr val="0E1A2B"/>
                </a:solidFill>
                <a:latin typeface="Courier New" pitchFamily="34" charset="0"/>
                <a:ea typeface="Courier New" pitchFamily="34" charset="-122"/>
                <a:cs typeface="Courier New" pitchFamily="34" charset="-120"/>
              </a:rPr>
              <a:t>MarkdownChunker</a:t>
            </a:r>
            <a:endParaRPr lang="en-US" sz="1000" dirty="0"/>
          </a:p>
        </p:txBody>
      </p:sp>
      <p:sp>
        <p:nvSpPr>
          <p:cNvPr id="18" name="Text 13"/>
          <p:cNvSpPr/>
          <p:nvPr/>
        </p:nvSpPr>
        <p:spPr>
          <a:xfrm>
            <a:off x="2724912" y="2724912"/>
            <a:ext cx="3529584" cy="457200"/>
          </a:xfrm>
          <a:prstGeom prst="rect">
            <a:avLst/>
          </a:prstGeom>
          <a:noFill/>
          <a:ln/>
        </p:spPr>
        <p:txBody>
          <a:bodyPr wrap="square" lIns="0" tIns="0" rIns="0" bIns="0" rtlCol="0" anchor="t"/>
          <a:lstStyle/>
          <a:p>
            <a:pPr indent="0" marL="0">
              <a:lnSpc>
                <a:spcPts val="1350"/>
              </a:lnSpc>
              <a:buNone/>
            </a:pPr>
            <a:r>
              <a:rPr lang="en-US" sz="1050" dirty="0">
                <a:solidFill>
                  <a:srgbClr val="46566B"/>
                </a:solidFill>
                <a:latin typeface="Calibri" pitchFamily="34" charset="0"/>
                <a:ea typeface="Calibri" pitchFamily="34" charset="-122"/>
                <a:cs typeface="Calibri" pitchFamily="34" charset="-120"/>
              </a:rPr>
              <a:t>reads the marker, records the page(s) on the chunk, strips it before indexing</a:t>
            </a:r>
            <a:endParaRPr lang="en-US" sz="1050" dirty="0"/>
          </a:p>
        </p:txBody>
      </p:sp>
      <p:sp>
        <p:nvSpPr>
          <p:cNvPr id="19" name="Shape 14"/>
          <p:cNvSpPr/>
          <p:nvPr/>
        </p:nvSpPr>
        <p:spPr>
          <a:xfrm>
            <a:off x="566928" y="3355848"/>
            <a:ext cx="292608" cy="292608"/>
          </a:xfrm>
          <a:prstGeom prst="ellipse">
            <a:avLst/>
          </a:prstGeom>
          <a:solidFill>
            <a:srgbClr val="FF7900"/>
          </a:solidFill>
          <a:ln w="12700">
            <a:solidFill>
              <a:srgbClr val="FF7900"/>
            </a:solidFill>
            <a:prstDash val="solid"/>
          </a:ln>
        </p:spPr>
      </p:sp>
      <p:sp>
        <p:nvSpPr>
          <p:cNvPr id="20" name="Text 15"/>
          <p:cNvSpPr/>
          <p:nvPr/>
        </p:nvSpPr>
        <p:spPr>
          <a:xfrm>
            <a:off x="566928" y="33558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6"/>
          <p:cNvSpPr/>
          <p:nvPr/>
        </p:nvSpPr>
        <p:spPr>
          <a:xfrm>
            <a:off x="987552" y="3300984"/>
            <a:ext cx="1700784" cy="256032"/>
          </a:xfrm>
          <a:prstGeom prst="rect">
            <a:avLst/>
          </a:prstGeom>
          <a:noFill/>
          <a:ln/>
        </p:spPr>
        <p:txBody>
          <a:bodyPr wrap="square" lIns="0" tIns="0" rIns="0" bIns="0" rtlCol="0" anchor="ctr"/>
          <a:lstStyle/>
          <a:p>
            <a:pPr indent="0" marL="0">
              <a:buNone/>
            </a:pPr>
            <a:r>
              <a:rPr lang="en-US" sz="1000" b="1" dirty="0">
                <a:solidFill>
                  <a:srgbClr val="0E1A2B"/>
                </a:solidFill>
                <a:latin typeface="Courier New" pitchFamily="34" charset="0"/>
                <a:ea typeface="Courier New" pitchFamily="34" charset="-122"/>
                <a:cs typeface="Courier New" pitchFamily="34" charset="-120"/>
              </a:rPr>
              <a:t>VectorIndex</a:t>
            </a:r>
            <a:endParaRPr lang="en-US" sz="1000" dirty="0"/>
          </a:p>
        </p:txBody>
      </p:sp>
      <p:sp>
        <p:nvSpPr>
          <p:cNvPr id="22" name="Text 17"/>
          <p:cNvSpPr/>
          <p:nvPr/>
        </p:nvSpPr>
        <p:spPr>
          <a:xfrm>
            <a:off x="2724912" y="3300984"/>
            <a:ext cx="3529584" cy="457200"/>
          </a:xfrm>
          <a:prstGeom prst="rect">
            <a:avLst/>
          </a:prstGeom>
          <a:noFill/>
          <a:ln/>
        </p:spPr>
        <p:txBody>
          <a:bodyPr wrap="square" lIns="0" tIns="0" rIns="0" bIns="0" rtlCol="0" anchor="t"/>
          <a:lstStyle/>
          <a:p>
            <a:pPr indent="0" marL="0">
              <a:lnSpc>
                <a:spcPts val="1350"/>
              </a:lnSpc>
              <a:buNone/>
            </a:pPr>
            <a:r>
              <a:rPr lang="en-US" sz="1050" dirty="0">
                <a:solidFill>
                  <a:srgbClr val="46566B"/>
                </a:solidFill>
                <a:latin typeface="Calibri" pitchFamily="34" charset="0"/>
                <a:ea typeface="Calibri" pitchFamily="34" charset="-122"/>
                <a:cs typeface="Calibri" pitchFamily="34" charset="-120"/>
              </a:rPr>
              <a:t>stores it in Chroma metadata as a scalar "4,5" — Chroma holds no sequences</a:t>
            </a:r>
            <a:endParaRPr lang="en-US" sz="1050" dirty="0"/>
          </a:p>
        </p:txBody>
      </p:sp>
      <p:sp>
        <p:nvSpPr>
          <p:cNvPr id="23" name="Shape 18"/>
          <p:cNvSpPr/>
          <p:nvPr/>
        </p:nvSpPr>
        <p:spPr>
          <a:xfrm>
            <a:off x="566928" y="3931920"/>
            <a:ext cx="292608" cy="292608"/>
          </a:xfrm>
          <a:prstGeom prst="ellipse">
            <a:avLst/>
          </a:prstGeom>
          <a:solidFill>
            <a:srgbClr val="FF7900"/>
          </a:solidFill>
          <a:ln w="12700">
            <a:solidFill>
              <a:srgbClr val="FF7900"/>
            </a:solidFill>
            <a:prstDash val="solid"/>
          </a:ln>
        </p:spPr>
      </p:sp>
      <p:sp>
        <p:nvSpPr>
          <p:cNvPr id="24" name="Text 19"/>
          <p:cNvSpPr/>
          <p:nvPr/>
        </p:nvSpPr>
        <p:spPr>
          <a:xfrm>
            <a:off x="566928" y="39319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0"/>
          <p:cNvSpPr/>
          <p:nvPr/>
        </p:nvSpPr>
        <p:spPr>
          <a:xfrm>
            <a:off x="987552" y="3877056"/>
            <a:ext cx="1700784" cy="256032"/>
          </a:xfrm>
          <a:prstGeom prst="rect">
            <a:avLst/>
          </a:prstGeom>
          <a:noFill/>
          <a:ln/>
        </p:spPr>
        <p:txBody>
          <a:bodyPr wrap="square" lIns="0" tIns="0" rIns="0" bIns="0" rtlCol="0" anchor="ctr"/>
          <a:lstStyle/>
          <a:p>
            <a:pPr indent="0" marL="0">
              <a:buNone/>
            </a:pPr>
            <a:r>
              <a:rPr lang="en-US" sz="1000" b="1" dirty="0">
                <a:solidFill>
                  <a:srgbClr val="0E1A2B"/>
                </a:solidFill>
                <a:latin typeface="Courier New" pitchFamily="34" charset="0"/>
                <a:ea typeface="Courier New" pitchFamily="34" charset="-122"/>
                <a:cs typeface="Courier New" pitchFamily="34" charset="-120"/>
              </a:rPr>
              <a:t>Answerer</a:t>
            </a:r>
            <a:endParaRPr lang="en-US" sz="1000" dirty="0"/>
          </a:p>
        </p:txBody>
      </p:sp>
      <p:sp>
        <p:nvSpPr>
          <p:cNvPr id="26" name="Text 21"/>
          <p:cNvSpPr/>
          <p:nvPr/>
        </p:nvSpPr>
        <p:spPr>
          <a:xfrm>
            <a:off x="2724912" y="3877056"/>
            <a:ext cx="3529584" cy="457200"/>
          </a:xfrm>
          <a:prstGeom prst="rect">
            <a:avLst/>
          </a:prstGeom>
          <a:noFill/>
          <a:ln/>
        </p:spPr>
        <p:txBody>
          <a:bodyPr wrap="square" lIns="0" tIns="0" rIns="0" bIns="0" rtlCol="0" anchor="t"/>
          <a:lstStyle/>
          <a:p>
            <a:pPr indent="0" marL="0">
              <a:lnSpc>
                <a:spcPts val="1350"/>
              </a:lnSpc>
              <a:buNone/>
            </a:pPr>
            <a:r>
              <a:rPr lang="en-US" sz="1050" dirty="0">
                <a:solidFill>
                  <a:srgbClr val="46566B"/>
                </a:solidFill>
                <a:latin typeface="Calibri" pitchFamily="34" charset="0"/>
                <a:ea typeface="Calibri" pitchFamily="34" charset="-122"/>
                <a:cs typeface="Calibri" pitchFamily="34" charset="-120"/>
              </a:rPr>
              <a:t>labels every source with its page before the model ever sees it</a:t>
            </a:r>
            <a:endParaRPr lang="en-US" sz="1050" dirty="0"/>
          </a:p>
        </p:txBody>
      </p:sp>
      <p:sp>
        <p:nvSpPr>
          <p:cNvPr id="27" name="Shape 22"/>
          <p:cNvSpPr/>
          <p:nvPr/>
        </p:nvSpPr>
        <p:spPr>
          <a:xfrm>
            <a:off x="6382512" y="1572768"/>
            <a:ext cx="2743200" cy="859536"/>
          </a:xfrm>
          <a:prstGeom prst="roundRect">
            <a:avLst>
              <a:gd name="adj" fmla="val 6383"/>
            </a:avLst>
          </a:prstGeom>
          <a:solidFill>
            <a:srgbClr val="0E1A2B"/>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28" name="Text 23"/>
          <p:cNvSpPr/>
          <p:nvPr/>
        </p:nvSpPr>
        <p:spPr>
          <a:xfrm>
            <a:off x="6547104" y="1691640"/>
            <a:ext cx="2414016" cy="621792"/>
          </a:xfrm>
          <a:prstGeom prst="rect">
            <a:avLst/>
          </a:prstGeom>
          <a:noFill/>
          <a:ln/>
        </p:spPr>
        <p:txBody>
          <a:bodyPr wrap="square" lIns="0" tIns="0" rIns="0" bIns="0" rtlCol="0" anchor="t"/>
          <a:lstStyle/>
          <a:p>
            <a:pPr indent="0" marL="0">
              <a:lnSpc>
                <a:spcPts val="1300"/>
              </a:lnSpc>
              <a:buNone/>
            </a:pPr>
            <a:r>
              <a:rPr lang="en-US" sz="950" dirty="0">
                <a:solidFill>
                  <a:srgbClr val="C9D6E4"/>
                </a:solidFill>
                <a:latin typeface="Courier New" pitchFamily="34" charset="0"/>
                <a:ea typeface="Courier New" pitchFamily="34" charset="-122"/>
                <a:cs typeface="Courier New" pitchFamily="34" charset="-120"/>
              </a:rPr>
              <a:t>&lt;!--page:19--&gt;</a:t>
            </a:r>
            <a:endParaRPr lang="en-US" sz="950" dirty="0"/>
          </a:p>
          <a:p>
            <a:pPr indent="0" marL="0">
              <a:lnSpc>
                <a:spcPts val="1300"/>
              </a:lnSpc>
              <a:buNone/>
            </a:pPr>
            <a:r>
              <a:rPr lang="en-US" sz="950" dirty="0">
                <a:solidFill>
                  <a:srgbClr val="C9D6E4"/>
                </a:solidFill>
                <a:latin typeface="Courier New" pitchFamily="34" charset="0"/>
                <a:ea typeface="Courier New" pitchFamily="34" charset="-122"/>
                <a:cs typeface="Courier New" pitchFamily="34" charset="-120"/>
              </a:rPr>
              <a:t># Creatine</a:t>
            </a:r>
            <a:endParaRPr lang="en-US" sz="950" dirty="0"/>
          </a:p>
          <a:p>
            <a:pPr indent="0" marL="0">
              <a:lnSpc>
                <a:spcPts val="1300"/>
              </a:lnSpc>
              <a:buNone/>
            </a:pPr>
            <a:endParaRPr lang="en-US" sz="950" dirty="0"/>
          </a:p>
          <a:p>
            <a:pPr indent="0" marL="0">
              <a:lnSpc>
                <a:spcPts val="1300"/>
              </a:lnSpc>
              <a:buNone/>
            </a:pPr>
            <a:r>
              <a:rPr lang="en-US" sz="950" dirty="0">
                <a:solidFill>
                  <a:srgbClr val="C9D6E4"/>
                </a:solidFill>
                <a:latin typeface="Courier New" pitchFamily="34" charset="0"/>
                <a:ea typeface="Courier New" pitchFamily="34" charset="-122"/>
                <a:cs typeface="Courier New" pitchFamily="34" charset="-120"/>
              </a:rPr>
              <a:t>Creatine is an amino acid ...</a:t>
            </a:r>
            <a:endParaRPr lang="en-US" sz="950" dirty="0"/>
          </a:p>
        </p:txBody>
      </p:sp>
      <p:sp>
        <p:nvSpPr>
          <p:cNvPr id="29" name="Text 24"/>
          <p:cNvSpPr/>
          <p:nvPr/>
        </p:nvSpPr>
        <p:spPr>
          <a:xfrm>
            <a:off x="9272016" y="1609344"/>
            <a:ext cx="2352751" cy="822960"/>
          </a:xfrm>
          <a:prstGeom prst="rect">
            <a:avLst/>
          </a:prstGeom>
          <a:noFill/>
          <a:ln/>
        </p:spPr>
        <p:txBody>
          <a:bodyPr wrap="square" lIns="0" tIns="0" rIns="0" bIns="0" rtlCol="0" anchor="t"/>
          <a:lstStyle/>
          <a:p>
            <a:pPr indent="0" marL="0">
              <a:lnSpc>
                <a:spcPts val="1350"/>
              </a:lnSpc>
              <a:buNone/>
            </a:pPr>
            <a:r>
              <a:rPr lang="en-US" sz="1000" i="1" dirty="0">
                <a:solidFill>
                  <a:srgbClr val="6B7A8C"/>
                </a:solidFill>
                <a:latin typeface="Calibri" pitchFamily="34" charset="0"/>
                <a:ea typeface="Calibri" pitchFamily="34" charset="-122"/>
                <a:cs typeface="Calibri" pitchFamily="34" charset="-120"/>
              </a:rPr>
              <a:t>The marker is an HTML comment on purpose — it is the one shape the cleaner does not touch.</a:t>
            </a:r>
            <a:endParaRPr lang="en-US" sz="1000" dirty="0"/>
          </a:p>
        </p:txBody>
      </p:sp>
      <p:sp>
        <p:nvSpPr>
          <p:cNvPr id="30" name="Shape 25"/>
          <p:cNvSpPr/>
          <p:nvPr/>
        </p:nvSpPr>
        <p:spPr>
          <a:xfrm>
            <a:off x="6382512" y="2578608"/>
            <a:ext cx="1572768" cy="1060704"/>
          </a:xfrm>
          <a:prstGeom prst="roundRect">
            <a:avLst>
              <a:gd name="adj" fmla="val 5172"/>
            </a:avLst>
          </a:prstGeom>
          <a:solidFill>
            <a:srgbClr val="F1F4F8"/>
          </a:solidFill>
          <a:ln w="9525">
            <a:solidFill>
              <a:srgbClr val="E3E9F1"/>
            </a:solidFill>
            <a:prstDash val="solid"/>
          </a:ln>
        </p:spPr>
      </p:sp>
      <p:sp>
        <p:nvSpPr>
          <p:cNvPr id="31" name="Text 26"/>
          <p:cNvSpPr/>
          <p:nvPr/>
        </p:nvSpPr>
        <p:spPr>
          <a:xfrm>
            <a:off x="6382512" y="2688336"/>
            <a:ext cx="1572768" cy="457200"/>
          </a:xfrm>
          <a:prstGeom prst="rect">
            <a:avLst/>
          </a:prstGeom>
          <a:noFill/>
          <a:ln/>
        </p:spPr>
        <p:txBody>
          <a:bodyPr wrap="square" lIns="0" tIns="0" rIns="0" bIns="0" rtlCol="0" anchor="ctr"/>
          <a:lstStyle/>
          <a:p>
            <a:pPr algn="ctr" indent="0" marL="0">
              <a:buNone/>
            </a:pPr>
            <a:r>
              <a:rPr lang="en-US" sz="2800" b="1" dirty="0">
                <a:solidFill>
                  <a:srgbClr val="0E1A2B"/>
                </a:solidFill>
                <a:latin typeface="Cambria" pitchFamily="34" charset="0"/>
                <a:ea typeface="Cambria" pitchFamily="34" charset="-122"/>
                <a:cs typeface="Cambria" pitchFamily="34" charset="-120"/>
              </a:rPr>
              <a:t>32</a:t>
            </a:r>
            <a:endParaRPr lang="en-US" sz="2800" dirty="0"/>
          </a:p>
        </p:txBody>
      </p:sp>
      <p:sp>
        <p:nvSpPr>
          <p:cNvPr id="32" name="Text 27"/>
          <p:cNvSpPr/>
          <p:nvPr/>
        </p:nvSpPr>
        <p:spPr>
          <a:xfrm>
            <a:off x="6382512" y="3127248"/>
            <a:ext cx="1572768" cy="402336"/>
          </a:xfrm>
          <a:prstGeom prst="rect">
            <a:avLst/>
          </a:prstGeom>
          <a:noFill/>
          <a:ln/>
        </p:spPr>
        <p:txBody>
          <a:bodyPr wrap="square" lIns="0" tIns="0" rIns="0" bIns="0" rtlCol="0" anchor="ctr"/>
          <a:lstStyle/>
          <a:p>
            <a:pPr algn="ctr" indent="0" marL="0">
              <a:lnSpc>
                <a:spcPts val="1200"/>
              </a:lnSpc>
              <a:buNone/>
            </a:pPr>
            <a:r>
              <a:rPr lang="en-US" sz="950" dirty="0">
                <a:solidFill>
                  <a:srgbClr val="6B7A8C"/>
                </a:solidFill>
                <a:latin typeface="Calibri" pitchFamily="34" charset="0"/>
                <a:ea typeface="Calibri" pitchFamily="34" charset="-122"/>
                <a:cs typeface="Calibri" pitchFamily="34" charset="-120"/>
              </a:rPr>
              <a:t>of 32 pages</a:t>
            </a:r>
            <a:endParaRPr lang="en-US" sz="950" dirty="0"/>
          </a:p>
          <a:p>
            <a:pPr algn="ctr" indent="0" marL="0">
              <a:lnSpc>
                <a:spcPts val="1200"/>
              </a:lnSpc>
              <a:buNone/>
            </a:pPr>
            <a:r>
              <a:rPr lang="en-US" sz="950" dirty="0">
                <a:solidFill>
                  <a:srgbClr val="6B7A8C"/>
                </a:solidFill>
                <a:latin typeface="Calibri" pitchFamily="34" charset="0"/>
                <a:ea typeface="Calibri" pitchFamily="34" charset="-122"/>
                <a:cs typeface="Calibri" pitchFamily="34" charset="-120"/>
              </a:rPr>
              <a:t>covered</a:t>
            </a:r>
            <a:endParaRPr lang="en-US" sz="950" dirty="0"/>
          </a:p>
        </p:txBody>
      </p:sp>
      <p:sp>
        <p:nvSpPr>
          <p:cNvPr id="33" name="Shape 28"/>
          <p:cNvSpPr/>
          <p:nvPr/>
        </p:nvSpPr>
        <p:spPr>
          <a:xfrm>
            <a:off x="8083296" y="2578608"/>
            <a:ext cx="1572768" cy="1060704"/>
          </a:xfrm>
          <a:prstGeom prst="roundRect">
            <a:avLst>
              <a:gd name="adj" fmla="val 5172"/>
            </a:avLst>
          </a:prstGeom>
          <a:solidFill>
            <a:srgbClr val="F1F4F8"/>
          </a:solidFill>
          <a:ln w="9525">
            <a:solidFill>
              <a:srgbClr val="E3E9F1"/>
            </a:solidFill>
            <a:prstDash val="solid"/>
          </a:ln>
        </p:spPr>
      </p:sp>
      <p:sp>
        <p:nvSpPr>
          <p:cNvPr id="34" name="Text 29"/>
          <p:cNvSpPr/>
          <p:nvPr/>
        </p:nvSpPr>
        <p:spPr>
          <a:xfrm>
            <a:off x="8083296" y="2688336"/>
            <a:ext cx="1572768" cy="457200"/>
          </a:xfrm>
          <a:prstGeom prst="rect">
            <a:avLst/>
          </a:prstGeom>
          <a:noFill/>
          <a:ln/>
        </p:spPr>
        <p:txBody>
          <a:bodyPr wrap="square" lIns="0" tIns="0" rIns="0" bIns="0" rtlCol="0" anchor="ctr"/>
          <a:lstStyle/>
          <a:p>
            <a:pPr algn="ctr" indent="0" marL="0">
              <a:buNone/>
            </a:pPr>
            <a:r>
              <a:rPr lang="en-US" sz="2800" b="1" dirty="0">
                <a:solidFill>
                  <a:srgbClr val="0E1A2B"/>
                </a:solidFill>
                <a:latin typeface="Cambria" pitchFamily="34" charset="0"/>
                <a:ea typeface="Cambria" pitchFamily="34" charset="-122"/>
                <a:cs typeface="Cambria" pitchFamily="34" charset="-120"/>
              </a:rPr>
              <a:t>0</a:t>
            </a:r>
            <a:endParaRPr lang="en-US" sz="2800" dirty="0"/>
          </a:p>
        </p:txBody>
      </p:sp>
      <p:sp>
        <p:nvSpPr>
          <p:cNvPr id="35" name="Text 30"/>
          <p:cNvSpPr/>
          <p:nvPr/>
        </p:nvSpPr>
        <p:spPr>
          <a:xfrm>
            <a:off x="8083296" y="3127248"/>
            <a:ext cx="1572768" cy="402336"/>
          </a:xfrm>
          <a:prstGeom prst="rect">
            <a:avLst/>
          </a:prstGeom>
          <a:noFill/>
          <a:ln/>
        </p:spPr>
        <p:txBody>
          <a:bodyPr wrap="square" lIns="0" tIns="0" rIns="0" bIns="0" rtlCol="0" anchor="ctr"/>
          <a:lstStyle/>
          <a:p>
            <a:pPr algn="ctr" indent="0" marL="0">
              <a:lnSpc>
                <a:spcPts val="1200"/>
              </a:lnSpc>
              <a:buNone/>
            </a:pPr>
            <a:r>
              <a:rPr lang="en-US" sz="950" dirty="0">
                <a:solidFill>
                  <a:srgbClr val="6B7A8C"/>
                </a:solidFill>
                <a:latin typeface="Calibri" pitchFamily="34" charset="0"/>
                <a:ea typeface="Calibri" pitchFamily="34" charset="-122"/>
                <a:cs typeface="Calibri" pitchFamily="34" charset="-120"/>
              </a:rPr>
              <a:t>indexed rows</a:t>
            </a:r>
            <a:endParaRPr lang="en-US" sz="950" dirty="0"/>
          </a:p>
          <a:p>
            <a:pPr algn="ctr" indent="0" marL="0">
              <a:lnSpc>
                <a:spcPts val="1200"/>
              </a:lnSpc>
              <a:buNone/>
            </a:pPr>
            <a:r>
              <a:rPr lang="en-US" sz="950" dirty="0">
                <a:solidFill>
                  <a:srgbClr val="6B7A8C"/>
                </a:solidFill>
                <a:latin typeface="Calibri" pitchFamily="34" charset="0"/>
                <a:ea typeface="Calibri" pitchFamily="34" charset="-122"/>
                <a:cs typeface="Calibri" pitchFamily="34" charset="-120"/>
              </a:rPr>
              <a:t>without a page</a:t>
            </a:r>
            <a:endParaRPr lang="en-US" sz="950" dirty="0"/>
          </a:p>
        </p:txBody>
      </p:sp>
      <p:sp>
        <p:nvSpPr>
          <p:cNvPr id="36" name="Shape 31"/>
          <p:cNvSpPr/>
          <p:nvPr/>
        </p:nvSpPr>
        <p:spPr>
          <a:xfrm>
            <a:off x="9784080" y="2578608"/>
            <a:ext cx="1572768" cy="1060704"/>
          </a:xfrm>
          <a:prstGeom prst="roundRect">
            <a:avLst>
              <a:gd name="adj" fmla="val 5172"/>
            </a:avLst>
          </a:prstGeom>
          <a:solidFill>
            <a:srgbClr val="F1F4F8"/>
          </a:solidFill>
          <a:ln w="9525">
            <a:solidFill>
              <a:srgbClr val="E3E9F1"/>
            </a:solidFill>
            <a:prstDash val="solid"/>
          </a:ln>
        </p:spPr>
      </p:sp>
      <p:sp>
        <p:nvSpPr>
          <p:cNvPr id="37" name="Text 32"/>
          <p:cNvSpPr/>
          <p:nvPr/>
        </p:nvSpPr>
        <p:spPr>
          <a:xfrm>
            <a:off x="9784080" y="2688336"/>
            <a:ext cx="1572768" cy="457200"/>
          </a:xfrm>
          <a:prstGeom prst="rect">
            <a:avLst/>
          </a:prstGeom>
          <a:noFill/>
          <a:ln/>
        </p:spPr>
        <p:txBody>
          <a:bodyPr wrap="square" lIns="0" tIns="0" rIns="0" bIns="0" rtlCol="0" anchor="ctr"/>
          <a:lstStyle/>
          <a:p>
            <a:pPr algn="ctr" indent="0" marL="0">
              <a:buNone/>
            </a:pPr>
            <a:r>
              <a:rPr lang="en-US" sz="2800" b="1" dirty="0">
                <a:solidFill>
                  <a:srgbClr val="0E1A2B"/>
                </a:solidFill>
                <a:latin typeface="Cambria" pitchFamily="34" charset="0"/>
                <a:ea typeface="Cambria" pitchFamily="34" charset="-122"/>
                <a:cs typeface="Cambria" pitchFamily="34" charset="-120"/>
              </a:rPr>
              <a:t>24</a:t>
            </a:r>
            <a:endParaRPr lang="en-US" sz="2800" dirty="0"/>
          </a:p>
        </p:txBody>
      </p:sp>
      <p:sp>
        <p:nvSpPr>
          <p:cNvPr id="38" name="Text 33"/>
          <p:cNvSpPr/>
          <p:nvPr/>
        </p:nvSpPr>
        <p:spPr>
          <a:xfrm>
            <a:off x="9784080" y="3127248"/>
            <a:ext cx="1572768" cy="402336"/>
          </a:xfrm>
          <a:prstGeom prst="rect">
            <a:avLst/>
          </a:prstGeom>
          <a:noFill/>
          <a:ln/>
        </p:spPr>
        <p:txBody>
          <a:bodyPr wrap="square" lIns="0" tIns="0" rIns="0" bIns="0" rtlCol="0" anchor="ctr"/>
          <a:lstStyle/>
          <a:p>
            <a:pPr algn="ctr" indent="0" marL="0">
              <a:lnSpc>
                <a:spcPts val="1200"/>
              </a:lnSpc>
              <a:buNone/>
            </a:pPr>
            <a:r>
              <a:rPr lang="en-US" sz="950" dirty="0">
                <a:solidFill>
                  <a:srgbClr val="6B7A8C"/>
                </a:solidFill>
                <a:latin typeface="Calibri" pitchFamily="34" charset="0"/>
                <a:ea typeface="Calibri" pitchFamily="34" charset="-122"/>
                <a:cs typeface="Calibri" pitchFamily="34" charset="-120"/>
              </a:rPr>
              <a:t>chunks correctly</a:t>
            </a:r>
            <a:endParaRPr lang="en-US" sz="950" dirty="0"/>
          </a:p>
          <a:p>
            <a:pPr algn="ctr" indent="0" marL="0">
              <a:lnSpc>
                <a:spcPts val="1200"/>
              </a:lnSpc>
              <a:buNone/>
            </a:pPr>
            <a:r>
              <a:rPr lang="en-US" sz="950" dirty="0">
                <a:solidFill>
                  <a:srgbClr val="6B7A8C"/>
                </a:solidFill>
                <a:latin typeface="Calibri" pitchFamily="34" charset="0"/>
                <a:ea typeface="Calibri" pitchFamily="34" charset="-122"/>
                <a:cs typeface="Calibri" pitchFamily="34" charset="-120"/>
              </a:rPr>
              <a:t>spanning a break</a:t>
            </a:r>
            <a:endParaRPr lang="en-US" sz="950" dirty="0"/>
          </a:p>
        </p:txBody>
      </p:sp>
      <p:sp>
        <p:nvSpPr>
          <p:cNvPr id="39" name="Shape 34"/>
          <p:cNvSpPr/>
          <p:nvPr/>
        </p:nvSpPr>
        <p:spPr>
          <a:xfrm>
            <a:off x="566928" y="4572000"/>
            <a:ext cx="11057839" cy="859536"/>
          </a:xfrm>
          <a:prstGeom prst="roundRect">
            <a:avLst>
              <a:gd name="adj" fmla="val 6383"/>
            </a:avLst>
          </a:prstGeom>
          <a:solidFill>
            <a:srgbClr val="FDF1EC"/>
          </a:solidFill>
          <a:ln w="9525">
            <a:solidFill>
              <a:srgbClr val="F3D8CB"/>
            </a:solidFill>
            <a:prstDash val="solid"/>
          </a:ln>
          <a:effectLst>
            <a:outerShdw sx="100000" sy="100000" kx="0" ky="0" algn="bl" rotWithShape="0" blurRad="127000" dist="508" dir="5400000">
              <a:srgbClr val="000000">
                <a:alpha val="9000"/>
              </a:srgbClr>
            </a:outerShdw>
          </a:effectLst>
        </p:spPr>
      </p:sp>
      <p:sp>
        <p:nvSpPr>
          <p:cNvPr id="40" name="Shape 35"/>
          <p:cNvSpPr/>
          <p:nvPr/>
        </p:nvSpPr>
        <p:spPr>
          <a:xfrm>
            <a:off x="804672" y="4718304"/>
            <a:ext cx="1367942" cy="219456"/>
          </a:xfrm>
          <a:prstGeom prst="roundRect">
            <a:avLst>
              <a:gd name="adj" fmla="val 50000"/>
            </a:avLst>
          </a:prstGeom>
          <a:solidFill>
            <a:srgbClr val="B3261E"/>
          </a:solidFill>
          <a:ln w="12700">
            <a:solidFill>
              <a:srgbClr val="B3261E"/>
            </a:solidFill>
            <a:prstDash val="solid"/>
          </a:ln>
        </p:spPr>
      </p:sp>
      <p:sp>
        <p:nvSpPr>
          <p:cNvPr id="41" name="Text 36"/>
          <p:cNvSpPr/>
          <p:nvPr/>
        </p:nvSpPr>
        <p:spPr>
          <a:xfrm>
            <a:off x="804672" y="4718304"/>
            <a:ext cx="1367942"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THE SILENT FAILURE</a:t>
            </a:r>
            <a:endParaRPr lang="en-US" sz="850" dirty="0"/>
          </a:p>
        </p:txBody>
      </p:sp>
      <p:sp>
        <p:nvSpPr>
          <p:cNvPr id="42" name="Text 37"/>
          <p:cNvSpPr/>
          <p:nvPr/>
        </p:nvSpPr>
        <p:spPr>
          <a:xfrm>
            <a:off x="2414016" y="4681728"/>
            <a:ext cx="8954719" cy="658368"/>
          </a:xfrm>
          <a:prstGeom prst="rect">
            <a:avLst/>
          </a:prstGeom>
          <a:noFill/>
          <a:ln/>
        </p:spPr>
        <p:txBody>
          <a:bodyPr wrap="square" lIns="0" tIns="0" rIns="0" bIns="0" rtlCol="0" anchor="t"/>
          <a:lstStyle/>
          <a:p>
            <a:pPr indent="0" marL="0">
              <a:lnSpc>
                <a:spcPts val="1350"/>
              </a:lnSpc>
              <a:buNone/>
            </a:pPr>
            <a:r>
              <a:rPr lang="en-US" sz="1000" b="1" dirty="0">
                <a:solidFill>
                  <a:srgbClr val="0E1A2B"/>
                </a:solidFill>
                <a:latin typeface="Calibri" pitchFamily="34" charset="0"/>
                <a:ea typeface="Calibri" pitchFamily="34" charset="-122"/>
                <a:cs typeface="Calibri" pitchFamily="34" charset="-120"/>
              </a:rPr>
              <a:t>The reader checked its cache before validating that the source was a PDF. </a:t>
            </a:r>
            <a:pPr indent="0" marL="0">
              <a:lnSpc>
                <a:spcPts val="1350"/>
              </a:lnSpc>
              <a:buNone/>
            </a:pPr>
            <a:r>
              <a:rPr lang="en-US" sz="1000" dirty="0">
                <a:solidFill>
                  <a:srgbClr val="5A4038"/>
                </a:solidFill>
                <a:latin typeface="Calibri" pitchFamily="34" charset="0"/>
                <a:ea typeface="Calibri" pitchFamily="34" charset="-122"/>
                <a:cs typeface="Calibri" pitchFamily="34" charset="-120"/>
              </a:rPr>
              <a:t>Our .env still pointed at the old HTML file, whose cache entry existed — so it returned HTML-derived markdown with no page markers at all. All 288 chunks had zero pages and nothing raised. About 20 minutes lost. The fix validates the extension first, and a regression test plants a stale cache entry and asserts the reader still refuses. The most expensive failures are the ones that do not throw.</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LAYER 2 · RETRIEVAL</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What happens between a question and the evidence</a:t>
            </a:r>
            <a:endParaRPr lang="en-US" sz="3000" dirty="0"/>
          </a:p>
        </p:txBody>
      </p:sp>
      <p:sp>
        <p:nvSpPr>
          <p:cNvPr id="7" name="Shape 2"/>
          <p:cNvSpPr/>
          <p:nvPr/>
        </p:nvSpPr>
        <p:spPr>
          <a:xfrm>
            <a:off x="566928" y="1554480"/>
            <a:ext cx="3533546" cy="1316736"/>
          </a:xfrm>
          <a:prstGeom prst="roundRect">
            <a:avLst>
              <a:gd name="adj" fmla="val 4167"/>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8" name="Shape 3"/>
          <p:cNvSpPr/>
          <p:nvPr/>
        </p:nvSpPr>
        <p:spPr>
          <a:xfrm>
            <a:off x="786384" y="1755648"/>
            <a:ext cx="292608" cy="292608"/>
          </a:xfrm>
          <a:prstGeom prst="ellipse">
            <a:avLst/>
          </a:prstGeom>
          <a:solidFill>
            <a:srgbClr val="FF7900"/>
          </a:solidFill>
          <a:ln w="12700">
            <a:solidFill>
              <a:srgbClr val="FF7900"/>
            </a:solidFill>
            <a:prstDash val="solid"/>
          </a:ln>
        </p:spPr>
      </p:sp>
      <p:sp>
        <p:nvSpPr>
          <p:cNvPr id="9" name="Text 4"/>
          <p:cNvSpPr/>
          <p:nvPr/>
        </p:nvSpPr>
        <p:spPr>
          <a:xfrm>
            <a:off x="786384" y="17556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5"/>
          <p:cNvSpPr/>
          <p:nvPr/>
        </p:nvSpPr>
        <p:spPr>
          <a:xfrm>
            <a:off x="1170432" y="1773936"/>
            <a:ext cx="2710586" cy="256032"/>
          </a:xfrm>
          <a:prstGeom prst="rect">
            <a:avLst/>
          </a:prstGeom>
          <a:noFill/>
          <a:ln/>
        </p:spPr>
        <p:txBody>
          <a:bodyPr wrap="square" lIns="0" tIns="0" rIns="0" bIns="0" rtlCol="0" anchor="ctr"/>
          <a:lstStyle/>
          <a:p>
            <a:pPr indent="0" marL="0">
              <a:buNone/>
            </a:pPr>
            <a:r>
              <a:rPr lang="en-US" sz="1400" b="1" dirty="0">
                <a:solidFill>
                  <a:srgbClr val="0E1A2B"/>
                </a:solidFill>
                <a:latin typeface="Cambria" pitchFamily="34" charset="0"/>
                <a:ea typeface="Cambria" pitchFamily="34" charset="-122"/>
                <a:cs typeface="Cambria" pitchFamily="34" charset="-120"/>
              </a:rPr>
              <a:t>Expand</a:t>
            </a:r>
            <a:endParaRPr lang="en-US" sz="1400" dirty="0"/>
          </a:p>
        </p:txBody>
      </p:sp>
      <p:sp>
        <p:nvSpPr>
          <p:cNvPr id="11" name="Text 6"/>
          <p:cNvSpPr/>
          <p:nvPr/>
        </p:nvSpPr>
        <p:spPr>
          <a:xfrm>
            <a:off x="786384" y="2121408"/>
            <a:ext cx="3094634" cy="640080"/>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The model is asked for a few other phrasings — domain terms and scientific synonyms — so the index is searched for passages worded unlike the question.</a:t>
            </a:r>
            <a:endParaRPr lang="en-US" sz="1000" dirty="0"/>
          </a:p>
        </p:txBody>
      </p:sp>
      <p:sp>
        <p:nvSpPr>
          <p:cNvPr id="12" name="Shape 7"/>
          <p:cNvSpPr/>
          <p:nvPr/>
        </p:nvSpPr>
        <p:spPr>
          <a:xfrm>
            <a:off x="4329074" y="1554480"/>
            <a:ext cx="3533546" cy="1316736"/>
          </a:xfrm>
          <a:prstGeom prst="roundRect">
            <a:avLst>
              <a:gd name="adj" fmla="val 4167"/>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3" name="Shape 8"/>
          <p:cNvSpPr/>
          <p:nvPr/>
        </p:nvSpPr>
        <p:spPr>
          <a:xfrm>
            <a:off x="4548530" y="1755648"/>
            <a:ext cx="292608" cy="292608"/>
          </a:xfrm>
          <a:prstGeom prst="ellipse">
            <a:avLst/>
          </a:prstGeom>
          <a:solidFill>
            <a:srgbClr val="FF7900"/>
          </a:solidFill>
          <a:ln w="12700">
            <a:solidFill>
              <a:srgbClr val="FF7900"/>
            </a:solidFill>
            <a:prstDash val="solid"/>
          </a:ln>
        </p:spPr>
      </p:sp>
      <p:sp>
        <p:nvSpPr>
          <p:cNvPr id="14" name="Text 9"/>
          <p:cNvSpPr/>
          <p:nvPr/>
        </p:nvSpPr>
        <p:spPr>
          <a:xfrm>
            <a:off x="4548530" y="17556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0"/>
          <p:cNvSpPr/>
          <p:nvPr/>
        </p:nvSpPr>
        <p:spPr>
          <a:xfrm>
            <a:off x="4932578" y="1773936"/>
            <a:ext cx="2710586" cy="256032"/>
          </a:xfrm>
          <a:prstGeom prst="rect">
            <a:avLst/>
          </a:prstGeom>
          <a:noFill/>
          <a:ln/>
        </p:spPr>
        <p:txBody>
          <a:bodyPr wrap="square" lIns="0" tIns="0" rIns="0" bIns="0" rtlCol="0" anchor="ctr"/>
          <a:lstStyle/>
          <a:p>
            <a:pPr indent="0" marL="0">
              <a:buNone/>
            </a:pPr>
            <a:r>
              <a:rPr lang="en-US" sz="1400" b="1" dirty="0">
                <a:solidFill>
                  <a:srgbClr val="0E1A2B"/>
                </a:solidFill>
                <a:latin typeface="Cambria" pitchFamily="34" charset="0"/>
                <a:ea typeface="Cambria" pitchFamily="34" charset="-122"/>
                <a:cs typeface="Cambria" pitchFamily="34" charset="-120"/>
              </a:rPr>
              <a:t>Search</a:t>
            </a:r>
            <a:endParaRPr lang="en-US" sz="1400" dirty="0"/>
          </a:p>
        </p:txBody>
      </p:sp>
      <p:sp>
        <p:nvSpPr>
          <p:cNvPr id="16" name="Text 11"/>
          <p:cNvSpPr/>
          <p:nvPr/>
        </p:nvSpPr>
        <p:spPr>
          <a:xfrm>
            <a:off x="4548530" y="2121408"/>
            <a:ext cx="3094634" cy="640080"/>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Each phrasing is embedded with the query instruction template and run against the collection: 286 chunk rows and 858 hypothetical-question rows.</a:t>
            </a:r>
            <a:endParaRPr lang="en-US" sz="1000" dirty="0"/>
          </a:p>
        </p:txBody>
      </p:sp>
      <p:sp>
        <p:nvSpPr>
          <p:cNvPr id="17" name="Shape 12"/>
          <p:cNvSpPr/>
          <p:nvPr/>
        </p:nvSpPr>
        <p:spPr>
          <a:xfrm>
            <a:off x="8091221" y="1554480"/>
            <a:ext cx="3533546" cy="1316736"/>
          </a:xfrm>
          <a:prstGeom prst="roundRect">
            <a:avLst>
              <a:gd name="adj" fmla="val 4167"/>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8" name="Shape 13"/>
          <p:cNvSpPr/>
          <p:nvPr/>
        </p:nvSpPr>
        <p:spPr>
          <a:xfrm>
            <a:off x="8310677" y="1755648"/>
            <a:ext cx="292608" cy="292608"/>
          </a:xfrm>
          <a:prstGeom prst="ellipse">
            <a:avLst/>
          </a:prstGeom>
          <a:solidFill>
            <a:srgbClr val="FF7900"/>
          </a:solidFill>
          <a:ln w="12700">
            <a:solidFill>
              <a:srgbClr val="FF7900"/>
            </a:solidFill>
            <a:prstDash val="solid"/>
          </a:ln>
        </p:spPr>
      </p:sp>
      <p:sp>
        <p:nvSpPr>
          <p:cNvPr id="19" name="Text 14"/>
          <p:cNvSpPr/>
          <p:nvPr/>
        </p:nvSpPr>
        <p:spPr>
          <a:xfrm>
            <a:off x="8310677" y="17556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5"/>
          <p:cNvSpPr/>
          <p:nvPr/>
        </p:nvSpPr>
        <p:spPr>
          <a:xfrm>
            <a:off x="8694725" y="1773936"/>
            <a:ext cx="2710586" cy="256032"/>
          </a:xfrm>
          <a:prstGeom prst="rect">
            <a:avLst/>
          </a:prstGeom>
          <a:noFill/>
          <a:ln/>
        </p:spPr>
        <p:txBody>
          <a:bodyPr wrap="square" lIns="0" tIns="0" rIns="0" bIns="0" rtlCol="0" anchor="ctr"/>
          <a:lstStyle/>
          <a:p>
            <a:pPr indent="0" marL="0">
              <a:buNone/>
            </a:pPr>
            <a:r>
              <a:rPr lang="en-US" sz="1400" b="1" dirty="0">
                <a:solidFill>
                  <a:srgbClr val="0E1A2B"/>
                </a:solidFill>
                <a:latin typeface="Cambria" pitchFamily="34" charset="0"/>
                <a:ea typeface="Cambria" pitchFamily="34" charset="-122"/>
                <a:cs typeface="Cambria" pitchFamily="34" charset="-120"/>
              </a:rPr>
              <a:t>Merge</a:t>
            </a:r>
            <a:endParaRPr lang="en-US" sz="1400" dirty="0"/>
          </a:p>
        </p:txBody>
      </p:sp>
      <p:sp>
        <p:nvSpPr>
          <p:cNvPr id="21" name="Text 16"/>
          <p:cNvSpPr/>
          <p:nvPr/>
        </p:nvSpPr>
        <p:spPr>
          <a:xfrm>
            <a:off x="8310677" y="2121408"/>
            <a:ext cx="3094634" cy="640080"/>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Hits are pooled and agreement is counted one vote per phrasing — never per matching row, or a chunk found through three of its own questions would look like three confirmations.</a:t>
            </a:r>
            <a:endParaRPr lang="en-US" sz="1000" dirty="0"/>
          </a:p>
        </p:txBody>
      </p:sp>
      <p:sp>
        <p:nvSpPr>
          <p:cNvPr id="22" name="Shape 17"/>
          <p:cNvSpPr/>
          <p:nvPr/>
        </p:nvSpPr>
        <p:spPr>
          <a:xfrm>
            <a:off x="566928" y="3035808"/>
            <a:ext cx="3533546" cy="1316736"/>
          </a:xfrm>
          <a:prstGeom prst="roundRect">
            <a:avLst>
              <a:gd name="adj" fmla="val 4167"/>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3" name="Shape 18"/>
          <p:cNvSpPr/>
          <p:nvPr/>
        </p:nvSpPr>
        <p:spPr>
          <a:xfrm>
            <a:off x="786384" y="3236976"/>
            <a:ext cx="292608" cy="292608"/>
          </a:xfrm>
          <a:prstGeom prst="ellipse">
            <a:avLst/>
          </a:prstGeom>
          <a:solidFill>
            <a:srgbClr val="FF7900"/>
          </a:solidFill>
          <a:ln w="12700">
            <a:solidFill>
              <a:srgbClr val="FF7900"/>
            </a:solidFill>
            <a:prstDash val="solid"/>
          </a:ln>
        </p:spPr>
      </p:sp>
      <p:sp>
        <p:nvSpPr>
          <p:cNvPr id="24" name="Text 19"/>
          <p:cNvSpPr/>
          <p:nvPr/>
        </p:nvSpPr>
        <p:spPr>
          <a:xfrm>
            <a:off x="786384" y="323697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0"/>
          <p:cNvSpPr/>
          <p:nvPr/>
        </p:nvSpPr>
        <p:spPr>
          <a:xfrm>
            <a:off x="1170432" y="3255264"/>
            <a:ext cx="2710586" cy="256032"/>
          </a:xfrm>
          <a:prstGeom prst="rect">
            <a:avLst/>
          </a:prstGeom>
          <a:noFill/>
          <a:ln/>
        </p:spPr>
        <p:txBody>
          <a:bodyPr wrap="square" lIns="0" tIns="0" rIns="0" bIns="0" rtlCol="0" anchor="ctr"/>
          <a:lstStyle/>
          <a:p>
            <a:pPr indent="0" marL="0">
              <a:buNone/>
            </a:pPr>
            <a:r>
              <a:rPr lang="en-US" sz="1400" b="1" dirty="0">
                <a:solidFill>
                  <a:srgbClr val="0E1A2B"/>
                </a:solidFill>
                <a:latin typeface="Cambria" pitchFamily="34" charset="0"/>
                <a:ea typeface="Cambria" pitchFamily="34" charset="-122"/>
                <a:cs typeface="Cambria" pitchFamily="34" charset="-120"/>
              </a:rPr>
              <a:t>Collapse</a:t>
            </a:r>
            <a:endParaRPr lang="en-US" sz="1400" dirty="0"/>
          </a:p>
        </p:txBody>
      </p:sp>
      <p:sp>
        <p:nvSpPr>
          <p:cNvPr id="26" name="Text 21"/>
          <p:cNvSpPr/>
          <p:nvPr/>
        </p:nvSpPr>
        <p:spPr>
          <a:xfrm>
            <a:off x="786384" y="3602736"/>
            <a:ext cx="3094634" cy="640080"/>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One result per parent chunk, so a single passage cannot fill every slot through the questions generated for it.</a:t>
            </a:r>
            <a:endParaRPr lang="en-US" sz="1000" dirty="0"/>
          </a:p>
        </p:txBody>
      </p:sp>
      <p:sp>
        <p:nvSpPr>
          <p:cNvPr id="27" name="Shape 22"/>
          <p:cNvSpPr/>
          <p:nvPr/>
        </p:nvSpPr>
        <p:spPr>
          <a:xfrm>
            <a:off x="4329074" y="3035808"/>
            <a:ext cx="3533546" cy="1316736"/>
          </a:xfrm>
          <a:prstGeom prst="roundRect">
            <a:avLst>
              <a:gd name="adj" fmla="val 4167"/>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8" name="Shape 23"/>
          <p:cNvSpPr/>
          <p:nvPr/>
        </p:nvSpPr>
        <p:spPr>
          <a:xfrm>
            <a:off x="4548530" y="3236976"/>
            <a:ext cx="292608" cy="292608"/>
          </a:xfrm>
          <a:prstGeom prst="ellipse">
            <a:avLst/>
          </a:prstGeom>
          <a:solidFill>
            <a:srgbClr val="FF7900"/>
          </a:solidFill>
          <a:ln w="12700">
            <a:solidFill>
              <a:srgbClr val="FF7900"/>
            </a:solidFill>
            <a:prstDash val="solid"/>
          </a:ln>
        </p:spPr>
      </p:sp>
      <p:sp>
        <p:nvSpPr>
          <p:cNvPr id="29" name="Text 24"/>
          <p:cNvSpPr/>
          <p:nvPr/>
        </p:nvSpPr>
        <p:spPr>
          <a:xfrm>
            <a:off x="4548530" y="323697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5"/>
          <p:cNvSpPr/>
          <p:nvPr/>
        </p:nvSpPr>
        <p:spPr>
          <a:xfrm>
            <a:off x="4932578" y="3255264"/>
            <a:ext cx="2710586" cy="256032"/>
          </a:xfrm>
          <a:prstGeom prst="rect">
            <a:avLst/>
          </a:prstGeom>
          <a:noFill/>
          <a:ln/>
        </p:spPr>
        <p:txBody>
          <a:bodyPr wrap="square" lIns="0" tIns="0" rIns="0" bIns="0" rtlCol="0" anchor="ctr"/>
          <a:lstStyle/>
          <a:p>
            <a:pPr indent="0" marL="0">
              <a:buNone/>
            </a:pPr>
            <a:r>
              <a:rPr lang="en-US" sz="1400" b="1" dirty="0">
                <a:solidFill>
                  <a:srgbClr val="0E1A2B"/>
                </a:solidFill>
                <a:latin typeface="Cambria" pitchFamily="34" charset="0"/>
                <a:ea typeface="Cambria" pitchFamily="34" charset="-122"/>
                <a:cs typeface="Cambria" pitchFamily="34" charset="-120"/>
              </a:rPr>
              <a:t>Rerank</a:t>
            </a:r>
            <a:endParaRPr lang="en-US" sz="1400" dirty="0"/>
          </a:p>
        </p:txBody>
      </p:sp>
      <p:sp>
        <p:nvSpPr>
          <p:cNvPr id="31" name="Text 26"/>
          <p:cNvSpPr/>
          <p:nvPr/>
        </p:nvSpPr>
        <p:spPr>
          <a:xfrm>
            <a:off x="4548530" y="3602736"/>
            <a:ext cx="3094634" cy="640080"/>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The pool of 20 goes into one prompt and comes back as an order.</a:t>
            </a:r>
            <a:endParaRPr lang="en-US" sz="1000" dirty="0"/>
          </a:p>
        </p:txBody>
      </p:sp>
      <p:sp>
        <p:nvSpPr>
          <p:cNvPr id="32" name="Shape 27"/>
          <p:cNvSpPr/>
          <p:nvPr/>
        </p:nvSpPr>
        <p:spPr>
          <a:xfrm>
            <a:off x="8091221" y="3035808"/>
            <a:ext cx="3533546" cy="1316736"/>
          </a:xfrm>
          <a:prstGeom prst="roundRect">
            <a:avLst>
              <a:gd name="adj" fmla="val 4167"/>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33" name="Shape 28"/>
          <p:cNvSpPr/>
          <p:nvPr/>
        </p:nvSpPr>
        <p:spPr>
          <a:xfrm>
            <a:off x="8310677" y="3236976"/>
            <a:ext cx="292608" cy="292608"/>
          </a:xfrm>
          <a:prstGeom prst="ellipse">
            <a:avLst/>
          </a:prstGeom>
          <a:solidFill>
            <a:srgbClr val="FF7900"/>
          </a:solidFill>
          <a:ln w="12700">
            <a:solidFill>
              <a:srgbClr val="FF7900"/>
            </a:solidFill>
            <a:prstDash val="solid"/>
          </a:ln>
        </p:spPr>
      </p:sp>
      <p:sp>
        <p:nvSpPr>
          <p:cNvPr id="34" name="Text 29"/>
          <p:cNvSpPr/>
          <p:nvPr/>
        </p:nvSpPr>
        <p:spPr>
          <a:xfrm>
            <a:off x="8310677" y="323697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5" name="Text 30"/>
          <p:cNvSpPr/>
          <p:nvPr/>
        </p:nvSpPr>
        <p:spPr>
          <a:xfrm>
            <a:off x="8694725" y="3255264"/>
            <a:ext cx="2710586" cy="256032"/>
          </a:xfrm>
          <a:prstGeom prst="rect">
            <a:avLst/>
          </a:prstGeom>
          <a:noFill/>
          <a:ln/>
        </p:spPr>
        <p:txBody>
          <a:bodyPr wrap="square" lIns="0" tIns="0" rIns="0" bIns="0" rtlCol="0" anchor="ctr"/>
          <a:lstStyle/>
          <a:p>
            <a:pPr indent="0" marL="0">
              <a:buNone/>
            </a:pPr>
            <a:r>
              <a:rPr lang="en-US" sz="1400" b="1" dirty="0">
                <a:solidFill>
                  <a:srgbClr val="0E1A2B"/>
                </a:solidFill>
                <a:latin typeface="Cambria" pitchFamily="34" charset="0"/>
                <a:ea typeface="Cambria" pitchFamily="34" charset="-122"/>
                <a:cs typeface="Cambria" pitchFamily="34" charset="-120"/>
              </a:rPr>
              <a:t>Cut</a:t>
            </a:r>
            <a:endParaRPr lang="en-US" sz="1400" dirty="0"/>
          </a:p>
        </p:txBody>
      </p:sp>
      <p:sp>
        <p:nvSpPr>
          <p:cNvPr id="36" name="Text 31"/>
          <p:cNvSpPr/>
          <p:nvPr/>
        </p:nvSpPr>
        <p:spPr>
          <a:xfrm>
            <a:off x="8310677" y="3602736"/>
            <a:ext cx="3094634" cy="640080"/>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Only now is the list truncated to top_k = 10 and handed to the answerer.</a:t>
            </a:r>
            <a:endParaRPr lang="en-US" sz="1000" dirty="0"/>
          </a:p>
        </p:txBody>
      </p:sp>
      <p:sp>
        <p:nvSpPr>
          <p:cNvPr id="37" name="Text 32"/>
          <p:cNvSpPr/>
          <p:nvPr/>
        </p:nvSpPr>
        <p:spPr>
          <a:xfrm>
            <a:off x="566928" y="4572000"/>
            <a:ext cx="11057839" cy="566928"/>
          </a:xfrm>
          <a:prstGeom prst="rect">
            <a:avLst/>
          </a:prstGeom>
          <a:noFill/>
          <a:ln/>
        </p:spPr>
        <p:txBody>
          <a:bodyPr wrap="square" lIns="0" tIns="0" rIns="0" bIns="0" rtlCol="0" anchor="t"/>
          <a:lstStyle/>
          <a:p>
            <a:pPr indent="0" marL="0">
              <a:lnSpc>
                <a:spcPts val="1450"/>
              </a:lnSpc>
              <a:buNone/>
            </a:pPr>
            <a:r>
              <a:rPr lang="en-US" sz="1100" b="1" dirty="0">
                <a:solidFill>
                  <a:srgbClr val="0E1A2B"/>
                </a:solidFill>
                <a:latin typeface="Calibri" pitchFamily="34" charset="0"/>
                <a:ea typeface="Calibri" pitchFamily="34" charset="-122"/>
                <a:cs typeface="Calibri" pitchFamily="34" charset="-120"/>
              </a:rPr>
              <a:t>The number beside a result never overstates the match. </a:t>
            </a:r>
            <a:pPr indent="0" marL="0">
              <a:lnSpc>
                <a:spcPts val="1450"/>
              </a:lnSpc>
              <a:buNone/>
            </a:pPr>
            <a:r>
              <a:rPr lang="en-US" sz="1100" dirty="0">
                <a:solidFill>
                  <a:srgbClr val="46566B"/>
                </a:solidFill>
                <a:latin typeface="Calibri" pitchFamily="34" charset="0"/>
                <a:ea typeface="Calibri" pitchFamily="34" charset="-122"/>
                <a:cs typeface="Calibri" pitchFamily="34" charset="-120"/>
              </a:rPr>
              <a:t>Agreement lifts a chunk up the ranking through Retrieved.score, but Retrieved.similarity stays exactly what the embedder returned — so a boosted result says how many phrasings agreed and what it was given, rather than quietly inflating its own confidence.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LAYER 2 · RERANKING</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We measured where the evidence sits, before building anything</a:t>
            </a:r>
            <a:endParaRPr lang="en-US" sz="3000" dirty="0"/>
          </a:p>
        </p:txBody>
      </p:sp>
      <p:sp>
        <p:nvSpPr>
          <p:cNvPr id="7" name="Text 2"/>
          <p:cNvSpPr/>
          <p:nvPr/>
        </p:nvSpPr>
        <p:spPr>
          <a:xfrm>
            <a:off x="566928" y="1844040"/>
            <a:ext cx="11057839" cy="562864"/>
          </a:xfrm>
          <a:prstGeom prst="rect">
            <a:avLst/>
          </a:prstGeom>
          <a:noFill/>
          <a:ln/>
        </p:spPr>
        <p:txBody>
          <a:bodyPr wrap="square" lIns="0" tIns="0" rIns="0" bIns="0" rtlCol="0" anchor="t"/>
          <a:lstStyle/>
          <a:p>
            <a:pPr indent="0" marL="0">
              <a:lnSpc>
                <a:spcPts val="2000"/>
              </a:lnSpc>
              <a:buNone/>
            </a:pPr>
            <a:r>
              <a:rPr lang="en-US" sz="1450" i="1" dirty="0">
                <a:solidFill>
                  <a:srgbClr val="6B7A8C"/>
                </a:solidFill>
                <a:latin typeface="Calibri" pitchFamily="34" charset="0"/>
                <a:ea typeface="Calibri" pitchFamily="34" charset="-122"/>
                <a:cs typeface="Calibri" pitchFamily="34" charset="-120"/>
              </a:rPr>
              <a:t>The embedder scores question and passage separately — neither vector ever sees the other. A reranker reads them together, which is why it can tell a passage that shares vocabulary from one that answers.</a:t>
            </a:r>
            <a:endParaRPr lang="en-US" sz="1450" dirty="0"/>
          </a:p>
        </p:txBody>
      </p:sp>
      <p:graphicFrame>
        <p:nvGraphicFramePr>
          <p:cNvPr id="8" name="Chart 0" descr=""/>
          <p:cNvGraphicFramePr/>
          <p:nvPr/>
        </p:nvGraphicFramePr>
        <p:xfrm>
          <a:off x="566928" y="2571496"/>
          <a:ext cx="11057839" cy="1060704"/>
        </p:xfrm>
        <a:graphic xmlns:a="http://schemas.openxmlformats.org/drawingml/2006/main">
          <a:graphicData uri="http://schemas.openxmlformats.org/drawingml/2006/chart">
            <c:chart xmlns:c="http://schemas.openxmlformats.org/drawingml/2006/chart" r:id="rId4"/>
          </a:graphicData>
        </a:graphic>
      </p:graphicFrame>
      <p:sp>
        <p:nvSpPr>
          <p:cNvPr id="9" name="Text 3"/>
          <p:cNvSpPr/>
          <p:nvPr/>
        </p:nvSpPr>
        <p:spPr>
          <a:xfrm>
            <a:off x="566928" y="3687064"/>
            <a:ext cx="11057839" cy="365760"/>
          </a:xfrm>
          <a:prstGeom prst="rect">
            <a:avLst/>
          </a:prstGeom>
          <a:noFill/>
          <a:ln/>
        </p:spPr>
        <p:txBody>
          <a:bodyPr wrap="square" lIns="0" tIns="0" rIns="0" bIns="0" rtlCol="0" anchor="ctr"/>
          <a:lstStyle/>
          <a:p>
            <a:pPr indent="0" marL="0">
              <a:lnSpc>
                <a:spcPts val="1400"/>
              </a:lnSpc>
              <a:buNone/>
            </a:pPr>
            <a:r>
              <a:rPr lang="en-US" sz="1050" i="1" dirty="0">
                <a:solidFill>
                  <a:srgbClr val="6B7A8C"/>
                </a:solidFill>
                <a:latin typeface="Calibri" pitchFamily="34" charset="0"/>
                <a:ea typeface="Calibri" pitchFamily="34" charset="-122"/>
                <a:cs typeface="Calibri" pitchFamily="34" charset="-120"/>
              </a:rPr>
              <a:t>Method: query the index with each golden reference answer — the passages nearest an ideal answer are what retrieval ought to surface — then check where they land in the real ranking.</a:t>
            </a:r>
            <a:endParaRPr lang="en-US" sz="1050" dirty="0"/>
          </a:p>
        </p:txBody>
      </p:sp>
      <p:sp>
        <p:nvSpPr>
          <p:cNvPr id="10" name="Shape 4"/>
          <p:cNvSpPr/>
          <p:nvPr/>
        </p:nvSpPr>
        <p:spPr>
          <a:xfrm>
            <a:off x="566928" y="4071112"/>
            <a:ext cx="3557930" cy="1335024"/>
          </a:xfrm>
          <a:prstGeom prst="roundRect">
            <a:avLst>
              <a:gd name="adj" fmla="val 4110"/>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1" name="Text 5"/>
          <p:cNvSpPr/>
          <p:nvPr/>
        </p:nvSpPr>
        <p:spPr>
          <a:xfrm>
            <a:off x="786384" y="4199128"/>
            <a:ext cx="3119018" cy="402336"/>
          </a:xfrm>
          <a:prstGeom prst="rect">
            <a:avLst/>
          </a:prstGeom>
          <a:noFill/>
          <a:ln/>
        </p:spPr>
        <p:txBody>
          <a:bodyPr wrap="square" lIns="0" tIns="0" rIns="0" bIns="0" rtlCol="0" anchor="t"/>
          <a:lstStyle/>
          <a:p>
            <a:pPr indent="0" marL="0">
              <a:lnSpc>
                <a:spcPts val="1500"/>
              </a:lnSpc>
              <a:buNone/>
            </a:pPr>
            <a:r>
              <a:rPr lang="en-US" sz="1250" b="1" dirty="0">
                <a:solidFill>
                  <a:srgbClr val="0E1A2B"/>
                </a:solidFill>
                <a:latin typeface="Cambria" pitchFamily="34" charset="0"/>
                <a:ea typeface="Cambria" pitchFamily="34" charset="-122"/>
                <a:cs typeface="Cambria" pitchFamily="34" charset="-120"/>
              </a:rPr>
              <a:t>41% is a ranking problem, not a recall problem</a:t>
            </a:r>
            <a:endParaRPr lang="en-US" sz="1250" dirty="0"/>
          </a:p>
        </p:txBody>
      </p:sp>
      <p:sp>
        <p:nvSpPr>
          <p:cNvPr id="12" name="Text 6"/>
          <p:cNvSpPr/>
          <p:nvPr/>
        </p:nvSpPr>
        <p:spPr>
          <a:xfrm>
            <a:off x="786384" y="4619752"/>
            <a:ext cx="3119018" cy="713232"/>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Two-fifths of the evidence is retrieved and then ranked too low. That is a reranker's job exactly. Corroborated independently: recall jumped 0.628 → 0.781 going from depth 5 to 10.</a:t>
            </a:r>
            <a:endParaRPr lang="en-US" sz="1000" dirty="0"/>
          </a:p>
        </p:txBody>
      </p:sp>
      <p:sp>
        <p:nvSpPr>
          <p:cNvPr id="13" name="Shape 7"/>
          <p:cNvSpPr/>
          <p:nvPr/>
        </p:nvSpPr>
        <p:spPr>
          <a:xfrm>
            <a:off x="4316882" y="4071112"/>
            <a:ext cx="3557930" cy="1335024"/>
          </a:xfrm>
          <a:prstGeom prst="roundRect">
            <a:avLst>
              <a:gd name="adj" fmla="val 4110"/>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4" name="Text 8"/>
          <p:cNvSpPr/>
          <p:nvPr/>
        </p:nvSpPr>
        <p:spPr>
          <a:xfrm>
            <a:off x="4536338" y="4199128"/>
            <a:ext cx="3119018" cy="402336"/>
          </a:xfrm>
          <a:prstGeom prst="rect">
            <a:avLst/>
          </a:prstGeom>
          <a:noFill/>
          <a:ln/>
        </p:spPr>
        <p:txBody>
          <a:bodyPr wrap="square" lIns="0" tIns="0" rIns="0" bIns="0" rtlCol="0" anchor="t"/>
          <a:lstStyle/>
          <a:p>
            <a:pPr indent="0" marL="0">
              <a:lnSpc>
                <a:spcPts val="1500"/>
              </a:lnSpc>
              <a:buNone/>
            </a:pPr>
            <a:r>
              <a:rPr lang="en-US" sz="1250" b="1" dirty="0">
                <a:solidFill>
                  <a:srgbClr val="0E1A2B"/>
                </a:solidFill>
                <a:latin typeface="Cambria" pitchFamily="34" charset="0"/>
                <a:ea typeface="Cambria" pitchFamily="34" charset="-122"/>
                <a:cs typeface="Cambria" pitchFamily="34" charset="-120"/>
              </a:rPr>
              <a:t>Listwise, not pointwise</a:t>
            </a:r>
            <a:endParaRPr lang="en-US" sz="1250" dirty="0"/>
          </a:p>
        </p:txBody>
      </p:sp>
      <p:sp>
        <p:nvSpPr>
          <p:cNvPr id="15" name="Text 9"/>
          <p:cNvSpPr/>
          <p:nvPr/>
        </p:nvSpPr>
        <p:spPr>
          <a:xfrm>
            <a:off x="4536338" y="4619752"/>
            <a:ext cx="3119018" cy="713232"/>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Every candidate goes into one prompt and the model returns an order — one generation call per search, the same budget query expansion already spends. No new dependency.</a:t>
            </a:r>
            <a:endParaRPr lang="en-US" sz="1000" dirty="0"/>
          </a:p>
        </p:txBody>
      </p:sp>
      <p:sp>
        <p:nvSpPr>
          <p:cNvPr id="16" name="Shape 10"/>
          <p:cNvSpPr/>
          <p:nvPr/>
        </p:nvSpPr>
        <p:spPr>
          <a:xfrm>
            <a:off x="8066837" y="4071112"/>
            <a:ext cx="3557930" cy="1335024"/>
          </a:xfrm>
          <a:prstGeom prst="roundRect">
            <a:avLst>
              <a:gd name="adj" fmla="val 4110"/>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7" name="Text 11"/>
          <p:cNvSpPr/>
          <p:nvPr/>
        </p:nvSpPr>
        <p:spPr>
          <a:xfrm>
            <a:off x="8286293" y="4199128"/>
            <a:ext cx="3119018" cy="402336"/>
          </a:xfrm>
          <a:prstGeom prst="rect">
            <a:avLst/>
          </a:prstGeom>
          <a:noFill/>
          <a:ln/>
        </p:spPr>
        <p:txBody>
          <a:bodyPr wrap="square" lIns="0" tIns="0" rIns="0" bIns="0" rtlCol="0" anchor="t"/>
          <a:lstStyle/>
          <a:p>
            <a:pPr indent="0" marL="0">
              <a:lnSpc>
                <a:spcPts val="1500"/>
              </a:lnSpc>
              <a:buNone/>
            </a:pPr>
            <a:r>
              <a:rPr lang="en-US" sz="1250" b="1" dirty="0">
                <a:solidFill>
                  <a:srgbClr val="0E1A2B"/>
                </a:solidFill>
                <a:latin typeface="Cambria" pitchFamily="34" charset="0"/>
                <a:ea typeface="Cambria" pitchFamily="34" charset="-122"/>
                <a:cs typeface="Cambria" pitchFamily="34" charset="-120"/>
              </a:rPr>
              <a:t>Rerank the pool, then cut</a:t>
            </a:r>
            <a:endParaRPr lang="en-US" sz="1250" dirty="0"/>
          </a:p>
        </p:txBody>
      </p:sp>
      <p:sp>
        <p:nvSpPr>
          <p:cNvPr id="18" name="Text 12"/>
          <p:cNvSpPr/>
          <p:nvPr/>
        </p:nvSpPr>
        <p:spPr>
          <a:xfrm>
            <a:off x="8286293" y="4619752"/>
            <a:ext cx="3119018" cy="713232"/>
          </a:xfrm>
          <a:prstGeom prst="rect">
            <a:avLst/>
          </a:prstGeom>
          <a:noFill/>
          <a:ln/>
        </p:spPr>
        <p:txBody>
          <a:bodyPr wrap="square" lIns="0" tIns="0" rIns="0" bIns="0" rtlCol="0" anchor="t"/>
          <a:lstStyle/>
          <a:p>
            <a:pPr indent="0" marL="0">
              <a:lnSpc>
                <a:spcPts val="1300"/>
              </a:lnSpc>
              <a:buNone/>
            </a:pPr>
            <a:r>
              <a:rPr lang="en-US" sz="1000" dirty="0">
                <a:solidFill>
                  <a:srgbClr val="46566B"/>
                </a:solidFill>
                <a:latin typeface="Calibri" pitchFamily="34" charset="0"/>
                <a:ea typeface="Calibri" pitchFamily="34" charset="-122"/>
                <a:cs typeface="Calibri" pitchFamily="34" charset="-120"/>
              </a:rPr>
              <a:t>Ranking only what dense already preferred would defeat the point. It reorders and never filters: candidates the model omits keep their dense order behind the ones it chose.</a:t>
            </a:r>
            <a:endParaRPr lang="en-US" sz="1000" dirty="0"/>
          </a:p>
        </p:txBody>
      </p:sp>
      <p:sp>
        <p:nvSpPr>
          <p:cNvPr id="19" name="Shape 13"/>
          <p:cNvSpPr/>
          <p:nvPr/>
        </p:nvSpPr>
        <p:spPr>
          <a:xfrm>
            <a:off x="566928" y="5479288"/>
            <a:ext cx="11057839" cy="786384"/>
          </a:xfrm>
          <a:prstGeom prst="roundRect">
            <a:avLst>
              <a:gd name="adj" fmla="val 6977"/>
            </a:avLst>
          </a:prstGeom>
          <a:solidFill>
            <a:srgbClr val="EDF6F2"/>
          </a:solidFill>
          <a:ln w="9525">
            <a:solidFill>
              <a:srgbClr val="C6E4D8"/>
            </a:solidFill>
            <a:prstDash val="solid"/>
          </a:ln>
          <a:effectLst>
            <a:outerShdw sx="100000" sy="100000" kx="0" ky="0" algn="bl" rotWithShape="0" blurRad="127000" dist="508" dir="5400000">
              <a:srgbClr val="000000">
                <a:alpha val="9000"/>
              </a:srgbClr>
            </a:outerShdw>
          </a:effectLst>
        </p:spPr>
      </p:sp>
      <p:sp>
        <p:nvSpPr>
          <p:cNvPr id="20" name="Shape 14"/>
          <p:cNvSpPr/>
          <p:nvPr/>
        </p:nvSpPr>
        <p:spPr>
          <a:xfrm>
            <a:off x="804672" y="5607304"/>
            <a:ext cx="709574" cy="219456"/>
          </a:xfrm>
          <a:prstGeom prst="roundRect">
            <a:avLst>
              <a:gd name="adj" fmla="val 50000"/>
            </a:avLst>
          </a:prstGeom>
          <a:solidFill>
            <a:srgbClr val="0E7C5A"/>
          </a:solidFill>
          <a:ln w="12700">
            <a:solidFill>
              <a:srgbClr val="0E7C5A"/>
            </a:solidFill>
            <a:prstDash val="solid"/>
          </a:ln>
        </p:spPr>
      </p:sp>
      <p:sp>
        <p:nvSpPr>
          <p:cNvPr id="21" name="Text 15"/>
          <p:cNvSpPr/>
          <p:nvPr/>
        </p:nvSpPr>
        <p:spPr>
          <a:xfrm>
            <a:off x="804672" y="5607304"/>
            <a:ext cx="709574"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MEASURED</a:t>
            </a:r>
            <a:endParaRPr lang="en-US" sz="850" dirty="0"/>
          </a:p>
        </p:txBody>
      </p:sp>
      <p:sp>
        <p:nvSpPr>
          <p:cNvPr id="22" name="Text 16"/>
          <p:cNvSpPr/>
          <p:nvPr/>
        </p:nvSpPr>
        <p:spPr>
          <a:xfrm>
            <a:off x="2048256" y="5570728"/>
            <a:ext cx="9320479" cy="621792"/>
          </a:xfrm>
          <a:prstGeom prst="rect">
            <a:avLst/>
          </a:prstGeom>
          <a:noFill/>
          <a:ln/>
        </p:spPr>
        <p:txBody>
          <a:bodyPr wrap="square" lIns="0" tIns="0" rIns="0" bIns="0" rtlCol="0" anchor="t"/>
          <a:lstStyle/>
          <a:p>
            <a:pPr indent="0" marL="0">
              <a:lnSpc>
                <a:spcPts val="1350"/>
              </a:lnSpc>
              <a:buNone/>
            </a:pPr>
            <a:r>
              <a:rPr lang="en-US" sz="1000" b="1" dirty="0">
                <a:solidFill>
                  <a:srgbClr val="0E1A2B"/>
                </a:solidFill>
                <a:latin typeface="Calibri" pitchFamily="34" charset="0"/>
                <a:ea typeface="Calibri" pitchFamily="34" charset="-122"/>
                <a:cs typeface="Calibri" pitchFamily="34" charset="-120"/>
              </a:rPr>
              <a:t>Context precision 0.739 → 0.819</a:t>
            </a:r>
            <a:pPr indent="0" marL="0">
              <a:lnSpc>
                <a:spcPts val="1350"/>
              </a:lnSpc>
              <a:buNone/>
            </a:pPr>
            <a:r>
              <a:rPr lang="en-US" sz="1000" dirty="0">
                <a:solidFill>
                  <a:srgbClr val="38504A"/>
                </a:solidFill>
                <a:latin typeface="Calibri" pitchFamily="34" charset="0"/>
                <a:ea typeface="Calibri" pitchFamily="34" charset="-122"/>
                <a:cs typeface="Calibri" pitchFamily="34" charset="-120"/>
              </a:rPr>
              <a:t> over the answerable questions — the metric reranking exists to move, and the one that was failing. Answer relevancy rises 0.040 with it, because a cleaner context makes a less diluted answer. </a:t>
            </a:r>
            <a:pPr indent="0" marL="0">
              <a:lnSpc>
                <a:spcPts val="1350"/>
              </a:lnSpc>
              <a:buNone/>
            </a:pPr>
            <a:r>
              <a:rPr lang="en-US" sz="1000" b="1" dirty="0">
                <a:solidFill>
                  <a:srgbClr val="0E1A2B"/>
                </a:solidFill>
                <a:latin typeface="Calibri" pitchFamily="34" charset="0"/>
                <a:ea typeface="Calibri" pitchFamily="34" charset="-122"/>
                <a:cs typeface="Calibri" pitchFamily="34" charset="-120"/>
              </a:rPr>
              <a:t>Recall is flat at −0.006</a:t>
            </a:r>
            <a:pPr indent="0" marL="0">
              <a:lnSpc>
                <a:spcPts val="1350"/>
              </a:lnSpc>
              <a:buNone/>
            </a:pPr>
            <a:r>
              <a:rPr lang="en-US" sz="1000" dirty="0">
                <a:solidFill>
                  <a:srgbClr val="38504A"/>
                </a:solidFill>
                <a:latin typeface="Calibri" pitchFamily="34" charset="0"/>
                <a:ea typeface="Calibri" pitchFamily="34" charset="-122"/>
                <a:cs typeface="Calibri" pitchFamily="34" charset="-120"/>
              </a:rPr>
              <a:t>, which is the control: a reranker reorders what dense retrieval already found, so it cannot add evidence. That is exactly the shape the mechanism predicts.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LAYER 3 · GROUNDING</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Asking for a citation is not the same as having one</a:t>
            </a:r>
            <a:endParaRPr lang="en-US" sz="3000" dirty="0"/>
          </a:p>
        </p:txBody>
      </p:sp>
      <p:sp>
        <p:nvSpPr>
          <p:cNvPr id="7" name="Text 2"/>
          <p:cNvSpPr/>
          <p:nvPr/>
        </p:nvSpPr>
        <p:spPr>
          <a:xfrm>
            <a:off x="566928" y="1554480"/>
            <a:ext cx="5303520" cy="201168"/>
          </a:xfrm>
          <a:prstGeom prst="rect">
            <a:avLst/>
          </a:prstGeom>
          <a:noFill/>
          <a:ln/>
        </p:spPr>
        <p:txBody>
          <a:bodyPr wrap="square" lIns="0" tIns="0" rIns="0" bIns="0" rtlCol="0" anchor="ctr"/>
          <a:lstStyle/>
          <a:p>
            <a:pPr indent="0" marL="0">
              <a:buNone/>
            </a:pPr>
            <a:r>
              <a:rPr lang="en-US" sz="850" b="1" spc="110" kern="0" dirty="0">
                <a:solidFill>
                  <a:srgbClr val="FF7900"/>
                </a:solidFill>
                <a:latin typeface="Calibri" pitchFamily="34" charset="0"/>
                <a:ea typeface="Calibri" pitchFamily="34" charset="-122"/>
                <a:cs typeface="Calibri" pitchFamily="34" charset="-120"/>
              </a:rPr>
              <a:t>THE PRINCIPLE</a:t>
            </a:r>
            <a:endParaRPr lang="en-US" sz="850" dirty="0"/>
          </a:p>
        </p:txBody>
      </p:sp>
      <p:sp>
        <p:nvSpPr>
          <p:cNvPr id="8" name="Text 3"/>
          <p:cNvSpPr/>
          <p:nvPr/>
        </p:nvSpPr>
        <p:spPr>
          <a:xfrm>
            <a:off x="566928" y="1764792"/>
            <a:ext cx="5303520" cy="736600"/>
          </a:xfrm>
          <a:prstGeom prst="rect">
            <a:avLst/>
          </a:prstGeom>
          <a:noFill/>
          <a:ln/>
        </p:spPr>
        <p:txBody>
          <a:bodyPr wrap="square" lIns="0" tIns="0" rIns="0" bIns="0" rtlCol="0" anchor="t"/>
          <a:lstStyle/>
          <a:p>
            <a:pPr indent="0" marL="0">
              <a:lnSpc>
                <a:spcPts val="1450"/>
              </a:lnSpc>
              <a:buNone/>
            </a:pPr>
            <a:r>
              <a:rPr lang="en-US" sz="1100" dirty="0">
                <a:solidFill>
                  <a:srgbClr val="39485C"/>
                </a:solidFill>
                <a:latin typeface="Calibri" pitchFamily="34" charset="0"/>
                <a:ea typeface="Calibri" pitchFamily="34" charset="-122"/>
                <a:cs typeface="Calibri" pitchFamily="34" charset="-120"/>
              </a:rPr>
              <a:t>The model chooses which source supports a claim. The page that source came from is not its to invent. So every citation it writes is rewritten against the index afterwards — the page of source n is something the answerer already knows, and looking it up beats trusting the model to copy it.</a:t>
            </a:r>
            <a:endParaRPr lang="en-US" sz="1100" dirty="0"/>
          </a:p>
        </p:txBody>
      </p:sp>
      <p:sp>
        <p:nvSpPr>
          <p:cNvPr id="9" name="Text 4"/>
          <p:cNvSpPr/>
          <p:nvPr/>
        </p:nvSpPr>
        <p:spPr>
          <a:xfrm>
            <a:off x="566928" y="2665984"/>
            <a:ext cx="5303520" cy="201168"/>
          </a:xfrm>
          <a:prstGeom prst="rect">
            <a:avLst/>
          </a:prstGeom>
          <a:noFill/>
          <a:ln/>
        </p:spPr>
        <p:txBody>
          <a:bodyPr wrap="square" lIns="0" tIns="0" rIns="0" bIns="0" rtlCol="0" anchor="ctr"/>
          <a:lstStyle/>
          <a:p>
            <a:pPr indent="0" marL="0">
              <a:buNone/>
            </a:pPr>
            <a:r>
              <a:rPr lang="en-US" sz="850" b="1" spc="110" kern="0" dirty="0">
                <a:solidFill>
                  <a:srgbClr val="FF7900"/>
                </a:solidFill>
                <a:latin typeface="Calibri" pitchFamily="34" charset="0"/>
                <a:ea typeface="Calibri" pitchFamily="34" charset="-122"/>
                <a:cs typeface="Calibri" pitchFamily="34" charset="-120"/>
              </a:rPr>
              <a:t>AND WHERE IT STOPS</a:t>
            </a:r>
            <a:endParaRPr lang="en-US" sz="850" dirty="0"/>
          </a:p>
        </p:txBody>
      </p:sp>
      <p:sp>
        <p:nvSpPr>
          <p:cNvPr id="10" name="Text 5"/>
          <p:cNvSpPr/>
          <p:nvPr/>
        </p:nvSpPr>
        <p:spPr>
          <a:xfrm>
            <a:off x="566928" y="2876296"/>
            <a:ext cx="5303520" cy="552450"/>
          </a:xfrm>
          <a:prstGeom prst="rect">
            <a:avLst/>
          </a:prstGeom>
          <a:noFill/>
          <a:ln/>
        </p:spPr>
        <p:txBody>
          <a:bodyPr wrap="square" lIns="0" tIns="0" rIns="0" bIns="0" rtlCol="0" anchor="t"/>
          <a:lstStyle/>
          <a:p>
            <a:pPr indent="0" marL="0">
              <a:lnSpc>
                <a:spcPts val="1450"/>
              </a:lnSpc>
              <a:buNone/>
            </a:pPr>
            <a:r>
              <a:rPr lang="en-US" sz="1100" dirty="0">
                <a:solidFill>
                  <a:srgbClr val="39485C"/>
                </a:solidFill>
                <a:latin typeface="Calibri" pitchFamily="34" charset="0"/>
                <a:ea typeface="Calibri" pitchFamily="34" charset="-122"/>
                <a:cs typeface="Calibri" pitchFamily="34" charset="-120"/>
              </a:rPr>
              <a:t>A citation pointing at a source that does not exist is left exactly as it is. Silently renumbering it would hide the model inventing a source — which is the one thing this must surface.</a:t>
            </a:r>
            <a:endParaRPr lang="en-US" sz="1100" dirty="0"/>
          </a:p>
        </p:txBody>
      </p:sp>
      <p:sp>
        <p:nvSpPr>
          <p:cNvPr id="11" name="Shape 6"/>
          <p:cNvSpPr/>
          <p:nvPr/>
        </p:nvSpPr>
        <p:spPr>
          <a:xfrm>
            <a:off x="566928" y="3291840"/>
            <a:ext cx="5303520" cy="1975104"/>
          </a:xfrm>
          <a:prstGeom prst="roundRect">
            <a:avLst>
              <a:gd name="adj" fmla="val 2778"/>
            </a:avLst>
          </a:prstGeom>
          <a:solidFill>
            <a:srgbClr val="0E1A2B"/>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12" name="Text 7"/>
          <p:cNvSpPr/>
          <p:nvPr/>
        </p:nvSpPr>
        <p:spPr>
          <a:xfrm>
            <a:off x="731520" y="3410712"/>
            <a:ext cx="4974336" cy="1737360"/>
          </a:xfrm>
          <a:prstGeom prst="rect">
            <a:avLst/>
          </a:prstGeom>
          <a:noFill/>
          <a:ln/>
        </p:spPr>
        <p:txBody>
          <a:bodyPr wrap="square" lIns="0" tIns="0" rIns="0" bIns="0" rtlCol="0" anchor="t"/>
          <a:lstStyle/>
          <a:p>
            <a:pPr indent="0" marL="0">
              <a:lnSpc>
                <a:spcPts val="1350"/>
              </a:lnSpc>
              <a:buNone/>
            </a:pPr>
            <a:r>
              <a:rPr lang="en-US" sz="950" dirty="0">
                <a:solidFill>
                  <a:srgbClr val="C9D6E4"/>
                </a:solidFill>
                <a:latin typeface="Courier New" pitchFamily="34" charset="0"/>
                <a:ea typeface="Courier New" pitchFamily="34" charset="-122"/>
                <a:cs typeface="Courier New" pitchFamily="34" charset="-120"/>
              </a:rPr>
              <a:t>prompt   →  Cite every claim as [1, p. 12]</a:t>
            </a:r>
            <a:endParaRPr lang="en-US" sz="950" dirty="0"/>
          </a:p>
          <a:p>
            <a:pPr indent="0" marL="0">
              <a:lnSpc>
                <a:spcPts val="1350"/>
              </a:lnSpc>
              <a:buNone/>
            </a:pPr>
            <a:endParaRPr lang="en-US" sz="950" dirty="0"/>
          </a:p>
          <a:p>
            <a:pPr indent="0" marL="0">
              <a:lnSpc>
                <a:spcPts val="1350"/>
              </a:lnSpc>
              <a:buNone/>
            </a:pPr>
            <a:r>
              <a:rPr lang="en-US" sz="950" dirty="0">
                <a:solidFill>
                  <a:srgbClr val="C9D6E4"/>
                </a:solidFill>
                <a:latin typeface="Courier New" pitchFamily="34" charset="0"/>
                <a:ea typeface="Courier New" pitchFamily="34" charset="-122"/>
                <a:cs typeface="Courier New" pitchFamily="34" charset="-120"/>
              </a:rPr>
              <a:t>model    →  ... 5 g U+3010 4, p. 4 U+3011</a:t>
            </a:r>
            <a:endParaRPr lang="en-US" sz="950" dirty="0"/>
          </a:p>
          <a:p>
            <a:pPr indent="0" marL="0">
              <a:lnSpc>
                <a:spcPts val="1350"/>
              </a:lnSpc>
              <a:buNone/>
            </a:pPr>
            <a:r>
              <a:rPr lang="en-US" sz="950" dirty="0">
                <a:solidFill>
                  <a:srgbClr val="C9D6E4"/>
                </a:solidFill>
                <a:latin typeface="Courier New" pitchFamily="34" charset="0"/>
                <a:ea typeface="Courier New" pitchFamily="34" charset="-122"/>
                <a:cs typeface="Courier New" pitchFamily="34" charset="-120"/>
              </a:rPr>
              <a:t>                    ^^^^^^^^^^^^^^^^^^^^</a:t>
            </a:r>
            <a:endParaRPr lang="en-US" sz="950" dirty="0"/>
          </a:p>
          <a:p>
            <a:pPr indent="0" marL="0">
              <a:lnSpc>
                <a:spcPts val="1350"/>
              </a:lnSpc>
              <a:buNone/>
            </a:pPr>
            <a:r>
              <a:rPr lang="en-US" sz="950" dirty="0">
                <a:solidFill>
                  <a:srgbClr val="C9D6E4"/>
                </a:solidFill>
                <a:latin typeface="Courier New" pitchFamily="34" charset="0"/>
                <a:ea typeface="Courier New" pitchFamily="34" charset="-122"/>
                <a:cs typeface="Courier New" pitchFamily="34" charset="-120"/>
              </a:rPr>
              <a:t>                    fullwidth CJK brackets</a:t>
            </a:r>
            <a:endParaRPr lang="en-US" sz="950" dirty="0"/>
          </a:p>
          <a:p>
            <a:pPr indent="0" marL="0">
              <a:lnSpc>
                <a:spcPts val="1350"/>
              </a:lnSpc>
              <a:buNone/>
            </a:pPr>
            <a:endParaRPr lang="en-US" sz="950" dirty="0"/>
          </a:p>
          <a:p>
            <a:pPr indent="0" marL="0">
              <a:lnSpc>
                <a:spcPts val="1350"/>
              </a:lnSpc>
              <a:buNone/>
            </a:pPr>
            <a:r>
              <a:rPr lang="en-US" sz="950" dirty="0">
                <a:solidFill>
                  <a:srgbClr val="C9D6E4"/>
                </a:solidFill>
                <a:latin typeface="Courier New" pitchFamily="34" charset="0"/>
                <a:ea typeface="Courier New" pitchFamily="34" charset="-122"/>
                <a:cs typeface="Courier New" pitchFamily="34" charset="-120"/>
              </a:rPr>
              <a:t>rewrite  →  ... 5 g [4, p. 7]</a:t>
            </a:r>
            <a:endParaRPr lang="en-US" sz="950" dirty="0"/>
          </a:p>
          <a:p>
            <a:pPr indent="0" marL="0">
              <a:lnSpc>
                <a:spcPts val="1350"/>
              </a:lnSpc>
              <a:buNone/>
            </a:pPr>
            <a:r>
              <a:rPr lang="en-US" sz="950" dirty="0">
                <a:solidFill>
                  <a:srgbClr val="C9D6E4"/>
                </a:solidFill>
                <a:latin typeface="Courier New" pitchFamily="34" charset="0"/>
                <a:ea typeface="Courier New" pitchFamily="34" charset="-122"/>
                <a:cs typeface="Courier New" pitchFamily="34" charset="-120"/>
              </a:rPr>
              <a:t>                     ^^^^^</a:t>
            </a:r>
            <a:endParaRPr lang="en-US" sz="950" dirty="0"/>
          </a:p>
          <a:p>
            <a:pPr indent="0" marL="0">
              <a:lnSpc>
                <a:spcPts val="1350"/>
              </a:lnSpc>
              <a:buNone/>
            </a:pPr>
            <a:r>
              <a:rPr lang="en-US" sz="950" dirty="0">
                <a:solidFill>
                  <a:srgbClr val="C9D6E4"/>
                </a:solidFill>
                <a:latin typeface="Courier New" pitchFamily="34" charset="0"/>
                <a:ea typeface="Courier New" pitchFamily="34" charset="-122"/>
                <a:cs typeface="Courier New" pitchFamily="34" charset="-120"/>
              </a:rPr>
              <a:t>           page from Retrieved.pages,</a:t>
            </a:r>
            <a:endParaRPr lang="en-US" sz="950" dirty="0"/>
          </a:p>
          <a:p>
            <a:pPr indent="0" marL="0">
              <a:lnSpc>
                <a:spcPts val="1350"/>
              </a:lnSpc>
              <a:buNone/>
            </a:pPr>
            <a:r>
              <a:rPr lang="en-US" sz="950" dirty="0">
                <a:solidFill>
                  <a:srgbClr val="C9D6E4"/>
                </a:solidFill>
                <a:latin typeface="Courier New" pitchFamily="34" charset="0"/>
                <a:ea typeface="Courier New" pitchFamily="34" charset="-122"/>
                <a:cs typeface="Courier New" pitchFamily="34" charset="-120"/>
              </a:rPr>
              <a:t>           never from the model</a:t>
            </a:r>
            <a:endParaRPr lang="en-US" sz="950" dirty="0"/>
          </a:p>
        </p:txBody>
      </p:sp>
      <p:sp>
        <p:nvSpPr>
          <p:cNvPr id="13" name="Shape 8"/>
          <p:cNvSpPr/>
          <p:nvPr/>
        </p:nvSpPr>
        <p:spPr>
          <a:xfrm>
            <a:off x="6272784" y="1554480"/>
            <a:ext cx="5351983" cy="2121408"/>
          </a:xfrm>
          <a:prstGeom prst="roundRect">
            <a:avLst>
              <a:gd name="adj" fmla="val 2586"/>
            </a:avLst>
          </a:prstGeom>
          <a:solidFill>
            <a:srgbClr val="FDF1EC"/>
          </a:solidFill>
          <a:ln w="9525">
            <a:solidFill>
              <a:srgbClr val="F3D8CB"/>
            </a:solidFill>
            <a:prstDash val="solid"/>
          </a:ln>
          <a:effectLst>
            <a:outerShdw sx="100000" sy="100000" kx="0" ky="0" algn="bl" rotWithShape="0" blurRad="127000" dist="508" dir="5400000">
              <a:srgbClr val="000000">
                <a:alpha val="9000"/>
              </a:srgbClr>
            </a:outerShdw>
          </a:effectLst>
        </p:spPr>
      </p:sp>
      <p:sp>
        <p:nvSpPr>
          <p:cNvPr id="14" name="Shape 9"/>
          <p:cNvSpPr/>
          <p:nvPr/>
        </p:nvSpPr>
        <p:spPr>
          <a:xfrm>
            <a:off x="6510528" y="1700784"/>
            <a:ext cx="841248" cy="219456"/>
          </a:xfrm>
          <a:prstGeom prst="roundRect">
            <a:avLst>
              <a:gd name="adj" fmla="val 50000"/>
            </a:avLst>
          </a:prstGeom>
          <a:solidFill>
            <a:srgbClr val="B3261E"/>
          </a:solidFill>
          <a:ln w="12700">
            <a:solidFill>
              <a:srgbClr val="B3261E"/>
            </a:solidFill>
            <a:prstDash val="solid"/>
          </a:ln>
        </p:spPr>
      </p:sp>
      <p:sp>
        <p:nvSpPr>
          <p:cNvPr id="15" name="Text 10"/>
          <p:cNvSpPr/>
          <p:nvPr/>
        </p:nvSpPr>
        <p:spPr>
          <a:xfrm>
            <a:off x="6510528" y="1700784"/>
            <a:ext cx="841248"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THE DEFECT</a:t>
            </a:r>
            <a:endParaRPr lang="en-US" sz="850" dirty="0"/>
          </a:p>
        </p:txBody>
      </p:sp>
      <p:sp>
        <p:nvSpPr>
          <p:cNvPr id="16" name="Text 11"/>
          <p:cNvSpPr/>
          <p:nvPr/>
        </p:nvSpPr>
        <p:spPr>
          <a:xfrm>
            <a:off x="6510528" y="1975104"/>
            <a:ext cx="4937760" cy="274320"/>
          </a:xfrm>
          <a:prstGeom prst="rect">
            <a:avLst/>
          </a:prstGeom>
          <a:noFill/>
          <a:ln/>
        </p:spPr>
        <p:txBody>
          <a:bodyPr wrap="square" lIns="0" tIns="0" rIns="0" bIns="0" rtlCol="0" anchor="ctr"/>
          <a:lstStyle/>
          <a:p>
            <a:pPr indent="0" marL="0">
              <a:buNone/>
            </a:pPr>
            <a:r>
              <a:rPr lang="en-US" sz="1450" b="1" dirty="0">
                <a:solidFill>
                  <a:srgbClr val="0E1A2B"/>
                </a:solidFill>
                <a:latin typeface="Cambria" pitchFamily="34" charset="0"/>
                <a:ea typeface="Cambria" pitchFamily="34" charset="-122"/>
                <a:cs typeface="Cambria" pitchFamily="34" charset="-120"/>
              </a:rPr>
              <a:t>Half the citations bypassed verification</a:t>
            </a:r>
            <a:endParaRPr lang="en-US" sz="1450" dirty="0"/>
          </a:p>
        </p:txBody>
      </p:sp>
      <p:sp>
        <p:nvSpPr>
          <p:cNvPr id="17" name="Text 12"/>
          <p:cNvSpPr/>
          <p:nvPr/>
        </p:nvSpPr>
        <p:spPr>
          <a:xfrm>
            <a:off x="6510528" y="2286000"/>
            <a:ext cx="4937760" cy="1280160"/>
          </a:xfrm>
          <a:prstGeom prst="rect">
            <a:avLst/>
          </a:prstGeom>
          <a:noFill/>
          <a:ln/>
        </p:spPr>
        <p:txBody>
          <a:bodyPr wrap="square" lIns="0" tIns="0" rIns="0" bIns="0" rtlCol="0" anchor="t"/>
          <a:lstStyle/>
          <a:p>
            <a:pPr indent="0" marL="0">
              <a:lnSpc>
                <a:spcPts val="1350"/>
              </a:lnSpc>
              <a:buNone/>
            </a:pPr>
            <a:r>
              <a:rPr lang="en-US" sz="1000" dirty="0">
                <a:solidFill>
                  <a:srgbClr val="5A4038"/>
                </a:solidFill>
                <a:latin typeface="Calibri" pitchFamily="34" charset="0"/>
                <a:ea typeface="Calibri" pitchFamily="34" charset="-122"/>
                <a:cs typeface="Calibri" pitchFamily="34" charset="-120"/>
              </a:rPr>
              <a:t>The matching pattern accepted only ASCII brackets. gpt-oss-20b reaches instead for the fullwidth CJK variants, U+3010 and U+3011 — in 11 of 22 answers in one run — and every one of those passed through untouched.</a:t>
            </a:r>
            <a:endParaRPr lang="en-US" sz="1000" dirty="0"/>
          </a:p>
          <a:p>
            <a:pPr indent="0" marL="0">
              <a:lnSpc>
                <a:spcPts val="1350"/>
              </a:lnSpc>
              <a:buNone/>
            </a:pPr>
            <a:endParaRPr lang="en-US" sz="1000" dirty="0"/>
          </a:p>
          <a:p>
            <a:pPr indent="0" marL="0">
              <a:lnSpc>
                <a:spcPts val="1350"/>
              </a:lnSpc>
              <a:buNone/>
            </a:pPr>
            <a:r>
              <a:rPr lang="en-US" sz="1000" dirty="0">
                <a:solidFill>
                  <a:srgbClr val="5A4038"/>
                </a:solidFill>
                <a:latin typeface="Calibri" pitchFamily="34" charset="0"/>
                <a:ea typeface="Calibri" pitchFamily="34" charset="-122"/>
                <a:cs typeface="Calibri" pitchFamily="34" charset="-120"/>
              </a:rPr>
              <a:t>An unrewritten citation is a page the model chose, displayed identically to one the index confirmed. That is precisely the failure the rewrite exists to prevent. The pattern now accepts both and always emits the ASCII form.</a:t>
            </a:r>
            <a:endParaRPr lang="en-US" sz="1000" dirty="0"/>
          </a:p>
        </p:txBody>
      </p:sp>
      <p:sp>
        <p:nvSpPr>
          <p:cNvPr id="18" name="Shape 13"/>
          <p:cNvSpPr/>
          <p:nvPr/>
        </p:nvSpPr>
        <p:spPr>
          <a:xfrm>
            <a:off x="6272784" y="3803904"/>
            <a:ext cx="5351983" cy="1261872"/>
          </a:xfrm>
          <a:prstGeom prst="roundRect">
            <a:avLst>
              <a:gd name="adj" fmla="val 4348"/>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9" name="Text 14"/>
          <p:cNvSpPr/>
          <p:nvPr/>
        </p:nvSpPr>
        <p:spPr>
          <a:xfrm>
            <a:off x="6510528" y="3950208"/>
            <a:ext cx="2743200" cy="256032"/>
          </a:xfrm>
          <a:prstGeom prst="rect">
            <a:avLst/>
          </a:prstGeom>
          <a:noFill/>
          <a:ln/>
        </p:spPr>
        <p:txBody>
          <a:bodyPr wrap="square" lIns="0" tIns="0" rIns="0" bIns="0" rtlCol="0" anchor="ctr"/>
          <a:lstStyle/>
          <a:p>
            <a:pPr indent="0" marL="0">
              <a:buNone/>
            </a:pPr>
            <a:r>
              <a:rPr lang="en-US" sz="1000" b="1" spc="80" kern="0" dirty="0">
                <a:solidFill>
                  <a:srgbClr val="6B7A8C"/>
                </a:solidFill>
                <a:latin typeface="Calibri" pitchFamily="34" charset="0"/>
                <a:ea typeface="Calibri" pitchFamily="34" charset="-122"/>
                <a:cs typeface="Calibri" pitchFamily="34" charset="-120"/>
              </a:rPr>
              <a:t>Verified by hand</a:t>
            </a:r>
            <a:endParaRPr lang="en-US" sz="1000" dirty="0"/>
          </a:p>
        </p:txBody>
      </p:sp>
      <p:sp>
        <p:nvSpPr>
          <p:cNvPr id="20" name="Text 15"/>
          <p:cNvSpPr/>
          <p:nvPr/>
        </p:nvSpPr>
        <p:spPr>
          <a:xfrm>
            <a:off x="6510528" y="4224528"/>
            <a:ext cx="2011680" cy="457200"/>
          </a:xfrm>
          <a:prstGeom prst="rect">
            <a:avLst/>
          </a:prstGeom>
          <a:noFill/>
          <a:ln/>
        </p:spPr>
        <p:txBody>
          <a:bodyPr wrap="square" lIns="0" tIns="0" rIns="0" bIns="0" rtlCol="0" anchor="ctr"/>
          <a:lstStyle/>
          <a:p>
            <a:pPr algn="l" indent="0" marL="0">
              <a:buNone/>
            </a:pPr>
            <a:r>
              <a:rPr lang="en-US" sz="3000" b="1" dirty="0">
                <a:solidFill>
                  <a:srgbClr val="0E7C5A"/>
                </a:solidFill>
                <a:latin typeface="Cambria" pitchFamily="34" charset="0"/>
                <a:ea typeface="Cambria" pitchFamily="34" charset="-122"/>
                <a:cs typeface="Cambria" pitchFamily="34" charset="-120"/>
              </a:rPr>
              <a:t>15/15</a:t>
            </a:r>
            <a:endParaRPr lang="en-US" sz="3000" dirty="0"/>
          </a:p>
        </p:txBody>
      </p:sp>
      <p:sp>
        <p:nvSpPr>
          <p:cNvPr id="21" name="Text 16"/>
          <p:cNvSpPr/>
          <p:nvPr/>
        </p:nvSpPr>
        <p:spPr>
          <a:xfrm>
            <a:off x="6510528" y="4681728"/>
            <a:ext cx="2011680" cy="533400"/>
          </a:xfrm>
          <a:prstGeom prst="rect">
            <a:avLst/>
          </a:prstGeom>
          <a:noFill/>
          <a:ln/>
        </p:spPr>
        <p:txBody>
          <a:bodyPr wrap="square" lIns="0" tIns="0" rIns="0" bIns="0" rtlCol="0" anchor="t"/>
          <a:lstStyle/>
          <a:p>
            <a:pPr algn="l" indent="0" marL="0">
              <a:lnSpc>
                <a:spcPts val="1400"/>
              </a:lnSpc>
              <a:buNone/>
            </a:pPr>
            <a:r>
              <a:rPr lang="en-US" sz="950" dirty="0">
                <a:solidFill>
                  <a:srgbClr val="6B7A8C"/>
                </a:solidFill>
                <a:latin typeface="Calibri" pitchFamily="34" charset="0"/>
                <a:ea typeface="Calibri" pitchFamily="34" charset="-122"/>
                <a:cs typeface="Calibri" pitchFamily="34" charset="-120"/>
              </a:rPr>
              <a:t>citations correct, 0 wrong — across 5 questions and their top 3 hits each</a:t>
            </a:r>
            <a:endParaRPr lang="en-US" sz="950" dirty="0"/>
          </a:p>
        </p:txBody>
      </p:sp>
      <p:sp>
        <p:nvSpPr>
          <p:cNvPr id="22" name="Text 17"/>
          <p:cNvSpPr/>
          <p:nvPr/>
        </p:nvSpPr>
        <p:spPr>
          <a:xfrm>
            <a:off x="8686800" y="4242816"/>
            <a:ext cx="2743200" cy="658368"/>
          </a:xfrm>
          <a:prstGeom prst="rect">
            <a:avLst/>
          </a:prstGeom>
          <a:noFill/>
          <a:ln/>
        </p:spPr>
        <p:txBody>
          <a:bodyPr wrap="square" lIns="0" tIns="0" rIns="0" bIns="0" rtlCol="0" anchor="t"/>
          <a:lstStyle/>
          <a:p>
            <a:pPr indent="0" marL="0">
              <a:lnSpc>
                <a:spcPts val="1300"/>
              </a:lnSpc>
              <a:buNone/>
            </a:pPr>
            <a:r>
              <a:rPr lang="en-US" sz="950" i="1" dirty="0">
                <a:solidFill>
                  <a:srgbClr val="6B7A8C"/>
                </a:solidFill>
                <a:latin typeface="Calibri" pitchFamily="34" charset="0"/>
                <a:ea typeface="Calibri" pitchFamily="34" charset="-122"/>
                <a:cs typeface="Calibri" pitchFamily="34" charset="-120"/>
              </a:rPr>
              <a:t>Method: pull the cited page out of the PDF and confirm the chunk text is on it.</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LAYER 4 · CLINICAL SAFETY</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Refusing too much is a safety failure too</a:t>
            </a:r>
            <a:endParaRPr lang="en-US" sz="3000" dirty="0"/>
          </a:p>
        </p:txBody>
      </p:sp>
      <p:sp>
        <p:nvSpPr>
          <p:cNvPr id="7" name="Shape 2"/>
          <p:cNvSpPr/>
          <p:nvPr/>
        </p:nvSpPr>
        <p:spPr>
          <a:xfrm>
            <a:off x="566928" y="1554480"/>
            <a:ext cx="5577840" cy="1975104"/>
          </a:xfrm>
          <a:prstGeom prst="roundRect">
            <a:avLst>
              <a:gd name="adj" fmla="val 2778"/>
            </a:avLst>
          </a:prstGeom>
          <a:solidFill>
            <a:srgbClr val="FDF1EC"/>
          </a:solidFill>
          <a:ln w="9525">
            <a:solidFill>
              <a:srgbClr val="F3D8CB"/>
            </a:solidFill>
            <a:prstDash val="solid"/>
          </a:ln>
          <a:effectLst>
            <a:outerShdw sx="100000" sy="100000" kx="0" ky="0" algn="bl" rotWithShape="0" blurRad="127000" dist="508" dir="5400000">
              <a:srgbClr val="000000">
                <a:alpha val="9000"/>
              </a:srgbClr>
            </a:outerShdw>
          </a:effectLst>
        </p:spPr>
      </p:sp>
      <p:sp>
        <p:nvSpPr>
          <p:cNvPr id="8" name="Shape 3"/>
          <p:cNvSpPr/>
          <p:nvPr/>
        </p:nvSpPr>
        <p:spPr>
          <a:xfrm>
            <a:off x="804672" y="1700784"/>
            <a:ext cx="1499616" cy="219456"/>
          </a:xfrm>
          <a:prstGeom prst="roundRect">
            <a:avLst>
              <a:gd name="adj" fmla="val 50000"/>
            </a:avLst>
          </a:prstGeom>
          <a:solidFill>
            <a:srgbClr val="B3261E"/>
          </a:solidFill>
          <a:ln w="12700">
            <a:solidFill>
              <a:srgbClr val="B3261E"/>
            </a:solidFill>
            <a:prstDash val="solid"/>
          </a:ln>
        </p:spPr>
      </p:sp>
      <p:sp>
        <p:nvSpPr>
          <p:cNvPr id="9" name="Text 4"/>
          <p:cNvSpPr/>
          <p:nvPr/>
        </p:nvSpPr>
        <p:spPr>
          <a:xfrm>
            <a:off x="804672" y="1700784"/>
            <a:ext cx="1499616"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THE HEADLINE FINDING</a:t>
            </a:r>
            <a:endParaRPr lang="en-US" sz="850" dirty="0"/>
          </a:p>
        </p:txBody>
      </p:sp>
      <p:sp>
        <p:nvSpPr>
          <p:cNvPr id="10" name="Text 5"/>
          <p:cNvSpPr/>
          <p:nvPr/>
        </p:nvSpPr>
        <p:spPr>
          <a:xfrm>
            <a:off x="804672" y="1975104"/>
            <a:ext cx="5120640" cy="274320"/>
          </a:xfrm>
          <a:prstGeom prst="rect">
            <a:avLst/>
          </a:prstGeom>
          <a:noFill/>
          <a:ln/>
        </p:spPr>
        <p:txBody>
          <a:bodyPr wrap="square" lIns="0" tIns="0" rIns="0" bIns="0" rtlCol="0" anchor="ctr"/>
          <a:lstStyle/>
          <a:p>
            <a:pPr indent="0" marL="0">
              <a:buNone/>
            </a:pPr>
            <a:r>
              <a:rPr lang="en-US" sz="1450" b="1" dirty="0">
                <a:solidFill>
                  <a:srgbClr val="0E1A2B"/>
                </a:solidFill>
                <a:latin typeface="Cambria" pitchFamily="34" charset="0"/>
                <a:ea typeface="Cambria" pitchFamily="34" charset="-122"/>
                <a:cs typeface="Cambria" pitchFamily="34" charset="-120"/>
              </a:rPr>
              <a:t>The prompt refused questions it could answer</a:t>
            </a:r>
            <a:endParaRPr lang="en-US" sz="1450" dirty="0"/>
          </a:p>
        </p:txBody>
      </p:sp>
      <p:sp>
        <p:nvSpPr>
          <p:cNvPr id="11" name="Text 6"/>
          <p:cNvSpPr/>
          <p:nvPr/>
        </p:nvSpPr>
        <p:spPr>
          <a:xfrm>
            <a:off x="804672" y="2286000"/>
            <a:ext cx="5120640" cy="1152144"/>
          </a:xfrm>
          <a:prstGeom prst="rect">
            <a:avLst/>
          </a:prstGeom>
          <a:noFill/>
          <a:ln/>
        </p:spPr>
        <p:txBody>
          <a:bodyPr wrap="square" lIns="0" tIns="0" rIns="0" bIns="0" rtlCol="0" anchor="t"/>
          <a:lstStyle/>
          <a:p>
            <a:pPr indent="0" marL="0">
              <a:lnSpc>
                <a:spcPts val="1350"/>
              </a:lnSpc>
              <a:buNone/>
            </a:pPr>
            <a:r>
              <a:rPr lang="en-US" sz="1000" dirty="0">
                <a:solidFill>
                  <a:srgbClr val="5A4038"/>
                </a:solidFill>
                <a:latin typeface="Calibri" pitchFamily="34" charset="0"/>
                <a:ea typeface="Calibri" pitchFamily="34" charset="-122"/>
                <a:cs typeface="Calibri" pitchFamily="34" charset="-120"/>
              </a:rPr>
              <a:t>Our first evaluation returned 12 refusals out of 34 — and only 3 of those were the questions written to be unanswerable. On the other 9 retrieval had already found the evidence; one had perfect context recall.</a:t>
            </a:r>
            <a:endParaRPr lang="en-US" sz="1000" dirty="0"/>
          </a:p>
          <a:p>
            <a:pPr indent="0" marL="0">
              <a:lnSpc>
                <a:spcPts val="1350"/>
              </a:lnSpc>
              <a:buNone/>
            </a:pPr>
            <a:endParaRPr lang="en-US" sz="1000" dirty="0"/>
          </a:p>
          <a:p>
            <a:pPr indent="0" marL="0">
              <a:lnSpc>
                <a:spcPts val="1350"/>
              </a:lnSpc>
              <a:buNone/>
            </a:pPr>
            <a:r>
              <a:rPr lang="en-US" sz="1000" dirty="0">
                <a:solidFill>
                  <a:srgbClr val="5A4038"/>
                </a:solidFill>
                <a:latin typeface="Calibri" pitchFamily="34" charset="0"/>
                <a:ea typeface="Calibri" pitchFamily="34" charset="-122"/>
                <a:cs typeface="Calibri" pitchFamily="34" charset="-120"/>
              </a:rPr>
              <a:t>Root cause: the prompt refused whenever the sources could not answer the question “fully”. Five chunks can almost never answer a multi-part or comparative question fully, so the model declined instead of answering the part it had.</a:t>
            </a:r>
            <a:endParaRPr lang="en-US" sz="1000" dirty="0"/>
          </a:p>
        </p:txBody>
      </p:sp>
      <p:sp>
        <p:nvSpPr>
          <p:cNvPr id="12" name="Shape 7"/>
          <p:cNvSpPr/>
          <p:nvPr/>
        </p:nvSpPr>
        <p:spPr>
          <a:xfrm>
            <a:off x="6419088" y="1554480"/>
            <a:ext cx="5205679" cy="1975104"/>
          </a:xfrm>
          <a:prstGeom prst="roundRect">
            <a:avLst>
              <a:gd name="adj" fmla="val 2778"/>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13" name="Text 8"/>
          <p:cNvSpPr/>
          <p:nvPr/>
        </p:nvSpPr>
        <p:spPr>
          <a:xfrm>
            <a:off x="6656832" y="1700784"/>
            <a:ext cx="4754880" cy="274320"/>
          </a:xfrm>
          <a:prstGeom prst="rect">
            <a:avLst/>
          </a:prstGeom>
          <a:noFill/>
          <a:ln/>
        </p:spPr>
        <p:txBody>
          <a:bodyPr wrap="square" lIns="0" tIns="0" rIns="0" bIns="0" rtlCol="0" anchor="ctr"/>
          <a:lstStyle/>
          <a:p>
            <a:pPr indent="0" marL="0">
              <a:buNone/>
            </a:pPr>
            <a:r>
              <a:rPr lang="en-US" sz="1450" b="1" dirty="0">
                <a:solidFill>
                  <a:srgbClr val="0E1A2B"/>
                </a:solidFill>
                <a:latin typeface="Cambria" pitchFamily="34" charset="0"/>
                <a:ea typeface="Cambria" pitchFamily="34" charset="-122"/>
                <a:cs typeface="Cambria" pitchFamily="34" charset="-120"/>
              </a:rPr>
              <a:t>The fix — grounding left strict</a:t>
            </a:r>
            <a:endParaRPr lang="en-US" sz="1450" dirty="0"/>
          </a:p>
        </p:txBody>
      </p:sp>
      <p:sp>
        <p:nvSpPr>
          <p:cNvPr id="14" name="Text 9"/>
          <p:cNvSpPr/>
          <p:nvPr/>
        </p:nvSpPr>
        <p:spPr>
          <a:xfrm>
            <a:off x="6656832" y="2029968"/>
            <a:ext cx="4754880" cy="1426464"/>
          </a:xfrm>
          <a:prstGeom prst="rect">
            <a:avLst/>
          </a:prstGeom>
          <a:noFill/>
          <a:ln/>
        </p:spPr>
        <p:txBody>
          <a:bodyPr wrap="square" lIns="0" tIns="0" rIns="0" bIns="0" rtlCol="0" anchor="t"/>
          <a:lstStyle/>
          <a:p>
            <a:pPr indent="0" marL="0">
              <a:lnSpc>
                <a:spcPts val="1380"/>
              </a:lnSpc>
              <a:buNone/>
            </a:pPr>
            <a:r>
              <a:rPr lang="en-US" sz="1000" dirty="0">
                <a:solidFill>
                  <a:srgbClr val="39485C"/>
                </a:solidFill>
                <a:latin typeface="Calibri" pitchFamily="34" charset="0"/>
                <a:ea typeface="Calibri" pitchFamily="34" charset="-122"/>
                <a:cs typeface="Calibri" pitchFamily="34" charset="-120"/>
              </a:rPr>
              <a:t>· dropped “fully” from the refusal trigger
</a:t>
            </a:r>
            <a:pPr indent="0" marL="0">
              <a:lnSpc>
                <a:spcPts val="1380"/>
              </a:lnSpc>
              <a:buNone/>
            </a:pPr>
            <a:r>
              <a:rPr lang="en-US" sz="1000" dirty="0">
                <a:solidFill>
                  <a:srgbClr val="39485C"/>
                </a:solidFill>
                <a:latin typeface="Calibri" pitchFamily="34" charset="0"/>
                <a:ea typeface="Calibri" pitchFamily="34" charset="-122"/>
                <a:cs typeface="Calibri" pitchFamily="34" charset="-120"/>
              </a:rPr>
              <a:t>· made grounded partial answers explicitly wanted — a partial answer is what is required, not a refusal
</a:t>
            </a:r>
            <a:pPr indent="0" marL="0">
              <a:lnSpc>
                <a:spcPts val="1380"/>
              </a:lnSpc>
              <a:buNone/>
            </a:pPr>
            <a:r>
              <a:rPr lang="en-US" sz="1000" dirty="0">
                <a:solidFill>
                  <a:srgbClr val="39485C"/>
                </a:solidFill>
                <a:latin typeface="Calibri" pitchFamily="34" charset="0"/>
                <a:ea typeface="Calibri" pitchFamily="34" charset="-122"/>
                <a:cs typeface="Calibri" pitchFamily="34" charset="-120"/>
              </a:rPr>
              <a:t>· reserved refusal for sources containing nothing bearing on the question at all
</a:t>
            </a:r>
            <a:pPr indent="0" marL="0">
              <a:lnSpc>
                <a:spcPts val="1380"/>
              </a:lnSpc>
              <a:buNone/>
            </a:pPr>
            <a:r>
              <a:rPr lang="en-US" sz="1000" b="1" dirty="0">
                <a:solidFill>
                  <a:srgbClr val="0E1A2B"/>
                </a:solidFill>
                <a:latin typeface="Calibri" pitchFamily="34" charset="0"/>
                <a:ea typeface="Calibri" pitchFamily="34" charset="-122"/>
                <a:cs typeface="Calibri" pitchFamily="34" charset="-120"/>
              </a:rPr>
              <a:t>Refusals 12 → 5. Over-refusals 9 → 2. </a:t>
            </a:r>
            <a:pPr indent="0" marL="0">
              <a:lnSpc>
                <a:spcPts val="1380"/>
              </a:lnSpc>
              <a:buNone/>
            </a:pPr>
            <a:r>
              <a:rPr lang="en-US" sz="1000" dirty="0">
                <a:solidFill>
                  <a:srgbClr val="39485C"/>
                </a:solidFill>
                <a:latin typeface="Calibri" pitchFamily="34" charset="0"/>
                <a:ea typeface="Calibri" pitchFamily="34" charset="-122"/>
                <a:cs typeface="Calibri" pitchFamily="34" charset="-120"/>
              </a:rPr>
              <a:t>The three deliberately unanswerable questions are still refused, all three.</a:t>
            </a:r>
            <a:endParaRPr lang="en-US" sz="1000" dirty="0"/>
          </a:p>
        </p:txBody>
      </p:sp>
      <p:sp>
        <p:nvSpPr>
          <p:cNvPr id="15" name="Text 10"/>
          <p:cNvSpPr/>
          <p:nvPr/>
        </p:nvSpPr>
        <p:spPr>
          <a:xfrm>
            <a:off x="566928" y="3657600"/>
            <a:ext cx="11057839" cy="256032"/>
          </a:xfrm>
          <a:prstGeom prst="rect">
            <a:avLst/>
          </a:prstGeom>
          <a:noFill/>
          <a:ln/>
        </p:spPr>
        <p:txBody>
          <a:bodyPr wrap="square" lIns="0" tIns="0" rIns="0" bIns="0" rtlCol="0" anchor="ctr"/>
          <a:lstStyle/>
          <a:p>
            <a:pPr indent="0" marL="0">
              <a:buNone/>
            </a:pPr>
            <a:r>
              <a:rPr lang="en-US" sz="1100" b="1" dirty="0">
                <a:solidFill>
                  <a:srgbClr val="0E1A2B"/>
                </a:solidFill>
                <a:latin typeface="Calibri" pitchFamily="34" charset="0"/>
                <a:ea typeface="Calibri" pitchFamily="34" charset="-122"/>
                <a:cs typeface="Calibri" pitchFamily="34" charset="-120"/>
              </a:rPr>
              <a:t>At the shipped configuration, all five refusals are on questions the corpus cannot properly answer</a:t>
            </a:r>
            <a:endParaRPr lang="en-US" sz="1100" dirty="0"/>
          </a:p>
        </p:txBody>
      </p:sp>
      <p:sp>
        <p:nvSpPr>
          <p:cNvPr id="16" name="Shape 11"/>
          <p:cNvSpPr/>
          <p:nvPr/>
        </p:nvSpPr>
        <p:spPr>
          <a:xfrm>
            <a:off x="566928" y="3950208"/>
            <a:ext cx="2101840" cy="987552"/>
          </a:xfrm>
          <a:prstGeom prst="roundRect">
            <a:avLst>
              <a:gd name="adj" fmla="val 5556"/>
            </a:avLst>
          </a:prstGeom>
          <a:solidFill>
            <a:srgbClr val="F1F4F8"/>
          </a:solidFill>
          <a:ln w="9525">
            <a:solidFill>
              <a:srgbClr val="E3E9F1"/>
            </a:solidFill>
            <a:prstDash val="solid"/>
          </a:ln>
        </p:spPr>
      </p:sp>
      <p:sp>
        <p:nvSpPr>
          <p:cNvPr id="17" name="Text 12"/>
          <p:cNvSpPr/>
          <p:nvPr/>
        </p:nvSpPr>
        <p:spPr>
          <a:xfrm>
            <a:off x="713232" y="4041648"/>
            <a:ext cx="1809232" cy="219456"/>
          </a:xfrm>
          <a:prstGeom prst="rect">
            <a:avLst/>
          </a:prstGeom>
          <a:noFill/>
          <a:ln/>
        </p:spPr>
        <p:txBody>
          <a:bodyPr wrap="square" lIns="0" tIns="0" rIns="0" bIns="0" rtlCol="0" anchor="ctr"/>
          <a:lstStyle/>
          <a:p>
            <a:pPr indent="0" marL="0">
              <a:buNone/>
            </a:pPr>
            <a:r>
              <a:rPr lang="en-US" sz="1000" b="1" dirty="0">
                <a:solidFill>
                  <a:srgbClr val="FF7900"/>
                </a:solidFill>
                <a:latin typeface="Courier New" pitchFamily="34" charset="0"/>
                <a:ea typeface="Courier New" pitchFamily="34" charset="-122"/>
                <a:cs typeface="Courier New" pitchFamily="34" charset="-120"/>
              </a:rPr>
              <a:t>#32</a:t>
            </a:r>
            <a:endParaRPr lang="en-US" sz="1000" dirty="0"/>
          </a:p>
        </p:txBody>
      </p:sp>
      <p:sp>
        <p:nvSpPr>
          <p:cNvPr id="18" name="Text 13"/>
          <p:cNvSpPr/>
          <p:nvPr/>
        </p:nvSpPr>
        <p:spPr>
          <a:xfrm>
            <a:off x="713232" y="4242816"/>
            <a:ext cx="1809232" cy="365760"/>
          </a:xfrm>
          <a:prstGeom prst="rect">
            <a:avLst/>
          </a:prstGeom>
          <a:noFill/>
          <a:ln/>
        </p:spPr>
        <p:txBody>
          <a:bodyPr wrap="square" lIns="0" tIns="0" rIns="0" bIns="0" rtlCol="0" anchor="t"/>
          <a:lstStyle/>
          <a:p>
            <a:pPr indent="0" marL="0">
              <a:lnSpc>
                <a:spcPts val="1200"/>
              </a:lnSpc>
              <a:buNone/>
            </a:pPr>
            <a:r>
              <a:rPr lang="en-US" sz="950" b="1" dirty="0">
                <a:solidFill>
                  <a:srgbClr val="0E1A2B"/>
                </a:solidFill>
                <a:latin typeface="Calibri" pitchFamily="34" charset="0"/>
                <a:ea typeface="Calibri" pitchFamily="34" charset="-122"/>
                <a:cs typeface="Calibri" pitchFamily="34" charset="-120"/>
              </a:rPr>
              <a:t>Carbohydrate loading protocol</a:t>
            </a:r>
            <a:endParaRPr lang="en-US" sz="950" dirty="0"/>
          </a:p>
        </p:txBody>
      </p:sp>
      <p:sp>
        <p:nvSpPr>
          <p:cNvPr id="19" name="Text 14"/>
          <p:cNvSpPr/>
          <p:nvPr/>
        </p:nvSpPr>
        <p:spPr>
          <a:xfrm>
            <a:off x="713232" y="4590288"/>
            <a:ext cx="1809232" cy="292608"/>
          </a:xfrm>
          <a:prstGeom prst="rect">
            <a:avLst/>
          </a:prstGeom>
          <a:noFill/>
          <a:ln/>
        </p:spPr>
        <p:txBody>
          <a:bodyPr wrap="square" lIns="0" tIns="0" rIns="0" bIns="0" rtlCol="0" anchor="t"/>
          <a:lstStyle/>
          <a:p>
            <a:pPr indent="0" marL="0">
              <a:lnSpc>
                <a:spcPts val="1100"/>
              </a:lnSpc>
              <a:buNone/>
            </a:pPr>
            <a:r>
              <a:rPr lang="en-US" sz="850" dirty="0">
                <a:solidFill>
                  <a:srgbClr val="6B7A8C"/>
                </a:solidFill>
                <a:latin typeface="Calibri" pitchFamily="34" charset="0"/>
                <a:ea typeface="Calibri" pitchFamily="34" charset="-122"/>
                <a:cs typeface="Calibri" pitchFamily="34" charset="-120"/>
              </a:rPr>
              <a:t>Out of scope by design</a:t>
            </a:r>
            <a:endParaRPr lang="en-US" sz="850" dirty="0"/>
          </a:p>
        </p:txBody>
      </p:sp>
      <p:sp>
        <p:nvSpPr>
          <p:cNvPr id="20" name="Shape 15"/>
          <p:cNvSpPr/>
          <p:nvPr/>
        </p:nvSpPr>
        <p:spPr>
          <a:xfrm>
            <a:off x="2805928" y="3950208"/>
            <a:ext cx="2101840" cy="987552"/>
          </a:xfrm>
          <a:prstGeom prst="roundRect">
            <a:avLst>
              <a:gd name="adj" fmla="val 5556"/>
            </a:avLst>
          </a:prstGeom>
          <a:solidFill>
            <a:srgbClr val="F1F4F8"/>
          </a:solidFill>
          <a:ln w="9525">
            <a:solidFill>
              <a:srgbClr val="E3E9F1"/>
            </a:solidFill>
            <a:prstDash val="solid"/>
          </a:ln>
        </p:spPr>
      </p:sp>
      <p:sp>
        <p:nvSpPr>
          <p:cNvPr id="21" name="Text 16"/>
          <p:cNvSpPr/>
          <p:nvPr/>
        </p:nvSpPr>
        <p:spPr>
          <a:xfrm>
            <a:off x="2952232" y="4041648"/>
            <a:ext cx="1809232" cy="219456"/>
          </a:xfrm>
          <a:prstGeom prst="rect">
            <a:avLst/>
          </a:prstGeom>
          <a:noFill/>
          <a:ln/>
        </p:spPr>
        <p:txBody>
          <a:bodyPr wrap="square" lIns="0" tIns="0" rIns="0" bIns="0" rtlCol="0" anchor="ctr"/>
          <a:lstStyle/>
          <a:p>
            <a:pPr indent="0" marL="0">
              <a:buNone/>
            </a:pPr>
            <a:r>
              <a:rPr lang="en-US" sz="1000" b="1" dirty="0">
                <a:solidFill>
                  <a:srgbClr val="FF7900"/>
                </a:solidFill>
                <a:latin typeface="Courier New" pitchFamily="34" charset="0"/>
                <a:ea typeface="Courier New" pitchFamily="34" charset="-122"/>
                <a:cs typeface="Courier New" pitchFamily="34" charset="-120"/>
              </a:rPr>
              <a:t>#33</a:t>
            </a:r>
            <a:endParaRPr lang="en-US" sz="1000" dirty="0"/>
          </a:p>
        </p:txBody>
      </p:sp>
      <p:sp>
        <p:nvSpPr>
          <p:cNvPr id="22" name="Text 17"/>
          <p:cNvSpPr/>
          <p:nvPr/>
        </p:nvSpPr>
        <p:spPr>
          <a:xfrm>
            <a:off x="2952232" y="4242816"/>
            <a:ext cx="1809232" cy="365760"/>
          </a:xfrm>
          <a:prstGeom prst="rect">
            <a:avLst/>
          </a:prstGeom>
          <a:noFill/>
          <a:ln/>
        </p:spPr>
        <p:txBody>
          <a:bodyPr wrap="square" lIns="0" tIns="0" rIns="0" bIns="0" rtlCol="0" anchor="t"/>
          <a:lstStyle/>
          <a:p>
            <a:pPr indent="0" marL="0">
              <a:lnSpc>
                <a:spcPts val="1200"/>
              </a:lnSpc>
              <a:buNone/>
            </a:pPr>
            <a:r>
              <a:rPr lang="en-US" sz="950" b="1" dirty="0">
                <a:solidFill>
                  <a:srgbClr val="0E1A2B"/>
                </a:solidFill>
                <a:latin typeface="Calibri" pitchFamily="34" charset="0"/>
                <a:ea typeface="Calibri" pitchFamily="34" charset="-122"/>
                <a:cs typeface="Calibri" pitchFamily="34" charset="-120"/>
              </a:rPr>
              <a:t>How altitude training works</a:t>
            </a:r>
            <a:endParaRPr lang="en-US" sz="950" dirty="0"/>
          </a:p>
        </p:txBody>
      </p:sp>
      <p:sp>
        <p:nvSpPr>
          <p:cNvPr id="23" name="Text 18"/>
          <p:cNvSpPr/>
          <p:nvPr/>
        </p:nvSpPr>
        <p:spPr>
          <a:xfrm>
            <a:off x="2952232" y="4590288"/>
            <a:ext cx="1809232" cy="292608"/>
          </a:xfrm>
          <a:prstGeom prst="rect">
            <a:avLst/>
          </a:prstGeom>
          <a:noFill/>
          <a:ln/>
        </p:spPr>
        <p:txBody>
          <a:bodyPr wrap="square" lIns="0" tIns="0" rIns="0" bIns="0" rtlCol="0" anchor="t"/>
          <a:lstStyle/>
          <a:p>
            <a:pPr indent="0" marL="0">
              <a:lnSpc>
                <a:spcPts val="1100"/>
              </a:lnSpc>
              <a:buNone/>
            </a:pPr>
            <a:r>
              <a:rPr lang="en-US" sz="850" dirty="0">
                <a:solidFill>
                  <a:srgbClr val="6B7A8C"/>
                </a:solidFill>
                <a:latin typeface="Calibri" pitchFamily="34" charset="0"/>
                <a:ea typeface="Calibri" pitchFamily="34" charset="-122"/>
                <a:cs typeface="Calibri" pitchFamily="34" charset="-120"/>
              </a:rPr>
              <a:t>Out of scope by design</a:t>
            </a:r>
            <a:endParaRPr lang="en-US" sz="850" dirty="0"/>
          </a:p>
        </p:txBody>
      </p:sp>
      <p:sp>
        <p:nvSpPr>
          <p:cNvPr id="24" name="Shape 19"/>
          <p:cNvSpPr/>
          <p:nvPr/>
        </p:nvSpPr>
        <p:spPr>
          <a:xfrm>
            <a:off x="5044928" y="3950208"/>
            <a:ext cx="2101840" cy="987552"/>
          </a:xfrm>
          <a:prstGeom prst="roundRect">
            <a:avLst>
              <a:gd name="adj" fmla="val 5556"/>
            </a:avLst>
          </a:prstGeom>
          <a:solidFill>
            <a:srgbClr val="F1F4F8"/>
          </a:solidFill>
          <a:ln w="9525">
            <a:solidFill>
              <a:srgbClr val="E3E9F1"/>
            </a:solidFill>
            <a:prstDash val="solid"/>
          </a:ln>
        </p:spPr>
      </p:sp>
      <p:sp>
        <p:nvSpPr>
          <p:cNvPr id="25" name="Text 20"/>
          <p:cNvSpPr/>
          <p:nvPr/>
        </p:nvSpPr>
        <p:spPr>
          <a:xfrm>
            <a:off x="5191232" y="4041648"/>
            <a:ext cx="1809232" cy="219456"/>
          </a:xfrm>
          <a:prstGeom prst="rect">
            <a:avLst/>
          </a:prstGeom>
          <a:noFill/>
          <a:ln/>
        </p:spPr>
        <p:txBody>
          <a:bodyPr wrap="square" lIns="0" tIns="0" rIns="0" bIns="0" rtlCol="0" anchor="ctr"/>
          <a:lstStyle/>
          <a:p>
            <a:pPr indent="0" marL="0">
              <a:buNone/>
            </a:pPr>
            <a:r>
              <a:rPr lang="en-US" sz="1000" b="1" dirty="0">
                <a:solidFill>
                  <a:srgbClr val="FF7900"/>
                </a:solidFill>
                <a:latin typeface="Courier New" pitchFamily="34" charset="0"/>
                <a:ea typeface="Courier New" pitchFamily="34" charset="-122"/>
                <a:cs typeface="Courier New" pitchFamily="34" charset="-120"/>
              </a:rPr>
              <a:t>#34</a:t>
            </a:r>
            <a:endParaRPr lang="en-US" sz="1000" dirty="0"/>
          </a:p>
        </p:txBody>
      </p:sp>
      <p:sp>
        <p:nvSpPr>
          <p:cNvPr id="26" name="Text 21"/>
          <p:cNvSpPr/>
          <p:nvPr/>
        </p:nvSpPr>
        <p:spPr>
          <a:xfrm>
            <a:off x="5191232" y="4242816"/>
            <a:ext cx="1809232" cy="365760"/>
          </a:xfrm>
          <a:prstGeom prst="rect">
            <a:avLst/>
          </a:prstGeom>
          <a:noFill/>
          <a:ln/>
        </p:spPr>
        <p:txBody>
          <a:bodyPr wrap="square" lIns="0" tIns="0" rIns="0" bIns="0" rtlCol="0" anchor="t"/>
          <a:lstStyle/>
          <a:p>
            <a:pPr indent="0" marL="0">
              <a:lnSpc>
                <a:spcPts val="1200"/>
              </a:lnSpc>
              <a:buNone/>
            </a:pPr>
            <a:r>
              <a:rPr lang="en-US" sz="950" b="1" dirty="0">
                <a:solidFill>
                  <a:srgbClr val="0E1A2B"/>
                </a:solidFill>
                <a:latin typeface="Calibri" pitchFamily="34" charset="0"/>
                <a:ea typeface="Calibri" pitchFamily="34" charset="-122"/>
                <a:cs typeface="Calibri" pitchFamily="34" charset="-120"/>
              </a:rPr>
              <a:t>Which brand should I buy</a:t>
            </a:r>
            <a:endParaRPr lang="en-US" sz="950" dirty="0"/>
          </a:p>
        </p:txBody>
      </p:sp>
      <p:sp>
        <p:nvSpPr>
          <p:cNvPr id="27" name="Text 22"/>
          <p:cNvSpPr/>
          <p:nvPr/>
        </p:nvSpPr>
        <p:spPr>
          <a:xfrm>
            <a:off x="5191232" y="4590288"/>
            <a:ext cx="1809232" cy="292608"/>
          </a:xfrm>
          <a:prstGeom prst="rect">
            <a:avLst/>
          </a:prstGeom>
          <a:noFill/>
          <a:ln/>
        </p:spPr>
        <p:txBody>
          <a:bodyPr wrap="square" lIns="0" tIns="0" rIns="0" bIns="0" rtlCol="0" anchor="t"/>
          <a:lstStyle/>
          <a:p>
            <a:pPr indent="0" marL="0">
              <a:lnSpc>
                <a:spcPts val="1100"/>
              </a:lnSpc>
              <a:buNone/>
            </a:pPr>
            <a:r>
              <a:rPr lang="en-US" sz="850" dirty="0">
                <a:solidFill>
                  <a:srgbClr val="6B7A8C"/>
                </a:solidFill>
                <a:latin typeface="Calibri" pitchFamily="34" charset="0"/>
                <a:ea typeface="Calibri" pitchFamily="34" charset="-122"/>
                <a:cs typeface="Calibri" pitchFamily="34" charset="-120"/>
              </a:rPr>
              <a:t>Out of scope by design</a:t>
            </a:r>
            <a:endParaRPr lang="en-US" sz="850" dirty="0"/>
          </a:p>
        </p:txBody>
      </p:sp>
      <p:sp>
        <p:nvSpPr>
          <p:cNvPr id="28" name="Shape 23"/>
          <p:cNvSpPr/>
          <p:nvPr/>
        </p:nvSpPr>
        <p:spPr>
          <a:xfrm>
            <a:off x="7283928" y="3950208"/>
            <a:ext cx="2101840" cy="987552"/>
          </a:xfrm>
          <a:prstGeom prst="roundRect">
            <a:avLst>
              <a:gd name="adj" fmla="val 5556"/>
            </a:avLst>
          </a:prstGeom>
          <a:solidFill>
            <a:srgbClr val="F1F4F8"/>
          </a:solidFill>
          <a:ln w="9525">
            <a:solidFill>
              <a:srgbClr val="E3E9F1"/>
            </a:solidFill>
            <a:prstDash val="solid"/>
          </a:ln>
        </p:spPr>
      </p:sp>
      <p:sp>
        <p:nvSpPr>
          <p:cNvPr id="29" name="Text 24"/>
          <p:cNvSpPr/>
          <p:nvPr/>
        </p:nvSpPr>
        <p:spPr>
          <a:xfrm>
            <a:off x="7430232" y="4041648"/>
            <a:ext cx="1809232" cy="219456"/>
          </a:xfrm>
          <a:prstGeom prst="rect">
            <a:avLst/>
          </a:prstGeom>
          <a:noFill/>
          <a:ln/>
        </p:spPr>
        <p:txBody>
          <a:bodyPr wrap="square" lIns="0" tIns="0" rIns="0" bIns="0" rtlCol="0" anchor="ctr"/>
          <a:lstStyle/>
          <a:p>
            <a:pPr indent="0" marL="0">
              <a:buNone/>
            </a:pPr>
            <a:r>
              <a:rPr lang="en-US" sz="1000" b="1" dirty="0">
                <a:solidFill>
                  <a:srgbClr val="FF7900"/>
                </a:solidFill>
                <a:latin typeface="Courier New" pitchFamily="34" charset="0"/>
                <a:ea typeface="Courier New" pitchFamily="34" charset="-122"/>
                <a:cs typeface="Courier New" pitchFamily="34" charset="-120"/>
              </a:rPr>
              <a:t>#11</a:t>
            </a:r>
            <a:endParaRPr lang="en-US" sz="1000" dirty="0"/>
          </a:p>
        </p:txBody>
      </p:sp>
      <p:sp>
        <p:nvSpPr>
          <p:cNvPr id="30" name="Text 25"/>
          <p:cNvSpPr/>
          <p:nvPr/>
        </p:nvSpPr>
        <p:spPr>
          <a:xfrm>
            <a:off x="7430232" y="4242816"/>
            <a:ext cx="1809232" cy="365760"/>
          </a:xfrm>
          <a:prstGeom prst="rect">
            <a:avLst/>
          </a:prstGeom>
          <a:noFill/>
          <a:ln/>
        </p:spPr>
        <p:txBody>
          <a:bodyPr wrap="square" lIns="0" tIns="0" rIns="0" bIns="0" rtlCol="0" anchor="t"/>
          <a:lstStyle/>
          <a:p>
            <a:pPr indent="0" marL="0">
              <a:lnSpc>
                <a:spcPts val="1200"/>
              </a:lnSpc>
              <a:buNone/>
            </a:pPr>
            <a:r>
              <a:rPr lang="en-US" sz="950" b="1" dirty="0">
                <a:solidFill>
                  <a:srgbClr val="0E1A2B"/>
                </a:solidFill>
                <a:latin typeface="Calibri" pitchFamily="34" charset="0"/>
                <a:ea typeface="Calibri" pitchFamily="34" charset="-122"/>
                <a:cs typeface="Calibri" pitchFamily="34" charset="-120"/>
              </a:rPr>
              <a:t>Upper intake level for creatine</a:t>
            </a:r>
            <a:endParaRPr lang="en-US" sz="950" dirty="0"/>
          </a:p>
        </p:txBody>
      </p:sp>
      <p:sp>
        <p:nvSpPr>
          <p:cNvPr id="31" name="Text 26"/>
          <p:cNvSpPr/>
          <p:nvPr/>
        </p:nvSpPr>
        <p:spPr>
          <a:xfrm>
            <a:off x="7430232" y="4590288"/>
            <a:ext cx="1809232" cy="292608"/>
          </a:xfrm>
          <a:prstGeom prst="rect">
            <a:avLst/>
          </a:prstGeom>
          <a:noFill/>
          <a:ln/>
        </p:spPr>
        <p:txBody>
          <a:bodyPr wrap="square" lIns="0" tIns="0" rIns="0" bIns="0" rtlCol="0" anchor="t"/>
          <a:lstStyle/>
          <a:p>
            <a:pPr indent="0" marL="0">
              <a:lnSpc>
                <a:spcPts val="1100"/>
              </a:lnSpc>
              <a:buNone/>
            </a:pPr>
            <a:r>
              <a:rPr lang="en-US" sz="850" dirty="0">
                <a:solidFill>
                  <a:srgbClr val="6B7A8C"/>
                </a:solidFill>
                <a:latin typeface="Calibri" pitchFamily="34" charset="0"/>
                <a:ea typeface="Calibri" pitchFamily="34" charset="-122"/>
                <a:cs typeface="Calibri" pitchFamily="34" charset="-120"/>
              </a:rPr>
              <a:t>A value the page never states</a:t>
            </a:r>
            <a:endParaRPr lang="en-US" sz="850" dirty="0"/>
          </a:p>
        </p:txBody>
      </p:sp>
      <p:sp>
        <p:nvSpPr>
          <p:cNvPr id="32" name="Shape 27"/>
          <p:cNvSpPr/>
          <p:nvPr/>
        </p:nvSpPr>
        <p:spPr>
          <a:xfrm>
            <a:off x="9522927" y="3950208"/>
            <a:ext cx="2101840" cy="987552"/>
          </a:xfrm>
          <a:prstGeom prst="roundRect">
            <a:avLst>
              <a:gd name="adj" fmla="val 5556"/>
            </a:avLst>
          </a:prstGeom>
          <a:solidFill>
            <a:srgbClr val="F1F4F8"/>
          </a:solidFill>
          <a:ln w="9525">
            <a:solidFill>
              <a:srgbClr val="E3E9F1"/>
            </a:solidFill>
            <a:prstDash val="solid"/>
          </a:ln>
        </p:spPr>
      </p:sp>
      <p:sp>
        <p:nvSpPr>
          <p:cNvPr id="33" name="Text 28"/>
          <p:cNvSpPr/>
          <p:nvPr/>
        </p:nvSpPr>
        <p:spPr>
          <a:xfrm>
            <a:off x="9669231" y="4041648"/>
            <a:ext cx="1809232" cy="219456"/>
          </a:xfrm>
          <a:prstGeom prst="rect">
            <a:avLst/>
          </a:prstGeom>
          <a:noFill/>
          <a:ln/>
        </p:spPr>
        <p:txBody>
          <a:bodyPr wrap="square" lIns="0" tIns="0" rIns="0" bIns="0" rtlCol="0" anchor="ctr"/>
          <a:lstStyle/>
          <a:p>
            <a:pPr indent="0" marL="0">
              <a:buNone/>
            </a:pPr>
            <a:r>
              <a:rPr lang="en-US" sz="1000" b="1" dirty="0">
                <a:solidFill>
                  <a:srgbClr val="FF7900"/>
                </a:solidFill>
                <a:latin typeface="Courier New" pitchFamily="34" charset="0"/>
                <a:ea typeface="Courier New" pitchFamily="34" charset="-122"/>
                <a:cs typeface="Courier New" pitchFamily="34" charset="-120"/>
              </a:rPr>
              <a:t>#21</a:t>
            </a:r>
            <a:endParaRPr lang="en-US" sz="1000" dirty="0"/>
          </a:p>
        </p:txBody>
      </p:sp>
      <p:sp>
        <p:nvSpPr>
          <p:cNvPr id="34" name="Text 29"/>
          <p:cNvSpPr/>
          <p:nvPr/>
        </p:nvSpPr>
        <p:spPr>
          <a:xfrm>
            <a:off x="9669231" y="4242816"/>
            <a:ext cx="1809232" cy="365760"/>
          </a:xfrm>
          <a:prstGeom prst="rect">
            <a:avLst/>
          </a:prstGeom>
          <a:noFill/>
          <a:ln/>
        </p:spPr>
        <p:txBody>
          <a:bodyPr wrap="square" lIns="0" tIns="0" rIns="0" bIns="0" rtlCol="0" anchor="t"/>
          <a:lstStyle/>
          <a:p>
            <a:pPr indent="0" marL="0">
              <a:lnSpc>
                <a:spcPts val="1200"/>
              </a:lnSpc>
              <a:buNone/>
            </a:pPr>
            <a:r>
              <a:rPr lang="en-US" sz="950" b="1" dirty="0">
                <a:solidFill>
                  <a:srgbClr val="0E1A2B"/>
                </a:solidFill>
                <a:latin typeface="Calibri" pitchFamily="34" charset="0"/>
                <a:ea typeface="Calibri" pitchFamily="34" charset="-122"/>
                <a:cs typeface="Calibri" pitchFamily="34" charset="-120"/>
              </a:rPr>
              <a:t>What DHEA dose for male athletes</a:t>
            </a:r>
            <a:endParaRPr lang="en-US" sz="950" dirty="0"/>
          </a:p>
        </p:txBody>
      </p:sp>
      <p:sp>
        <p:nvSpPr>
          <p:cNvPr id="35" name="Text 30"/>
          <p:cNvSpPr/>
          <p:nvPr/>
        </p:nvSpPr>
        <p:spPr>
          <a:xfrm>
            <a:off x="9669231" y="4590288"/>
            <a:ext cx="1809232" cy="292608"/>
          </a:xfrm>
          <a:prstGeom prst="rect">
            <a:avLst/>
          </a:prstGeom>
          <a:noFill/>
          <a:ln/>
        </p:spPr>
        <p:txBody>
          <a:bodyPr wrap="square" lIns="0" tIns="0" rIns="0" bIns="0" rtlCol="0" anchor="t"/>
          <a:lstStyle/>
          <a:p>
            <a:pPr indent="0" marL="0">
              <a:lnSpc>
                <a:spcPts val="1100"/>
              </a:lnSpc>
              <a:buNone/>
            </a:pPr>
            <a:r>
              <a:rPr lang="en-US" sz="850" dirty="0">
                <a:solidFill>
                  <a:srgbClr val="6B7A8C"/>
                </a:solidFill>
                <a:latin typeface="Calibri" pitchFamily="34" charset="0"/>
                <a:ea typeface="Calibri" pitchFamily="34" charset="-122"/>
                <a:cs typeface="Calibri" pitchFamily="34" charset="-120"/>
              </a:rPr>
              <a:t>False premise — the page says DHEA does not work</a:t>
            </a:r>
            <a:endParaRPr lang="en-US" sz="850" dirty="0"/>
          </a:p>
        </p:txBody>
      </p:sp>
      <p:sp>
        <p:nvSpPr>
          <p:cNvPr id="36" name="Text 31"/>
          <p:cNvSpPr/>
          <p:nvPr/>
        </p:nvSpPr>
        <p:spPr>
          <a:xfrm>
            <a:off x="566928" y="5029200"/>
            <a:ext cx="11057839" cy="402336"/>
          </a:xfrm>
          <a:prstGeom prst="rect">
            <a:avLst/>
          </a:prstGeom>
          <a:noFill/>
          <a:ln/>
        </p:spPr>
        <p:txBody>
          <a:bodyPr wrap="square" lIns="0" tIns="0" rIns="0" bIns="0" rtlCol="0" anchor="ctr"/>
          <a:lstStyle/>
          <a:p>
            <a:pPr indent="0" marL="0">
              <a:lnSpc>
                <a:spcPts val="1400"/>
              </a:lnSpc>
              <a:buNone/>
            </a:pPr>
            <a:r>
              <a:rPr lang="en-US" sz="1050" i="1" dirty="0">
                <a:solidFill>
                  <a:srgbClr val="6B7A8C"/>
                </a:solidFill>
                <a:latin typeface="Calibri" pitchFamily="34" charset="0"/>
                <a:ea typeface="Calibri" pitchFamily="34" charset="-122"/>
                <a:cs typeface="Calibri" pitchFamily="34" charset="-120"/>
              </a:rPr>
              <a:t>The metric scores the last two as failures — ragas has no way to reward a correct decline. As safety behaviour they are right, and we would rather the system refuse a dose that does not exist.</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EVALUATION</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Judging retrieval by eye stops scaling around the third question</a:t>
            </a:r>
            <a:endParaRPr lang="en-US" sz="3000" dirty="0"/>
          </a:p>
        </p:txBody>
      </p:sp>
      <p:sp>
        <p:nvSpPr>
          <p:cNvPr id="7" name="Shape 2"/>
          <p:cNvSpPr/>
          <p:nvPr/>
        </p:nvSpPr>
        <p:spPr>
          <a:xfrm>
            <a:off x="566928" y="1898904"/>
            <a:ext cx="5486400" cy="493776"/>
          </a:xfrm>
          <a:prstGeom prst="roundRect">
            <a:avLst>
              <a:gd name="adj" fmla="val 11111"/>
            </a:avLst>
          </a:prstGeom>
          <a:solidFill>
            <a:srgbClr val="F1F4F8"/>
          </a:solidFill>
          <a:ln w="9525">
            <a:solidFill>
              <a:srgbClr val="E3E9F1"/>
            </a:solidFill>
            <a:prstDash val="solid"/>
          </a:ln>
        </p:spPr>
      </p:sp>
      <p:sp>
        <p:nvSpPr>
          <p:cNvPr id="8" name="Text 3"/>
          <p:cNvSpPr/>
          <p:nvPr/>
        </p:nvSpPr>
        <p:spPr>
          <a:xfrm>
            <a:off x="731520" y="1898904"/>
            <a:ext cx="1737360" cy="493776"/>
          </a:xfrm>
          <a:prstGeom prst="rect">
            <a:avLst/>
          </a:prstGeom>
          <a:noFill/>
          <a:ln/>
        </p:spPr>
        <p:txBody>
          <a:bodyPr wrap="square" lIns="0" tIns="0" rIns="0" bIns="0" rtlCol="0" anchor="ctr"/>
          <a:lstStyle/>
          <a:p>
            <a:pPr indent="0" marL="0">
              <a:buNone/>
            </a:pPr>
            <a:r>
              <a:rPr lang="en-US" sz="1100" b="1" dirty="0">
                <a:solidFill>
                  <a:srgbClr val="0E1A2B"/>
                </a:solidFill>
                <a:latin typeface="Calibri" pitchFamily="34" charset="0"/>
                <a:ea typeface="Calibri" pitchFamily="34" charset="-122"/>
                <a:cs typeface="Calibri" pitchFamily="34" charset="-120"/>
              </a:rPr>
              <a:t>Context recall</a:t>
            </a:r>
            <a:endParaRPr lang="en-US" sz="1100" dirty="0"/>
          </a:p>
        </p:txBody>
      </p:sp>
      <p:sp>
        <p:nvSpPr>
          <p:cNvPr id="9" name="Text 4"/>
          <p:cNvSpPr/>
          <p:nvPr/>
        </p:nvSpPr>
        <p:spPr>
          <a:xfrm>
            <a:off x="2450592" y="1898904"/>
            <a:ext cx="914400" cy="493776"/>
          </a:xfrm>
          <a:prstGeom prst="rect">
            <a:avLst/>
          </a:prstGeom>
          <a:noFill/>
          <a:ln/>
        </p:spPr>
        <p:txBody>
          <a:bodyPr wrap="square" lIns="0" tIns="0" rIns="0" bIns="0" rtlCol="0" anchor="ctr"/>
          <a:lstStyle/>
          <a:p>
            <a:pPr indent="0" marL="0">
              <a:buNone/>
            </a:pPr>
            <a:r>
              <a:rPr lang="en-US" sz="900" dirty="0">
                <a:solidFill>
                  <a:srgbClr val="FF7900"/>
                </a:solidFill>
                <a:latin typeface="Courier New" pitchFamily="34" charset="0"/>
                <a:ea typeface="Courier New" pitchFamily="34" charset="-122"/>
                <a:cs typeface="Courier New" pitchFamily="34" charset="-120"/>
              </a:rPr>
              <a:t>Retriever</a:t>
            </a:r>
            <a:endParaRPr lang="en-US" sz="900" dirty="0"/>
          </a:p>
        </p:txBody>
      </p:sp>
      <p:sp>
        <p:nvSpPr>
          <p:cNvPr id="10" name="Text 5"/>
          <p:cNvSpPr/>
          <p:nvPr/>
        </p:nvSpPr>
        <p:spPr>
          <a:xfrm>
            <a:off x="3364992" y="1898904"/>
            <a:ext cx="2560320" cy="493776"/>
          </a:xfrm>
          <a:prstGeom prst="rect">
            <a:avLst/>
          </a:prstGeom>
          <a:noFill/>
          <a:ln/>
        </p:spPr>
        <p:txBody>
          <a:bodyPr wrap="square" lIns="0" tIns="0" rIns="0" bIns="0" rtlCol="0" anchor="ctr"/>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Did it find the evidence the reference answer needs?</a:t>
            </a:r>
            <a:endParaRPr lang="en-US" sz="950" dirty="0"/>
          </a:p>
        </p:txBody>
      </p:sp>
      <p:sp>
        <p:nvSpPr>
          <p:cNvPr id="11" name="Shape 6"/>
          <p:cNvSpPr/>
          <p:nvPr/>
        </p:nvSpPr>
        <p:spPr>
          <a:xfrm>
            <a:off x="566928" y="2465832"/>
            <a:ext cx="5486400" cy="493776"/>
          </a:xfrm>
          <a:prstGeom prst="roundRect">
            <a:avLst>
              <a:gd name="adj" fmla="val 11111"/>
            </a:avLst>
          </a:prstGeom>
          <a:solidFill>
            <a:srgbClr val="F1F4F8"/>
          </a:solidFill>
          <a:ln w="9525">
            <a:solidFill>
              <a:srgbClr val="E3E9F1"/>
            </a:solidFill>
            <a:prstDash val="solid"/>
          </a:ln>
        </p:spPr>
      </p:sp>
      <p:sp>
        <p:nvSpPr>
          <p:cNvPr id="12" name="Text 7"/>
          <p:cNvSpPr/>
          <p:nvPr/>
        </p:nvSpPr>
        <p:spPr>
          <a:xfrm>
            <a:off x="731520" y="2465832"/>
            <a:ext cx="1737360" cy="493776"/>
          </a:xfrm>
          <a:prstGeom prst="rect">
            <a:avLst/>
          </a:prstGeom>
          <a:noFill/>
          <a:ln/>
        </p:spPr>
        <p:txBody>
          <a:bodyPr wrap="square" lIns="0" tIns="0" rIns="0" bIns="0" rtlCol="0" anchor="ctr"/>
          <a:lstStyle/>
          <a:p>
            <a:pPr indent="0" marL="0">
              <a:buNone/>
            </a:pPr>
            <a:r>
              <a:rPr lang="en-US" sz="1100" b="1" dirty="0">
                <a:solidFill>
                  <a:srgbClr val="0E1A2B"/>
                </a:solidFill>
                <a:latin typeface="Calibri" pitchFamily="34" charset="0"/>
                <a:ea typeface="Calibri" pitchFamily="34" charset="-122"/>
                <a:cs typeface="Calibri" pitchFamily="34" charset="-120"/>
              </a:rPr>
              <a:t>Context precision</a:t>
            </a:r>
            <a:endParaRPr lang="en-US" sz="1100" dirty="0"/>
          </a:p>
        </p:txBody>
      </p:sp>
      <p:sp>
        <p:nvSpPr>
          <p:cNvPr id="13" name="Text 8"/>
          <p:cNvSpPr/>
          <p:nvPr/>
        </p:nvSpPr>
        <p:spPr>
          <a:xfrm>
            <a:off x="2450592" y="2465832"/>
            <a:ext cx="914400" cy="493776"/>
          </a:xfrm>
          <a:prstGeom prst="rect">
            <a:avLst/>
          </a:prstGeom>
          <a:noFill/>
          <a:ln/>
        </p:spPr>
        <p:txBody>
          <a:bodyPr wrap="square" lIns="0" tIns="0" rIns="0" bIns="0" rtlCol="0" anchor="ctr"/>
          <a:lstStyle/>
          <a:p>
            <a:pPr indent="0" marL="0">
              <a:buNone/>
            </a:pPr>
            <a:r>
              <a:rPr lang="en-US" sz="900" dirty="0">
                <a:solidFill>
                  <a:srgbClr val="FF7900"/>
                </a:solidFill>
                <a:latin typeface="Courier New" pitchFamily="34" charset="0"/>
                <a:ea typeface="Courier New" pitchFamily="34" charset="-122"/>
                <a:cs typeface="Courier New" pitchFamily="34" charset="-120"/>
              </a:rPr>
              <a:t>Retriever</a:t>
            </a:r>
            <a:endParaRPr lang="en-US" sz="900" dirty="0"/>
          </a:p>
        </p:txBody>
      </p:sp>
      <p:sp>
        <p:nvSpPr>
          <p:cNvPr id="14" name="Text 9"/>
          <p:cNvSpPr/>
          <p:nvPr/>
        </p:nvSpPr>
        <p:spPr>
          <a:xfrm>
            <a:off x="3364992" y="2465832"/>
            <a:ext cx="2560320" cy="493776"/>
          </a:xfrm>
          <a:prstGeom prst="rect">
            <a:avLst/>
          </a:prstGeom>
          <a:noFill/>
          <a:ln/>
        </p:spPr>
        <p:txBody>
          <a:bodyPr wrap="square" lIns="0" tIns="0" rIns="0" bIns="0" rtlCol="0" anchor="ctr"/>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Are the chunks it returned actually about the question?</a:t>
            </a:r>
            <a:endParaRPr lang="en-US" sz="950" dirty="0"/>
          </a:p>
        </p:txBody>
      </p:sp>
      <p:sp>
        <p:nvSpPr>
          <p:cNvPr id="15" name="Shape 10"/>
          <p:cNvSpPr/>
          <p:nvPr/>
        </p:nvSpPr>
        <p:spPr>
          <a:xfrm>
            <a:off x="566928" y="3032760"/>
            <a:ext cx="5486400" cy="493776"/>
          </a:xfrm>
          <a:prstGeom prst="roundRect">
            <a:avLst>
              <a:gd name="adj" fmla="val 11111"/>
            </a:avLst>
          </a:prstGeom>
          <a:solidFill>
            <a:srgbClr val="FFFFFF"/>
          </a:solidFill>
          <a:ln w="9525">
            <a:solidFill>
              <a:srgbClr val="E3E9F1"/>
            </a:solidFill>
            <a:prstDash val="solid"/>
          </a:ln>
        </p:spPr>
      </p:sp>
      <p:sp>
        <p:nvSpPr>
          <p:cNvPr id="16" name="Text 11"/>
          <p:cNvSpPr/>
          <p:nvPr/>
        </p:nvSpPr>
        <p:spPr>
          <a:xfrm>
            <a:off x="731520" y="3032760"/>
            <a:ext cx="1737360" cy="493776"/>
          </a:xfrm>
          <a:prstGeom prst="rect">
            <a:avLst/>
          </a:prstGeom>
          <a:noFill/>
          <a:ln/>
        </p:spPr>
        <p:txBody>
          <a:bodyPr wrap="square" lIns="0" tIns="0" rIns="0" bIns="0" rtlCol="0" anchor="ctr"/>
          <a:lstStyle/>
          <a:p>
            <a:pPr indent="0" marL="0">
              <a:buNone/>
            </a:pPr>
            <a:r>
              <a:rPr lang="en-US" sz="1100" b="1" dirty="0">
                <a:solidFill>
                  <a:srgbClr val="0E1A2B"/>
                </a:solidFill>
                <a:latin typeface="Calibri" pitchFamily="34" charset="0"/>
                <a:ea typeface="Calibri" pitchFamily="34" charset="-122"/>
                <a:cs typeface="Calibri" pitchFamily="34" charset="-120"/>
              </a:rPr>
              <a:t>Faithfulness</a:t>
            </a:r>
            <a:endParaRPr lang="en-US" sz="1100" dirty="0"/>
          </a:p>
        </p:txBody>
      </p:sp>
      <p:sp>
        <p:nvSpPr>
          <p:cNvPr id="17" name="Text 12"/>
          <p:cNvSpPr/>
          <p:nvPr/>
        </p:nvSpPr>
        <p:spPr>
          <a:xfrm>
            <a:off x="2450592" y="3032760"/>
            <a:ext cx="914400" cy="493776"/>
          </a:xfrm>
          <a:prstGeom prst="rect">
            <a:avLst/>
          </a:prstGeom>
          <a:noFill/>
          <a:ln/>
        </p:spPr>
        <p:txBody>
          <a:bodyPr wrap="square" lIns="0" tIns="0" rIns="0" bIns="0" rtlCol="0" anchor="ctr"/>
          <a:lstStyle/>
          <a:p>
            <a:pPr indent="0" marL="0">
              <a:buNone/>
            </a:pPr>
            <a:r>
              <a:rPr lang="en-US" sz="900" dirty="0">
                <a:solidFill>
                  <a:srgbClr val="0E7C5A"/>
                </a:solidFill>
                <a:latin typeface="Courier New" pitchFamily="34" charset="0"/>
                <a:ea typeface="Courier New" pitchFamily="34" charset="-122"/>
                <a:cs typeface="Courier New" pitchFamily="34" charset="-120"/>
              </a:rPr>
              <a:t>Answerer</a:t>
            </a:r>
            <a:endParaRPr lang="en-US" sz="900" dirty="0"/>
          </a:p>
        </p:txBody>
      </p:sp>
      <p:sp>
        <p:nvSpPr>
          <p:cNvPr id="18" name="Text 13"/>
          <p:cNvSpPr/>
          <p:nvPr/>
        </p:nvSpPr>
        <p:spPr>
          <a:xfrm>
            <a:off x="3364992" y="3032760"/>
            <a:ext cx="2560320" cy="493776"/>
          </a:xfrm>
          <a:prstGeom prst="rect">
            <a:avLst/>
          </a:prstGeom>
          <a:noFill/>
          <a:ln/>
        </p:spPr>
        <p:txBody>
          <a:bodyPr wrap="square" lIns="0" tIns="0" rIns="0" bIns="0" rtlCol="0" anchor="ctr"/>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Is the answer grounded in those chunks?</a:t>
            </a:r>
            <a:endParaRPr lang="en-US" sz="950" dirty="0"/>
          </a:p>
        </p:txBody>
      </p:sp>
      <p:sp>
        <p:nvSpPr>
          <p:cNvPr id="19" name="Shape 14"/>
          <p:cNvSpPr/>
          <p:nvPr/>
        </p:nvSpPr>
        <p:spPr>
          <a:xfrm>
            <a:off x="566928" y="3599688"/>
            <a:ext cx="5486400" cy="493776"/>
          </a:xfrm>
          <a:prstGeom prst="roundRect">
            <a:avLst>
              <a:gd name="adj" fmla="val 11111"/>
            </a:avLst>
          </a:prstGeom>
          <a:solidFill>
            <a:srgbClr val="FFFFFF"/>
          </a:solidFill>
          <a:ln w="9525">
            <a:solidFill>
              <a:srgbClr val="E3E9F1"/>
            </a:solidFill>
            <a:prstDash val="solid"/>
          </a:ln>
        </p:spPr>
      </p:sp>
      <p:sp>
        <p:nvSpPr>
          <p:cNvPr id="20" name="Text 15"/>
          <p:cNvSpPr/>
          <p:nvPr/>
        </p:nvSpPr>
        <p:spPr>
          <a:xfrm>
            <a:off x="731520" y="3599688"/>
            <a:ext cx="1737360" cy="493776"/>
          </a:xfrm>
          <a:prstGeom prst="rect">
            <a:avLst/>
          </a:prstGeom>
          <a:noFill/>
          <a:ln/>
        </p:spPr>
        <p:txBody>
          <a:bodyPr wrap="square" lIns="0" tIns="0" rIns="0" bIns="0" rtlCol="0" anchor="ctr"/>
          <a:lstStyle/>
          <a:p>
            <a:pPr indent="0" marL="0">
              <a:buNone/>
            </a:pPr>
            <a:r>
              <a:rPr lang="en-US" sz="1100" b="1" dirty="0">
                <a:solidFill>
                  <a:srgbClr val="0E1A2B"/>
                </a:solidFill>
                <a:latin typeface="Calibri" pitchFamily="34" charset="0"/>
                <a:ea typeface="Calibri" pitchFamily="34" charset="-122"/>
                <a:cs typeface="Calibri" pitchFamily="34" charset="-120"/>
              </a:rPr>
              <a:t>Answer relevancy</a:t>
            </a:r>
            <a:endParaRPr lang="en-US" sz="1100" dirty="0"/>
          </a:p>
        </p:txBody>
      </p:sp>
      <p:sp>
        <p:nvSpPr>
          <p:cNvPr id="21" name="Text 16"/>
          <p:cNvSpPr/>
          <p:nvPr/>
        </p:nvSpPr>
        <p:spPr>
          <a:xfrm>
            <a:off x="2450592" y="3599688"/>
            <a:ext cx="914400" cy="493776"/>
          </a:xfrm>
          <a:prstGeom prst="rect">
            <a:avLst/>
          </a:prstGeom>
          <a:noFill/>
          <a:ln/>
        </p:spPr>
        <p:txBody>
          <a:bodyPr wrap="square" lIns="0" tIns="0" rIns="0" bIns="0" rtlCol="0" anchor="ctr"/>
          <a:lstStyle/>
          <a:p>
            <a:pPr indent="0" marL="0">
              <a:buNone/>
            </a:pPr>
            <a:r>
              <a:rPr lang="en-US" sz="900" dirty="0">
                <a:solidFill>
                  <a:srgbClr val="0E7C5A"/>
                </a:solidFill>
                <a:latin typeface="Courier New" pitchFamily="34" charset="0"/>
                <a:ea typeface="Courier New" pitchFamily="34" charset="-122"/>
                <a:cs typeface="Courier New" pitchFamily="34" charset="-120"/>
              </a:rPr>
              <a:t>Answerer</a:t>
            </a:r>
            <a:endParaRPr lang="en-US" sz="900" dirty="0"/>
          </a:p>
        </p:txBody>
      </p:sp>
      <p:sp>
        <p:nvSpPr>
          <p:cNvPr id="22" name="Text 17"/>
          <p:cNvSpPr/>
          <p:nvPr/>
        </p:nvSpPr>
        <p:spPr>
          <a:xfrm>
            <a:off x="3364992" y="3599688"/>
            <a:ext cx="2560320" cy="493776"/>
          </a:xfrm>
          <a:prstGeom prst="rect">
            <a:avLst/>
          </a:prstGeom>
          <a:noFill/>
          <a:ln/>
        </p:spPr>
        <p:txBody>
          <a:bodyPr wrap="square" lIns="0" tIns="0" rIns="0" bIns="0" rtlCol="0" anchor="ctr"/>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Does the answer address the question that was asked?</a:t>
            </a:r>
            <a:endParaRPr lang="en-US" sz="950" dirty="0"/>
          </a:p>
        </p:txBody>
      </p:sp>
      <p:sp>
        <p:nvSpPr>
          <p:cNvPr id="23" name="Text 18"/>
          <p:cNvSpPr/>
          <p:nvPr/>
        </p:nvSpPr>
        <p:spPr>
          <a:xfrm>
            <a:off x="566928" y="4239768"/>
            <a:ext cx="5486400" cy="402336"/>
          </a:xfrm>
          <a:prstGeom prst="rect">
            <a:avLst/>
          </a:prstGeom>
          <a:noFill/>
          <a:ln/>
        </p:spPr>
        <p:txBody>
          <a:bodyPr wrap="square" lIns="0" tIns="0" rIns="0" bIns="0" rtlCol="0" anchor="ctr"/>
          <a:lstStyle/>
          <a:p>
            <a:pPr indent="0" marL="0">
              <a:lnSpc>
                <a:spcPts val="1400"/>
              </a:lnSpc>
              <a:buNone/>
            </a:pPr>
            <a:r>
              <a:rPr lang="en-US" sz="1050" i="1" dirty="0">
                <a:solidFill>
                  <a:srgbClr val="6B7A8C"/>
                </a:solidFill>
                <a:latin typeface="Calibri" pitchFamily="34" charset="0"/>
                <a:ea typeface="Calibri" pitchFamily="34" charset="-122"/>
                <a:cs typeface="Calibri" pitchFamily="34" charset="-120"/>
              </a:rPr>
              <a:t>Two grade retrieval and two grade generation — so a failing metric names the stage to look at, rather than saying “the RAG is bad”.</a:t>
            </a:r>
            <a:endParaRPr lang="en-US" sz="1050" dirty="0"/>
          </a:p>
        </p:txBody>
      </p:sp>
      <p:sp>
        <p:nvSpPr>
          <p:cNvPr id="24" name="Shape 19"/>
          <p:cNvSpPr/>
          <p:nvPr/>
        </p:nvSpPr>
        <p:spPr>
          <a:xfrm>
            <a:off x="6400800" y="1898904"/>
            <a:ext cx="5223967" cy="3310128"/>
          </a:xfrm>
          <a:prstGeom prst="roundRect">
            <a:avLst>
              <a:gd name="adj" fmla="val 1657"/>
            </a:avLst>
          </a:prstGeom>
          <a:solidFill>
            <a:srgbClr val="0E1A2B"/>
          </a:solidFill>
          <a:ln w="9525">
            <a:solidFill>
              <a:srgbClr val="0E1A2B"/>
            </a:solidFill>
            <a:prstDash val="solid"/>
          </a:ln>
          <a:effectLst>
            <a:outerShdw sx="100000" sy="100000" kx="0" ky="0" algn="bl" rotWithShape="0" blurRad="127000" dist="508" dir="5400000">
              <a:srgbClr val="000000">
                <a:alpha val="9000"/>
              </a:srgbClr>
            </a:outerShdw>
          </a:effectLst>
        </p:spPr>
      </p:sp>
      <p:sp>
        <p:nvSpPr>
          <p:cNvPr id="25" name="Text 20"/>
          <p:cNvSpPr/>
          <p:nvPr/>
        </p:nvSpPr>
        <p:spPr>
          <a:xfrm>
            <a:off x="6638544" y="2063496"/>
            <a:ext cx="4754880"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golden set built to break things</a:t>
            </a:r>
            <a:endParaRPr lang="en-US" sz="1500" dirty="0"/>
          </a:p>
        </p:txBody>
      </p:sp>
      <p:sp>
        <p:nvSpPr>
          <p:cNvPr id="26" name="Text 21"/>
          <p:cNvSpPr/>
          <p:nvPr/>
        </p:nvSpPr>
        <p:spPr>
          <a:xfrm>
            <a:off x="6638544" y="2356104"/>
            <a:ext cx="4754880" cy="237744"/>
          </a:xfrm>
          <a:prstGeom prst="rect">
            <a:avLst/>
          </a:prstGeom>
          <a:noFill/>
          <a:ln/>
        </p:spPr>
        <p:txBody>
          <a:bodyPr wrap="square" lIns="0" tIns="0" rIns="0" bIns="0" rtlCol="0" anchor="ctr"/>
          <a:lstStyle/>
          <a:p>
            <a:pPr indent="0" marL="0">
              <a:buNone/>
            </a:pPr>
            <a:r>
              <a:rPr lang="en-US" sz="1000" i="1" dirty="0">
                <a:solidFill>
                  <a:srgbClr val="6B7A8C"/>
                </a:solidFill>
                <a:latin typeface="Calibri" pitchFamily="34" charset="0"/>
                <a:ea typeface="Calibri" pitchFamily="34" charset="-122"/>
                <a:cs typeface="Calibri" pitchFamily="34" charset="-120"/>
              </a:rPr>
              <a:t>3 questions → 34. Most of them are there to defeat something in particular.</a:t>
            </a:r>
            <a:endParaRPr lang="en-US" sz="1000" dirty="0"/>
          </a:p>
        </p:txBody>
      </p:sp>
      <p:sp>
        <p:nvSpPr>
          <p:cNvPr id="27" name="Text 22"/>
          <p:cNvSpPr/>
          <p:nvPr/>
        </p:nvSpPr>
        <p:spPr>
          <a:xfrm>
            <a:off x="6638544" y="2648712"/>
            <a:ext cx="1920240" cy="274320"/>
          </a:xfrm>
          <a:prstGeom prst="rect">
            <a:avLst/>
          </a:prstGeom>
          <a:noFill/>
          <a:ln/>
        </p:spPr>
        <p:txBody>
          <a:bodyPr wrap="square" lIns="0" tIns="0" rIns="0" bIns="0" rtlCol="0" anchor="t"/>
          <a:lstStyle/>
          <a:p>
            <a:pPr indent="0" marL="0">
              <a:buNone/>
            </a:pPr>
            <a:r>
              <a:rPr lang="en-US" sz="950" b="1" dirty="0">
                <a:solidFill>
                  <a:srgbClr val="FF7900"/>
                </a:solidFill>
                <a:latin typeface="Calibri" pitchFamily="34" charset="0"/>
                <a:ea typeface="Calibri" pitchFamily="34" charset="-122"/>
                <a:cs typeface="Calibri" pitchFamily="34" charset="-120"/>
              </a:rPr>
              <a:t>Out of scope ×3</a:t>
            </a:r>
            <a:endParaRPr lang="en-US" sz="950" dirty="0"/>
          </a:p>
        </p:txBody>
      </p:sp>
      <p:sp>
        <p:nvSpPr>
          <p:cNvPr id="28" name="Text 23"/>
          <p:cNvSpPr/>
          <p:nvPr/>
        </p:nvSpPr>
        <p:spPr>
          <a:xfrm>
            <a:off x="8613648" y="2648712"/>
            <a:ext cx="2834640" cy="310896"/>
          </a:xfrm>
          <a:prstGeom prst="rect">
            <a:avLst/>
          </a:prstGeom>
          <a:noFill/>
          <a:ln/>
        </p:spPr>
        <p:txBody>
          <a:bodyPr wrap="square" lIns="0" tIns="0" rIns="0" bIns="0" rtlCol="0" anchor="t"/>
          <a:lstStyle/>
          <a:p>
            <a:pPr indent="0" marL="0">
              <a:lnSpc>
                <a:spcPts val="1150"/>
              </a:lnSpc>
              <a:buNone/>
            </a:pPr>
            <a:r>
              <a:rPr lang="en-US" sz="900" dirty="0">
                <a:solidFill>
                  <a:srgbClr val="8FA3B8"/>
                </a:solidFill>
                <a:latin typeface="Calibri" pitchFamily="34" charset="0"/>
                <a:ea typeface="Calibri" pitchFamily="34" charset="-122"/>
                <a:cs typeface="Calibri" pitchFamily="34" charset="-120"/>
              </a:rPr>
              <a:t>the page cannot answer them at all</a:t>
            </a:r>
            <a:endParaRPr lang="en-US" sz="900" dirty="0"/>
          </a:p>
        </p:txBody>
      </p:sp>
      <p:sp>
        <p:nvSpPr>
          <p:cNvPr id="29" name="Text 24"/>
          <p:cNvSpPr/>
          <p:nvPr/>
        </p:nvSpPr>
        <p:spPr>
          <a:xfrm>
            <a:off x="6638544" y="2950464"/>
            <a:ext cx="1920240" cy="274320"/>
          </a:xfrm>
          <a:prstGeom prst="rect">
            <a:avLst/>
          </a:prstGeom>
          <a:noFill/>
          <a:ln/>
        </p:spPr>
        <p:txBody>
          <a:bodyPr wrap="square" lIns="0" tIns="0" rIns="0" bIns="0" rtlCol="0" anchor="t"/>
          <a:lstStyle/>
          <a:p>
            <a:pPr indent="0" marL="0">
              <a:buNone/>
            </a:pPr>
            <a:r>
              <a:rPr lang="en-US" sz="950" b="1" dirty="0">
                <a:solidFill>
                  <a:srgbClr val="FF7900"/>
                </a:solidFill>
                <a:latin typeface="Calibri" pitchFamily="34" charset="0"/>
                <a:ea typeface="Calibri" pitchFamily="34" charset="-122"/>
                <a:cs typeface="Calibri" pitchFamily="34" charset="-120"/>
              </a:rPr>
              <a:t>Near-miss distractors ×3</a:t>
            </a:r>
            <a:endParaRPr lang="en-US" sz="950" dirty="0"/>
          </a:p>
        </p:txBody>
      </p:sp>
      <p:sp>
        <p:nvSpPr>
          <p:cNvPr id="30" name="Text 25"/>
          <p:cNvSpPr/>
          <p:nvPr/>
        </p:nvSpPr>
        <p:spPr>
          <a:xfrm>
            <a:off x="8613648" y="2950464"/>
            <a:ext cx="2834640" cy="310896"/>
          </a:xfrm>
          <a:prstGeom prst="rect">
            <a:avLst/>
          </a:prstGeom>
          <a:noFill/>
          <a:ln/>
        </p:spPr>
        <p:txBody>
          <a:bodyPr wrap="square" lIns="0" tIns="0" rIns="0" bIns="0" rtlCol="0" anchor="t"/>
          <a:lstStyle/>
          <a:p>
            <a:pPr indent="0" marL="0">
              <a:lnSpc>
                <a:spcPts val="1150"/>
              </a:lnSpc>
              <a:buNone/>
            </a:pPr>
            <a:r>
              <a:rPr lang="en-US" sz="900" dirty="0">
                <a:solidFill>
                  <a:srgbClr val="8FA3B8"/>
                </a:solidFill>
                <a:latin typeface="Calibri" pitchFamily="34" charset="0"/>
                <a:ea typeface="Calibri" pitchFamily="34" charset="-122"/>
                <a:cs typeface="Calibri" pitchFamily="34" charset="-120"/>
              </a:rPr>
              <a:t>arginine/citrulline, beta-alanine/bicarbonate, tart cherry/quercetin</a:t>
            </a:r>
            <a:endParaRPr lang="en-US" sz="900" dirty="0"/>
          </a:p>
        </p:txBody>
      </p:sp>
      <p:sp>
        <p:nvSpPr>
          <p:cNvPr id="31" name="Text 26"/>
          <p:cNvSpPr/>
          <p:nvPr/>
        </p:nvSpPr>
        <p:spPr>
          <a:xfrm>
            <a:off x="6638544" y="3252216"/>
            <a:ext cx="1920240" cy="274320"/>
          </a:xfrm>
          <a:prstGeom prst="rect">
            <a:avLst/>
          </a:prstGeom>
          <a:noFill/>
          <a:ln/>
        </p:spPr>
        <p:txBody>
          <a:bodyPr wrap="square" lIns="0" tIns="0" rIns="0" bIns="0" rtlCol="0" anchor="t"/>
          <a:lstStyle/>
          <a:p>
            <a:pPr indent="0" marL="0">
              <a:buNone/>
            </a:pPr>
            <a:r>
              <a:rPr lang="en-US" sz="950" b="1" dirty="0">
                <a:solidFill>
                  <a:srgbClr val="FF7900"/>
                </a:solidFill>
                <a:latin typeface="Calibri" pitchFamily="34" charset="0"/>
                <a:ea typeface="Calibri" pitchFamily="34" charset="-122"/>
                <a:cs typeface="Calibri" pitchFamily="34" charset="-120"/>
              </a:rPr>
              <a:t>Multi-hop ×2</a:t>
            </a:r>
            <a:endParaRPr lang="en-US" sz="950" dirty="0"/>
          </a:p>
        </p:txBody>
      </p:sp>
      <p:sp>
        <p:nvSpPr>
          <p:cNvPr id="32" name="Text 27"/>
          <p:cNvSpPr/>
          <p:nvPr/>
        </p:nvSpPr>
        <p:spPr>
          <a:xfrm>
            <a:off x="8613648" y="3252216"/>
            <a:ext cx="2834640" cy="310896"/>
          </a:xfrm>
          <a:prstGeom prst="rect">
            <a:avLst/>
          </a:prstGeom>
          <a:noFill/>
          <a:ln/>
        </p:spPr>
        <p:txBody>
          <a:bodyPr wrap="square" lIns="0" tIns="0" rIns="0" bIns="0" rtlCol="0" anchor="t"/>
          <a:lstStyle/>
          <a:p>
            <a:pPr indent="0" marL="0">
              <a:lnSpc>
                <a:spcPts val="1150"/>
              </a:lnSpc>
              <a:buNone/>
            </a:pPr>
            <a:r>
              <a:rPr lang="en-US" sz="900" dirty="0">
                <a:solidFill>
                  <a:srgbClr val="8FA3B8"/>
                </a:solidFill>
                <a:latin typeface="Calibri" pitchFamily="34" charset="0"/>
                <a:ea typeface="Calibri" pitchFamily="34" charset="-122"/>
                <a:cs typeface="Calibri" pitchFamily="34" charset="-120"/>
              </a:rPr>
              <a:t>the answer lives in two ingredient sections at once</a:t>
            </a:r>
            <a:endParaRPr lang="en-US" sz="900" dirty="0"/>
          </a:p>
        </p:txBody>
      </p:sp>
      <p:sp>
        <p:nvSpPr>
          <p:cNvPr id="33" name="Text 28"/>
          <p:cNvSpPr/>
          <p:nvPr/>
        </p:nvSpPr>
        <p:spPr>
          <a:xfrm>
            <a:off x="6638544" y="3553968"/>
            <a:ext cx="1920240" cy="274320"/>
          </a:xfrm>
          <a:prstGeom prst="rect">
            <a:avLst/>
          </a:prstGeom>
          <a:noFill/>
          <a:ln/>
        </p:spPr>
        <p:txBody>
          <a:bodyPr wrap="square" lIns="0" tIns="0" rIns="0" bIns="0" rtlCol="0" anchor="t"/>
          <a:lstStyle/>
          <a:p>
            <a:pPr indent="0" marL="0">
              <a:buNone/>
            </a:pPr>
            <a:r>
              <a:rPr lang="en-US" sz="950" b="1" dirty="0">
                <a:solidFill>
                  <a:srgbClr val="FF7900"/>
                </a:solidFill>
                <a:latin typeface="Calibri" pitchFamily="34" charset="0"/>
                <a:ea typeface="Calibri" pitchFamily="34" charset="-122"/>
                <a:cs typeface="Calibri" pitchFamily="34" charset="-120"/>
              </a:rPr>
              <a:t>False premise</a:t>
            </a:r>
            <a:endParaRPr lang="en-US" sz="950" dirty="0"/>
          </a:p>
        </p:txBody>
      </p:sp>
      <p:sp>
        <p:nvSpPr>
          <p:cNvPr id="34" name="Text 29"/>
          <p:cNvSpPr/>
          <p:nvPr/>
        </p:nvSpPr>
        <p:spPr>
          <a:xfrm>
            <a:off x="8613648" y="3553968"/>
            <a:ext cx="2834640" cy="310896"/>
          </a:xfrm>
          <a:prstGeom prst="rect">
            <a:avLst/>
          </a:prstGeom>
          <a:noFill/>
          <a:ln/>
        </p:spPr>
        <p:txBody>
          <a:bodyPr wrap="square" lIns="0" tIns="0" rIns="0" bIns="0" rtlCol="0" anchor="t"/>
          <a:lstStyle/>
          <a:p>
            <a:pPr indent="0" marL="0">
              <a:lnSpc>
                <a:spcPts val="1150"/>
              </a:lnSpc>
              <a:buNone/>
            </a:pPr>
            <a:r>
              <a:rPr lang="en-US" sz="900" dirty="0">
                <a:solidFill>
                  <a:srgbClr val="8FA3B8"/>
                </a:solidFill>
                <a:latin typeface="Calibri" pitchFamily="34" charset="0"/>
                <a:ea typeface="Calibri" pitchFamily="34" charset="-122"/>
                <a:cs typeface="Calibri" pitchFamily="34" charset="-120"/>
              </a:rPr>
              <a:t>asks a DHEA dose; the page says DHEA does nothing</a:t>
            </a:r>
            <a:endParaRPr lang="en-US" sz="900" dirty="0"/>
          </a:p>
        </p:txBody>
      </p:sp>
      <p:sp>
        <p:nvSpPr>
          <p:cNvPr id="35" name="Text 30"/>
          <p:cNvSpPr/>
          <p:nvPr/>
        </p:nvSpPr>
        <p:spPr>
          <a:xfrm>
            <a:off x="6638544" y="3855720"/>
            <a:ext cx="1920240" cy="274320"/>
          </a:xfrm>
          <a:prstGeom prst="rect">
            <a:avLst/>
          </a:prstGeom>
          <a:noFill/>
          <a:ln/>
        </p:spPr>
        <p:txBody>
          <a:bodyPr wrap="square" lIns="0" tIns="0" rIns="0" bIns="0" rtlCol="0" anchor="t"/>
          <a:lstStyle/>
          <a:p>
            <a:pPr indent="0" marL="0">
              <a:buNone/>
            </a:pPr>
            <a:r>
              <a:rPr lang="en-US" sz="950" b="1" dirty="0">
                <a:solidFill>
                  <a:srgbClr val="FF7900"/>
                </a:solidFill>
                <a:latin typeface="Calibri" pitchFamily="34" charset="0"/>
                <a:ea typeface="Calibri" pitchFamily="34" charset="-122"/>
                <a:cs typeface="Calibri" pitchFamily="34" charset="-120"/>
              </a:rPr>
              <a:t>Negation</a:t>
            </a:r>
            <a:endParaRPr lang="en-US" sz="950" dirty="0"/>
          </a:p>
        </p:txBody>
      </p:sp>
      <p:sp>
        <p:nvSpPr>
          <p:cNvPr id="36" name="Text 31"/>
          <p:cNvSpPr/>
          <p:nvPr/>
        </p:nvSpPr>
        <p:spPr>
          <a:xfrm>
            <a:off x="8613648" y="3855720"/>
            <a:ext cx="2834640" cy="310896"/>
          </a:xfrm>
          <a:prstGeom prst="rect">
            <a:avLst/>
          </a:prstGeom>
          <a:noFill/>
          <a:ln/>
        </p:spPr>
        <p:txBody>
          <a:bodyPr wrap="square" lIns="0" tIns="0" rIns="0" bIns="0" rtlCol="0" anchor="t"/>
          <a:lstStyle/>
          <a:p>
            <a:pPr indent="0" marL="0">
              <a:lnSpc>
                <a:spcPts val="1150"/>
              </a:lnSpc>
              <a:buNone/>
            </a:pPr>
            <a:r>
              <a:rPr lang="en-US" sz="900" dirty="0">
                <a:solidFill>
                  <a:srgbClr val="8FA3B8"/>
                </a:solidFill>
                <a:latin typeface="Calibri" pitchFamily="34" charset="0"/>
                <a:ea typeface="Calibri" pitchFamily="34" charset="-122"/>
                <a:cs typeface="Calibri" pitchFamily="34" charset="-120"/>
              </a:rPr>
              <a:t>which ingredients have no evidence behind them</a:t>
            </a:r>
            <a:endParaRPr lang="en-US" sz="900" dirty="0"/>
          </a:p>
        </p:txBody>
      </p:sp>
      <p:sp>
        <p:nvSpPr>
          <p:cNvPr id="37" name="Text 32"/>
          <p:cNvSpPr/>
          <p:nvPr/>
        </p:nvSpPr>
        <p:spPr>
          <a:xfrm>
            <a:off x="6638544" y="4157472"/>
            <a:ext cx="1920240" cy="274320"/>
          </a:xfrm>
          <a:prstGeom prst="rect">
            <a:avLst/>
          </a:prstGeom>
          <a:noFill/>
          <a:ln/>
        </p:spPr>
        <p:txBody>
          <a:bodyPr wrap="square" lIns="0" tIns="0" rIns="0" bIns="0" rtlCol="0" anchor="t"/>
          <a:lstStyle/>
          <a:p>
            <a:pPr indent="0" marL="0">
              <a:buNone/>
            </a:pPr>
            <a:r>
              <a:rPr lang="en-US" sz="950" b="1" dirty="0">
                <a:solidFill>
                  <a:srgbClr val="FF7900"/>
                </a:solidFill>
                <a:latin typeface="Calibri" pitchFamily="34" charset="0"/>
                <a:ea typeface="Calibri" pitchFamily="34" charset="-122"/>
                <a:cs typeface="Calibri" pitchFamily="34" charset="-120"/>
              </a:rPr>
              <a:t>Terse · misspelled · acronym</a:t>
            </a:r>
            <a:endParaRPr lang="en-US" sz="950" dirty="0"/>
          </a:p>
        </p:txBody>
      </p:sp>
      <p:sp>
        <p:nvSpPr>
          <p:cNvPr id="38" name="Text 33"/>
          <p:cNvSpPr/>
          <p:nvPr/>
        </p:nvSpPr>
        <p:spPr>
          <a:xfrm>
            <a:off x="8613648" y="4157472"/>
            <a:ext cx="2834640" cy="310896"/>
          </a:xfrm>
          <a:prstGeom prst="rect">
            <a:avLst/>
          </a:prstGeom>
          <a:noFill/>
          <a:ln/>
        </p:spPr>
        <p:txBody>
          <a:bodyPr wrap="square" lIns="0" tIns="0" rIns="0" bIns="0" rtlCol="0" anchor="t"/>
          <a:lstStyle/>
          <a:p>
            <a:pPr indent="0" marL="0">
              <a:lnSpc>
                <a:spcPts val="1150"/>
              </a:lnSpc>
              <a:buNone/>
            </a:pPr>
            <a:r>
              <a:rPr lang="en-US" sz="900" dirty="0">
                <a:solidFill>
                  <a:srgbClr val="8FA3B8"/>
                </a:solidFill>
                <a:latin typeface="Calibri" pitchFamily="34" charset="0"/>
                <a:ea typeface="Calibri" pitchFamily="34" charset="-122"/>
                <a:cs typeface="Calibri" pitchFamily="34" charset="-120"/>
              </a:rPr>
              <a:t>“creatin monohidrate”, “HMB or BCAAs”</a:t>
            </a:r>
            <a:endParaRPr lang="en-US" sz="900" dirty="0"/>
          </a:p>
        </p:txBody>
      </p:sp>
      <p:sp>
        <p:nvSpPr>
          <p:cNvPr id="39" name="Text 34"/>
          <p:cNvSpPr/>
          <p:nvPr/>
        </p:nvSpPr>
        <p:spPr>
          <a:xfrm>
            <a:off x="6638544" y="4495800"/>
            <a:ext cx="4754880" cy="548640"/>
          </a:xfrm>
          <a:prstGeom prst="rect">
            <a:avLst/>
          </a:prstGeom>
          <a:noFill/>
          <a:ln/>
        </p:spPr>
        <p:txBody>
          <a:bodyPr wrap="square" lIns="0" tIns="0" rIns="0" bIns="0" rtlCol="0" anchor="ctr"/>
          <a:lstStyle/>
          <a:p>
            <a:pPr indent="0" marL="0">
              <a:lnSpc>
                <a:spcPts val="1250"/>
              </a:lnSpc>
              <a:buNone/>
            </a:pPr>
            <a:r>
              <a:rPr lang="en-US" sz="950" i="1" dirty="0">
                <a:solidFill>
                  <a:srgbClr val="6B7A8C"/>
                </a:solidFill>
                <a:latin typeface="Calibri" pitchFamily="34" charset="0"/>
                <a:ea typeface="Calibri" pitchFamily="34" charset="-122"/>
                <a:cs typeface="Calibri" pitchFamily="34" charset="-120"/>
              </a:rPr>
              <a:t>The golden file holds only the question and a reference answer. The contexts and the answer come from the live pipeline at run time — which is what makes the numbers worth having: they move when the pipeline changes.</a:t>
            </a:r>
            <a:endParaRPr lang="en-US" sz="950" dirty="0"/>
          </a:p>
        </p:txBody>
      </p:sp>
      <p:sp>
        <p:nvSpPr>
          <p:cNvPr id="40" name="Text 35"/>
          <p:cNvSpPr/>
          <p:nvPr/>
        </p:nvSpPr>
        <p:spPr>
          <a:xfrm>
            <a:off x="566928" y="5355336"/>
            <a:ext cx="11057839" cy="274320"/>
          </a:xfrm>
          <a:prstGeom prst="rect">
            <a:avLst/>
          </a:prstGeom>
          <a:noFill/>
          <a:ln/>
        </p:spPr>
        <p:txBody>
          <a:bodyPr wrap="square" lIns="0" tIns="0" rIns="0" bIns="0" rtlCol="0" anchor="ctr"/>
          <a:lstStyle/>
          <a:p>
            <a:pPr indent="0" marL="0">
              <a:buNone/>
            </a:pPr>
            <a:r>
              <a:rPr lang="en-US" sz="1050" dirty="0">
                <a:solidFill>
                  <a:srgbClr val="6B7A8C"/>
                </a:solidFill>
                <a:latin typeface="Calibri" pitchFamily="34" charset="0"/>
                <a:ea typeface="Calibri" pitchFamily="34" charset="-122"/>
                <a:cs typeface="Calibri" pitchFamily="34" charset="-120"/>
              </a:rPr>
              <a:t>Cost of one run: 34 questions × 4 metrics = 136 judge calls, ~23 minutes of scoring on top of ~10 minutes of collection.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RESULT · THE PROMPT FIX</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Same questions, same index, same judge. Only the prompt changed.</a:t>
            </a:r>
            <a:endParaRPr lang="en-US" sz="3000" dirty="0"/>
          </a:p>
        </p:txBody>
      </p:sp>
      <p:graphicFrame>
        <p:nvGraphicFramePr>
          <p:cNvPr id="7" name="Chart 0" descr=""/>
          <p:cNvGraphicFramePr/>
          <p:nvPr/>
        </p:nvGraphicFramePr>
        <p:xfrm>
          <a:off x="566928" y="1880616"/>
          <a:ext cx="6858000" cy="2395728"/>
        </p:xfrm>
        <a:graphic xmlns:a="http://schemas.openxmlformats.org/drawingml/2006/main">
          <a:graphicData uri="http://schemas.openxmlformats.org/drawingml/2006/chart">
            <c:chart xmlns:c="http://schemas.openxmlformats.org/drawingml/2006/chart" r:id="rId4"/>
          </a:graphicData>
        </a:graphic>
      </p:graphicFrame>
      <p:sp>
        <p:nvSpPr>
          <p:cNvPr id="8" name="Shape 2"/>
          <p:cNvSpPr/>
          <p:nvPr/>
        </p:nvSpPr>
        <p:spPr>
          <a:xfrm>
            <a:off x="7644384" y="1880616"/>
            <a:ext cx="3980383" cy="1700784"/>
          </a:xfrm>
          <a:prstGeom prst="roundRect">
            <a:avLst>
              <a:gd name="adj" fmla="val 3226"/>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9" name="Text 3"/>
          <p:cNvSpPr/>
          <p:nvPr/>
        </p:nvSpPr>
        <p:spPr>
          <a:xfrm>
            <a:off x="7882128" y="2026920"/>
            <a:ext cx="3566160" cy="256032"/>
          </a:xfrm>
          <a:prstGeom prst="rect">
            <a:avLst/>
          </a:prstGeom>
          <a:noFill/>
          <a:ln/>
        </p:spPr>
        <p:txBody>
          <a:bodyPr wrap="square" lIns="0" tIns="0" rIns="0" bIns="0" rtlCol="0" anchor="ctr"/>
          <a:lstStyle/>
          <a:p>
            <a:pPr indent="0" marL="0">
              <a:buNone/>
            </a:pPr>
            <a:r>
              <a:rPr lang="en-US" sz="1350" b="1" dirty="0">
                <a:solidFill>
                  <a:srgbClr val="0E1A2B"/>
                </a:solidFill>
                <a:latin typeface="Cambria" pitchFamily="34" charset="0"/>
                <a:ea typeface="Cambria" pitchFamily="34" charset="-122"/>
                <a:cs typeface="Cambria" pitchFamily="34" charset="-120"/>
              </a:rPr>
              <a:t>The control that makes it credible</a:t>
            </a:r>
            <a:endParaRPr lang="en-US" sz="1350" dirty="0"/>
          </a:p>
        </p:txBody>
      </p:sp>
      <p:sp>
        <p:nvSpPr>
          <p:cNvPr id="10" name="Text 4"/>
          <p:cNvSpPr/>
          <p:nvPr/>
        </p:nvSpPr>
        <p:spPr>
          <a:xfrm>
            <a:off x="7882128" y="2337816"/>
            <a:ext cx="3566160" cy="1170432"/>
          </a:xfrm>
          <a:prstGeom prst="rect">
            <a:avLst/>
          </a:prstGeom>
          <a:noFill/>
          <a:ln/>
        </p:spPr>
        <p:txBody>
          <a:bodyPr wrap="square" lIns="0" tIns="0" rIns="0" bIns="0" rtlCol="0" anchor="t"/>
          <a:lstStyle/>
          <a:p>
            <a:pPr indent="0" marL="0">
              <a:lnSpc>
                <a:spcPts val="1350"/>
              </a:lnSpc>
              <a:buNone/>
            </a:pPr>
            <a:r>
              <a:rPr lang="en-US" sz="1000" dirty="0">
                <a:solidFill>
                  <a:srgbClr val="46566B"/>
                </a:solidFill>
                <a:latin typeface="Calibri" pitchFamily="34" charset="0"/>
                <a:ea typeface="Calibri" pitchFamily="34" charset="-122"/>
                <a:cs typeface="Calibri" pitchFamily="34" charset="-120"/>
              </a:rPr>
              <a:t>Context recall barely moved: +0.015. A prompt cannot change what retrieval fetched, so a large movement there would have meant something else was varying between the runs.</a:t>
            </a:r>
            <a:endParaRPr lang="en-US" sz="1000" dirty="0"/>
          </a:p>
          <a:p>
            <a:pPr indent="0" marL="0">
              <a:lnSpc>
                <a:spcPts val="1350"/>
              </a:lnSpc>
              <a:buNone/>
            </a:pPr>
            <a:endParaRPr lang="en-US" sz="1000" dirty="0"/>
          </a:p>
          <a:p>
            <a:pPr indent="0" marL="0">
              <a:lnSpc>
                <a:spcPts val="1350"/>
              </a:lnSpc>
              <a:buNone/>
            </a:pPr>
            <a:r>
              <a:rPr lang="en-US" sz="1000" dirty="0">
                <a:solidFill>
                  <a:srgbClr val="46566B"/>
                </a:solidFill>
                <a:latin typeface="Calibri" pitchFamily="34" charset="0"/>
                <a:ea typeface="Calibri" pitchFamily="34" charset="-122"/>
                <a:cs typeface="Calibri" pitchFamily="34" charset="-120"/>
              </a:rPr>
              <a:t>The two answering metrics moved by an order of magnitude more — which is exactly the shape the fix predicted.</a:t>
            </a:r>
            <a:endParaRPr lang="en-US" sz="1000" dirty="0"/>
          </a:p>
        </p:txBody>
      </p:sp>
      <p:sp>
        <p:nvSpPr>
          <p:cNvPr id="11" name="Text 5"/>
          <p:cNvSpPr/>
          <p:nvPr/>
        </p:nvSpPr>
        <p:spPr>
          <a:xfrm>
            <a:off x="7699248" y="3709416"/>
            <a:ext cx="2286000" cy="329184"/>
          </a:xfrm>
          <a:prstGeom prst="rect">
            <a:avLst/>
          </a:prstGeom>
          <a:noFill/>
          <a:ln/>
        </p:spPr>
        <p:txBody>
          <a:bodyPr wrap="square" lIns="0" tIns="0" rIns="0" bIns="0" rtlCol="0" anchor="ctr"/>
          <a:lstStyle/>
          <a:p>
            <a:pPr indent="0" marL="0">
              <a:buNone/>
            </a:pPr>
            <a:r>
              <a:rPr lang="en-US" sz="1050" dirty="0">
                <a:solidFill>
                  <a:srgbClr val="46566B"/>
                </a:solidFill>
                <a:latin typeface="Calibri" pitchFamily="34" charset="0"/>
                <a:ea typeface="Calibri" pitchFamily="34" charset="-122"/>
                <a:cs typeface="Calibri" pitchFamily="34" charset="-120"/>
              </a:rPr>
              <a:t>faithfulness</a:t>
            </a:r>
            <a:endParaRPr lang="en-US" sz="1050" dirty="0"/>
          </a:p>
        </p:txBody>
      </p:sp>
      <p:sp>
        <p:nvSpPr>
          <p:cNvPr id="12" name="Text 6"/>
          <p:cNvSpPr/>
          <p:nvPr/>
        </p:nvSpPr>
        <p:spPr>
          <a:xfrm>
            <a:off x="9985248" y="3709416"/>
            <a:ext cx="1463040" cy="329184"/>
          </a:xfrm>
          <a:prstGeom prst="rect">
            <a:avLst/>
          </a:prstGeom>
          <a:noFill/>
          <a:ln/>
        </p:spPr>
        <p:txBody>
          <a:bodyPr wrap="square" lIns="0" tIns="0" rIns="0" bIns="0" rtlCol="0" anchor="ctr"/>
          <a:lstStyle/>
          <a:p>
            <a:pPr algn="r" indent="0" marL="0">
              <a:buNone/>
            </a:pPr>
            <a:r>
              <a:rPr lang="en-US" sz="1500" b="1" dirty="0">
                <a:solidFill>
                  <a:srgbClr val="0E7C5A"/>
                </a:solidFill>
                <a:latin typeface="Calibri" pitchFamily="34" charset="0"/>
                <a:ea typeface="Calibri" pitchFamily="34" charset="-122"/>
                <a:cs typeface="Calibri" pitchFamily="34" charset="-120"/>
              </a:rPr>
              <a:t>+0.177</a:t>
            </a:r>
            <a:endParaRPr lang="en-US" sz="1500" dirty="0"/>
          </a:p>
        </p:txBody>
      </p:sp>
      <p:sp>
        <p:nvSpPr>
          <p:cNvPr id="13" name="Text 7"/>
          <p:cNvSpPr/>
          <p:nvPr/>
        </p:nvSpPr>
        <p:spPr>
          <a:xfrm>
            <a:off x="7699248" y="4111752"/>
            <a:ext cx="2286000" cy="329184"/>
          </a:xfrm>
          <a:prstGeom prst="rect">
            <a:avLst/>
          </a:prstGeom>
          <a:noFill/>
          <a:ln/>
        </p:spPr>
        <p:txBody>
          <a:bodyPr wrap="square" lIns="0" tIns="0" rIns="0" bIns="0" rtlCol="0" anchor="ctr"/>
          <a:lstStyle/>
          <a:p>
            <a:pPr indent="0" marL="0">
              <a:buNone/>
            </a:pPr>
            <a:r>
              <a:rPr lang="en-US" sz="1050" dirty="0">
                <a:solidFill>
                  <a:srgbClr val="46566B"/>
                </a:solidFill>
                <a:latin typeface="Calibri" pitchFamily="34" charset="0"/>
                <a:ea typeface="Calibri" pitchFamily="34" charset="-122"/>
                <a:cs typeface="Calibri" pitchFamily="34" charset="-120"/>
              </a:rPr>
              <a:t>answer relevancy</a:t>
            </a:r>
            <a:endParaRPr lang="en-US" sz="1050" dirty="0"/>
          </a:p>
        </p:txBody>
      </p:sp>
      <p:sp>
        <p:nvSpPr>
          <p:cNvPr id="14" name="Text 8"/>
          <p:cNvSpPr/>
          <p:nvPr/>
        </p:nvSpPr>
        <p:spPr>
          <a:xfrm>
            <a:off x="9985248" y="4111752"/>
            <a:ext cx="1463040" cy="329184"/>
          </a:xfrm>
          <a:prstGeom prst="rect">
            <a:avLst/>
          </a:prstGeom>
          <a:noFill/>
          <a:ln/>
        </p:spPr>
        <p:txBody>
          <a:bodyPr wrap="square" lIns="0" tIns="0" rIns="0" bIns="0" rtlCol="0" anchor="ctr"/>
          <a:lstStyle/>
          <a:p>
            <a:pPr algn="r" indent="0" marL="0">
              <a:buNone/>
            </a:pPr>
            <a:r>
              <a:rPr lang="en-US" sz="1500" b="1" dirty="0">
                <a:solidFill>
                  <a:srgbClr val="0E7C5A"/>
                </a:solidFill>
                <a:latin typeface="Calibri" pitchFamily="34" charset="0"/>
                <a:ea typeface="Calibri" pitchFamily="34" charset="-122"/>
                <a:cs typeface="Calibri" pitchFamily="34" charset="-120"/>
              </a:rPr>
              <a:t>+0.154</a:t>
            </a:r>
            <a:endParaRPr lang="en-US" sz="1500" dirty="0"/>
          </a:p>
        </p:txBody>
      </p:sp>
      <p:sp>
        <p:nvSpPr>
          <p:cNvPr id="15" name="Text 9"/>
          <p:cNvSpPr/>
          <p:nvPr/>
        </p:nvSpPr>
        <p:spPr>
          <a:xfrm>
            <a:off x="7699248" y="4514088"/>
            <a:ext cx="2286000" cy="329184"/>
          </a:xfrm>
          <a:prstGeom prst="rect">
            <a:avLst/>
          </a:prstGeom>
          <a:noFill/>
          <a:ln/>
        </p:spPr>
        <p:txBody>
          <a:bodyPr wrap="square" lIns="0" tIns="0" rIns="0" bIns="0" rtlCol="0" anchor="ctr"/>
          <a:lstStyle/>
          <a:p>
            <a:pPr indent="0" marL="0">
              <a:buNone/>
            </a:pPr>
            <a:r>
              <a:rPr lang="en-US" sz="1050" dirty="0">
                <a:solidFill>
                  <a:srgbClr val="46566B"/>
                </a:solidFill>
                <a:latin typeface="Calibri" pitchFamily="34" charset="0"/>
                <a:ea typeface="Calibri" pitchFamily="34" charset="-122"/>
                <a:cs typeface="Calibri" pitchFamily="34" charset="-120"/>
              </a:rPr>
              <a:t>refusals</a:t>
            </a:r>
            <a:endParaRPr lang="en-US" sz="1050" dirty="0"/>
          </a:p>
        </p:txBody>
      </p:sp>
      <p:sp>
        <p:nvSpPr>
          <p:cNvPr id="16" name="Text 10"/>
          <p:cNvSpPr/>
          <p:nvPr/>
        </p:nvSpPr>
        <p:spPr>
          <a:xfrm>
            <a:off x="9985248" y="4514088"/>
            <a:ext cx="1463040" cy="329184"/>
          </a:xfrm>
          <a:prstGeom prst="rect">
            <a:avLst/>
          </a:prstGeom>
          <a:noFill/>
          <a:ln/>
        </p:spPr>
        <p:txBody>
          <a:bodyPr wrap="square" lIns="0" tIns="0" rIns="0" bIns="0" rtlCol="0" anchor="ctr"/>
          <a:lstStyle/>
          <a:p>
            <a:pPr algn="r" indent="0" marL="0">
              <a:buNone/>
            </a:pPr>
            <a:r>
              <a:rPr lang="en-US" sz="1500" b="1" dirty="0">
                <a:solidFill>
                  <a:srgbClr val="0E7C5A"/>
                </a:solidFill>
                <a:latin typeface="Calibri" pitchFamily="34" charset="0"/>
                <a:ea typeface="Calibri" pitchFamily="34" charset="-122"/>
                <a:cs typeface="Calibri" pitchFamily="34" charset="-120"/>
              </a:rPr>
              <a:t>12 → 5</a:t>
            </a:r>
            <a:endParaRPr lang="en-US" sz="1500" dirty="0"/>
          </a:p>
        </p:txBody>
      </p:sp>
      <p:sp>
        <p:nvSpPr>
          <p:cNvPr id="17" name="Text 11"/>
          <p:cNvSpPr/>
          <p:nvPr/>
        </p:nvSpPr>
        <p:spPr>
          <a:xfrm>
            <a:off x="7699248" y="4916424"/>
            <a:ext cx="2286000" cy="329184"/>
          </a:xfrm>
          <a:prstGeom prst="rect">
            <a:avLst/>
          </a:prstGeom>
          <a:noFill/>
          <a:ln/>
        </p:spPr>
        <p:txBody>
          <a:bodyPr wrap="square" lIns="0" tIns="0" rIns="0" bIns="0" rtlCol="0" anchor="ctr"/>
          <a:lstStyle/>
          <a:p>
            <a:pPr indent="0" marL="0">
              <a:buNone/>
            </a:pPr>
            <a:r>
              <a:rPr lang="en-US" sz="1050" dirty="0">
                <a:solidFill>
                  <a:srgbClr val="46566B"/>
                </a:solidFill>
                <a:latin typeface="Calibri" pitchFamily="34" charset="0"/>
                <a:ea typeface="Calibri" pitchFamily="34" charset="-122"/>
                <a:cs typeface="Calibri" pitchFamily="34" charset="-120"/>
              </a:rPr>
              <a:t>zero scores of 136</a:t>
            </a:r>
            <a:endParaRPr lang="en-US" sz="1050" dirty="0"/>
          </a:p>
        </p:txBody>
      </p:sp>
      <p:sp>
        <p:nvSpPr>
          <p:cNvPr id="18" name="Text 12"/>
          <p:cNvSpPr/>
          <p:nvPr/>
        </p:nvSpPr>
        <p:spPr>
          <a:xfrm>
            <a:off x="9985248" y="4916424"/>
            <a:ext cx="1463040" cy="329184"/>
          </a:xfrm>
          <a:prstGeom prst="rect">
            <a:avLst/>
          </a:prstGeom>
          <a:noFill/>
          <a:ln/>
        </p:spPr>
        <p:txBody>
          <a:bodyPr wrap="square" lIns="0" tIns="0" rIns="0" bIns="0" rtlCol="0" anchor="ctr"/>
          <a:lstStyle/>
          <a:p>
            <a:pPr algn="r" indent="0" marL="0">
              <a:buNone/>
            </a:pPr>
            <a:r>
              <a:rPr lang="en-US" sz="1500" b="1" dirty="0">
                <a:solidFill>
                  <a:srgbClr val="0E7C5A"/>
                </a:solidFill>
                <a:latin typeface="Calibri" pitchFamily="34" charset="0"/>
                <a:ea typeface="Calibri" pitchFamily="34" charset="-122"/>
                <a:cs typeface="Calibri" pitchFamily="34" charset="-120"/>
              </a:rPr>
              <a:t>27 → 10</a:t>
            </a:r>
            <a:endParaRPr lang="en-US" sz="1500" dirty="0"/>
          </a:p>
        </p:txBody>
      </p:sp>
      <p:sp>
        <p:nvSpPr>
          <p:cNvPr id="19" name="Text 13"/>
          <p:cNvSpPr/>
          <p:nvPr/>
        </p:nvSpPr>
        <p:spPr>
          <a:xfrm>
            <a:off x="566928" y="4495800"/>
            <a:ext cx="6858000" cy="566928"/>
          </a:xfrm>
          <a:prstGeom prst="rect">
            <a:avLst/>
          </a:prstGeom>
          <a:noFill/>
          <a:ln/>
        </p:spPr>
        <p:txBody>
          <a:bodyPr wrap="square" lIns="0" tIns="0" rIns="0" bIns="0" rtlCol="0" anchor="ctr"/>
          <a:lstStyle/>
          <a:p>
            <a:pPr indent="0" marL="0">
              <a:lnSpc>
                <a:spcPts val="1400"/>
              </a:lnSpc>
              <a:buNone/>
            </a:pPr>
            <a:r>
              <a:rPr lang="en-US" sz="1050" i="1" dirty="0">
                <a:solidFill>
                  <a:srgbClr val="6B7A8C"/>
                </a:solidFill>
                <a:latin typeface="Calibri" pitchFamily="34" charset="0"/>
                <a:ea typeface="Calibri" pitchFamily="34" charset="-122"/>
                <a:cs typeface="Calibri" pitchFamily="34" charset="-120"/>
              </a:rPr>
              <a:t>Why the original 3-question set could never have caught this: all three were simple single-topic lookups. The failure only appears on multi-part, comparative and false-premise questions — which is exactly what the expanded set added.</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RESULT · RETRIEVAL DEPTH</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top_k 5 against 10 — a real trade-off, not a free win</a:t>
            </a:r>
            <a:endParaRPr lang="en-US" sz="3000" dirty="0"/>
          </a:p>
        </p:txBody>
      </p:sp>
      <p:graphicFrame>
        <p:nvGraphicFramePr>
          <p:cNvPr id="7" name="Chart 0" descr=""/>
          <p:cNvGraphicFramePr/>
          <p:nvPr/>
        </p:nvGraphicFramePr>
        <p:xfrm>
          <a:off x="566928" y="1554480"/>
          <a:ext cx="6492240" cy="2286000"/>
        </p:xfrm>
        <a:graphic xmlns:a="http://schemas.openxmlformats.org/drawingml/2006/main">
          <a:graphicData uri="http://schemas.openxmlformats.org/drawingml/2006/chart">
            <c:chart xmlns:c="http://schemas.openxmlformats.org/drawingml/2006/chart" r:id="rId4"/>
          </a:graphicData>
        </a:graphic>
      </p:graphicFrame>
      <p:sp>
        <p:nvSpPr>
          <p:cNvPr id="8" name="Text 2"/>
          <p:cNvSpPr/>
          <p:nvPr/>
        </p:nvSpPr>
        <p:spPr>
          <a:xfrm>
            <a:off x="566928" y="3931920"/>
            <a:ext cx="6492240" cy="457200"/>
          </a:xfrm>
          <a:prstGeom prst="rect">
            <a:avLst/>
          </a:prstGeom>
          <a:noFill/>
          <a:ln/>
        </p:spPr>
        <p:txBody>
          <a:bodyPr wrap="square" lIns="0" tIns="0" rIns="0" bIns="0" rtlCol="0" anchor="t"/>
          <a:lstStyle/>
          <a:p>
            <a:pPr indent="0" marL="0">
              <a:lnSpc>
                <a:spcPts val="1400"/>
              </a:lnSpc>
              <a:buNone/>
            </a:pPr>
            <a:r>
              <a:rPr lang="en-US" sz="1050" b="1" dirty="0">
                <a:solidFill>
                  <a:srgbClr val="0E1A2B"/>
                </a:solidFill>
                <a:latin typeface="Calibri" pitchFamily="34" charset="0"/>
                <a:ea typeface="Calibri" pitchFamily="34" charset="-122"/>
                <a:cs typeface="Calibri" pitchFamily="34" charset="-120"/>
              </a:rPr>
              <a:t>Recall rises 0.152 and faithfulness edges up; precision falls 0.079 and relevancy 0.048. </a:t>
            </a:r>
            <a:pPr indent="0" marL="0">
              <a:lnSpc>
                <a:spcPts val="1400"/>
              </a:lnSpc>
              <a:buNone/>
            </a:pPr>
            <a:r>
              <a:rPr lang="en-US" sz="1050" dirty="0">
                <a:solidFill>
                  <a:srgbClr val="46566B"/>
                </a:solidFill>
                <a:latin typeface="Calibri" pitchFamily="34" charset="0"/>
                <a:ea typeface="Calibri" pitchFamily="34" charset="-122"/>
                <a:cs typeface="Calibri" pitchFamily="34" charset="-120"/>
              </a:rPr>
              <a:t>Ten chunks per question means more of them are off-topic, and a longer answer is a more diluted one.</a:t>
            </a:r>
            <a:endParaRPr lang="en-US" sz="1050" dirty="0"/>
          </a:p>
        </p:txBody>
      </p:sp>
      <p:sp>
        <p:nvSpPr>
          <p:cNvPr id="9" name="Text 3"/>
          <p:cNvSpPr/>
          <p:nvPr/>
        </p:nvSpPr>
        <p:spPr>
          <a:xfrm>
            <a:off x="7260336" y="1554480"/>
            <a:ext cx="4364431" cy="274320"/>
          </a:xfrm>
          <a:prstGeom prst="rect">
            <a:avLst/>
          </a:prstGeom>
          <a:noFill/>
          <a:ln/>
        </p:spPr>
        <p:txBody>
          <a:bodyPr wrap="square" lIns="0" tIns="0" rIns="0" bIns="0" rtlCol="0" anchor="ctr"/>
          <a:lstStyle/>
          <a:p>
            <a:pPr indent="0" marL="0">
              <a:buNone/>
            </a:pPr>
            <a:r>
              <a:rPr lang="en-US" sz="1300" b="1" dirty="0">
                <a:solidFill>
                  <a:srgbClr val="0E1A2B"/>
                </a:solidFill>
                <a:latin typeface="Cambria" pitchFamily="34" charset="0"/>
                <a:ea typeface="Cambria" pitchFamily="34" charset="-122"/>
                <a:cs typeface="Cambria" pitchFamily="34" charset="-120"/>
              </a:rPr>
              <a:t>The questions that moved are the edge cases we added</a:t>
            </a:r>
            <a:endParaRPr lang="en-US" sz="1300" dirty="0"/>
          </a:p>
        </p:txBody>
      </p:sp>
      <p:sp>
        <p:nvSpPr>
          <p:cNvPr id="10" name="Text 4"/>
          <p:cNvSpPr/>
          <p:nvPr/>
        </p:nvSpPr>
        <p:spPr>
          <a:xfrm>
            <a:off x="7260336" y="2011680"/>
            <a:ext cx="457200" cy="402336"/>
          </a:xfrm>
          <a:prstGeom prst="rect">
            <a:avLst/>
          </a:prstGeom>
          <a:noFill/>
          <a:ln/>
        </p:spPr>
        <p:txBody>
          <a:bodyPr wrap="square" lIns="0" tIns="0" rIns="0" bIns="0" rtlCol="0" anchor="ctr"/>
          <a:lstStyle/>
          <a:p>
            <a:pPr indent="0" marL="0">
              <a:buNone/>
            </a:pPr>
            <a:r>
              <a:rPr lang="en-US" sz="950" b="1" dirty="0">
                <a:solidFill>
                  <a:srgbClr val="6B7A8C"/>
                </a:solidFill>
                <a:latin typeface="Courier New" pitchFamily="34" charset="0"/>
                <a:ea typeface="Courier New" pitchFamily="34" charset="-122"/>
                <a:cs typeface="Courier New" pitchFamily="34" charset="-120"/>
              </a:rPr>
              <a:t>#13</a:t>
            </a:r>
            <a:endParaRPr lang="en-US" sz="950" dirty="0"/>
          </a:p>
        </p:txBody>
      </p:sp>
      <p:sp>
        <p:nvSpPr>
          <p:cNvPr id="11" name="Text 5"/>
          <p:cNvSpPr/>
          <p:nvPr/>
        </p:nvSpPr>
        <p:spPr>
          <a:xfrm>
            <a:off x="7699248" y="2011680"/>
            <a:ext cx="1188720" cy="402336"/>
          </a:xfrm>
          <a:prstGeom prst="rect">
            <a:avLst/>
          </a:prstGeom>
          <a:noFill/>
          <a:ln/>
        </p:spPr>
        <p:txBody>
          <a:bodyPr wrap="square" lIns="0" tIns="0" rIns="0" bIns="0" rtlCol="0" anchor="ctr"/>
          <a:lstStyle/>
          <a:p>
            <a:pPr indent="0" marL="0">
              <a:buNone/>
            </a:pPr>
            <a:r>
              <a:rPr lang="en-US" sz="1050" b="1" dirty="0">
                <a:solidFill>
                  <a:srgbClr val="0E7C5A"/>
                </a:solidFill>
                <a:latin typeface="Calibri" pitchFamily="34" charset="0"/>
                <a:ea typeface="Calibri" pitchFamily="34" charset="-122"/>
                <a:cs typeface="Calibri" pitchFamily="34" charset="-120"/>
              </a:rPr>
              <a:t>0.00 → 1.00</a:t>
            </a:r>
            <a:endParaRPr lang="en-US" sz="1050" dirty="0"/>
          </a:p>
        </p:txBody>
      </p:sp>
      <p:sp>
        <p:nvSpPr>
          <p:cNvPr id="12" name="Text 6"/>
          <p:cNvSpPr/>
          <p:nvPr/>
        </p:nvSpPr>
        <p:spPr>
          <a:xfrm>
            <a:off x="8906256" y="2011680"/>
            <a:ext cx="2651760" cy="402336"/>
          </a:xfrm>
          <a:prstGeom prst="rect">
            <a:avLst/>
          </a:prstGeom>
          <a:noFill/>
          <a:ln/>
        </p:spPr>
        <p:txBody>
          <a:bodyPr wrap="square" lIns="0" tIns="0" rIns="0" bIns="0" rtlCol="0" anchor="ctr"/>
          <a:lstStyle/>
          <a:p>
            <a:pPr indent="0" marL="0">
              <a:lnSpc>
                <a:spcPts val="1150"/>
              </a:lnSpc>
              <a:buNone/>
            </a:pPr>
            <a:r>
              <a:rPr lang="en-US" sz="900" dirty="0">
                <a:solidFill>
                  <a:srgbClr val="46566B"/>
                </a:solidFill>
                <a:latin typeface="Calibri" pitchFamily="34" charset="0"/>
                <a:ea typeface="Calibri" pitchFamily="34" charset="-122"/>
                <a:cs typeface="Calibri" pitchFamily="34" charset="-120"/>
              </a:rPr>
              <a:t>misspelling — “creatin monohidrate”</a:t>
            </a:r>
            <a:endParaRPr lang="en-US" sz="900" dirty="0"/>
          </a:p>
        </p:txBody>
      </p:sp>
      <p:sp>
        <p:nvSpPr>
          <p:cNvPr id="13" name="Text 7"/>
          <p:cNvSpPr/>
          <p:nvPr/>
        </p:nvSpPr>
        <p:spPr>
          <a:xfrm>
            <a:off x="7260336" y="2468880"/>
            <a:ext cx="457200" cy="402336"/>
          </a:xfrm>
          <a:prstGeom prst="rect">
            <a:avLst/>
          </a:prstGeom>
          <a:noFill/>
          <a:ln/>
        </p:spPr>
        <p:txBody>
          <a:bodyPr wrap="square" lIns="0" tIns="0" rIns="0" bIns="0" rtlCol="0" anchor="ctr"/>
          <a:lstStyle/>
          <a:p>
            <a:pPr indent="0" marL="0">
              <a:buNone/>
            </a:pPr>
            <a:r>
              <a:rPr lang="en-US" sz="950" b="1" dirty="0">
                <a:solidFill>
                  <a:srgbClr val="6B7A8C"/>
                </a:solidFill>
                <a:latin typeface="Courier New" pitchFamily="34" charset="0"/>
                <a:ea typeface="Courier New" pitchFamily="34" charset="-122"/>
                <a:cs typeface="Courier New" pitchFamily="34" charset="-120"/>
              </a:rPr>
              <a:t>#23</a:t>
            </a:r>
            <a:endParaRPr lang="en-US" sz="950" dirty="0"/>
          </a:p>
        </p:txBody>
      </p:sp>
      <p:sp>
        <p:nvSpPr>
          <p:cNvPr id="14" name="Text 8"/>
          <p:cNvSpPr/>
          <p:nvPr/>
        </p:nvSpPr>
        <p:spPr>
          <a:xfrm>
            <a:off x="7699248" y="2468880"/>
            <a:ext cx="1188720" cy="402336"/>
          </a:xfrm>
          <a:prstGeom prst="rect">
            <a:avLst/>
          </a:prstGeom>
          <a:noFill/>
          <a:ln/>
        </p:spPr>
        <p:txBody>
          <a:bodyPr wrap="square" lIns="0" tIns="0" rIns="0" bIns="0" rtlCol="0" anchor="ctr"/>
          <a:lstStyle/>
          <a:p>
            <a:pPr indent="0" marL="0">
              <a:buNone/>
            </a:pPr>
            <a:r>
              <a:rPr lang="en-US" sz="1050" b="1" dirty="0">
                <a:solidFill>
                  <a:srgbClr val="0E7C5A"/>
                </a:solidFill>
                <a:latin typeface="Calibri" pitchFamily="34" charset="0"/>
                <a:ea typeface="Calibri" pitchFamily="34" charset="-122"/>
                <a:cs typeface="Calibri" pitchFamily="34" charset="-120"/>
              </a:rPr>
              <a:t>0.50 → 1.00</a:t>
            </a:r>
            <a:endParaRPr lang="en-US" sz="1050" dirty="0"/>
          </a:p>
        </p:txBody>
      </p:sp>
      <p:sp>
        <p:nvSpPr>
          <p:cNvPr id="15" name="Text 9"/>
          <p:cNvSpPr/>
          <p:nvPr/>
        </p:nvSpPr>
        <p:spPr>
          <a:xfrm>
            <a:off x="8906256" y="2468880"/>
            <a:ext cx="2651760" cy="402336"/>
          </a:xfrm>
          <a:prstGeom prst="rect">
            <a:avLst/>
          </a:prstGeom>
          <a:noFill/>
          <a:ln/>
        </p:spPr>
        <p:txBody>
          <a:bodyPr wrap="square" lIns="0" tIns="0" rIns="0" bIns="0" rtlCol="0" anchor="ctr"/>
          <a:lstStyle/>
          <a:p>
            <a:pPr indent="0" marL="0">
              <a:lnSpc>
                <a:spcPts val="1150"/>
              </a:lnSpc>
              <a:buNone/>
            </a:pPr>
            <a:r>
              <a:rPr lang="en-US" sz="900" dirty="0">
                <a:solidFill>
                  <a:srgbClr val="46566B"/>
                </a:solidFill>
                <a:latin typeface="Calibri" pitchFamily="34" charset="0"/>
                <a:ea typeface="Calibri" pitchFamily="34" charset="-122"/>
                <a:cs typeface="Calibri" pitchFamily="34" charset="-120"/>
              </a:rPr>
              <a:t>multi-part: three supplements, one athlete</a:t>
            </a:r>
            <a:endParaRPr lang="en-US" sz="900" dirty="0"/>
          </a:p>
        </p:txBody>
      </p:sp>
      <p:sp>
        <p:nvSpPr>
          <p:cNvPr id="16" name="Text 10"/>
          <p:cNvSpPr/>
          <p:nvPr/>
        </p:nvSpPr>
        <p:spPr>
          <a:xfrm>
            <a:off x="7260336" y="2926080"/>
            <a:ext cx="457200" cy="402336"/>
          </a:xfrm>
          <a:prstGeom prst="rect">
            <a:avLst/>
          </a:prstGeom>
          <a:noFill/>
          <a:ln/>
        </p:spPr>
        <p:txBody>
          <a:bodyPr wrap="square" lIns="0" tIns="0" rIns="0" bIns="0" rtlCol="0" anchor="ctr"/>
          <a:lstStyle/>
          <a:p>
            <a:pPr indent="0" marL="0">
              <a:buNone/>
            </a:pPr>
            <a:r>
              <a:rPr lang="en-US" sz="950" b="1" dirty="0">
                <a:solidFill>
                  <a:srgbClr val="6B7A8C"/>
                </a:solidFill>
                <a:latin typeface="Courier New" pitchFamily="34" charset="0"/>
                <a:ea typeface="Courier New" pitchFamily="34" charset="-122"/>
                <a:cs typeface="Courier New" pitchFamily="34" charset="-120"/>
              </a:rPr>
              <a:t>#22</a:t>
            </a:r>
            <a:endParaRPr lang="en-US" sz="950" dirty="0"/>
          </a:p>
        </p:txBody>
      </p:sp>
      <p:sp>
        <p:nvSpPr>
          <p:cNvPr id="17" name="Text 11"/>
          <p:cNvSpPr/>
          <p:nvPr/>
        </p:nvSpPr>
        <p:spPr>
          <a:xfrm>
            <a:off x="7699248" y="2926080"/>
            <a:ext cx="1188720" cy="402336"/>
          </a:xfrm>
          <a:prstGeom prst="rect">
            <a:avLst/>
          </a:prstGeom>
          <a:noFill/>
          <a:ln/>
        </p:spPr>
        <p:txBody>
          <a:bodyPr wrap="square" lIns="0" tIns="0" rIns="0" bIns="0" rtlCol="0" anchor="ctr"/>
          <a:lstStyle/>
          <a:p>
            <a:pPr indent="0" marL="0">
              <a:buNone/>
            </a:pPr>
            <a:r>
              <a:rPr lang="en-US" sz="1050" b="1" dirty="0">
                <a:solidFill>
                  <a:srgbClr val="0E7C5A"/>
                </a:solidFill>
                <a:latin typeface="Calibri" pitchFamily="34" charset="0"/>
                <a:ea typeface="Calibri" pitchFamily="34" charset="-122"/>
                <a:cs typeface="Calibri" pitchFamily="34" charset="-120"/>
              </a:rPr>
              <a:t>0.57 → 1.00</a:t>
            </a:r>
            <a:endParaRPr lang="en-US" sz="1050" dirty="0"/>
          </a:p>
        </p:txBody>
      </p:sp>
      <p:sp>
        <p:nvSpPr>
          <p:cNvPr id="18" name="Text 12"/>
          <p:cNvSpPr/>
          <p:nvPr/>
        </p:nvSpPr>
        <p:spPr>
          <a:xfrm>
            <a:off x="8906256" y="2926080"/>
            <a:ext cx="2651760" cy="402336"/>
          </a:xfrm>
          <a:prstGeom prst="rect">
            <a:avLst/>
          </a:prstGeom>
          <a:noFill/>
          <a:ln/>
        </p:spPr>
        <p:txBody>
          <a:bodyPr wrap="square" lIns="0" tIns="0" rIns="0" bIns="0" rtlCol="0" anchor="ctr"/>
          <a:lstStyle/>
          <a:p>
            <a:pPr indent="0" marL="0">
              <a:lnSpc>
                <a:spcPts val="1150"/>
              </a:lnSpc>
              <a:buNone/>
            </a:pPr>
            <a:r>
              <a:rPr lang="en-US" sz="900" dirty="0">
                <a:solidFill>
                  <a:srgbClr val="46566B"/>
                </a:solidFill>
                <a:latin typeface="Calibri" pitchFamily="34" charset="0"/>
                <a:ea typeface="Calibri" pitchFamily="34" charset="-122"/>
                <a:cs typeface="Calibri" pitchFamily="34" charset="-120"/>
              </a:rPr>
              <a:t>synonym mismatch — baking soda</a:t>
            </a:r>
            <a:endParaRPr lang="en-US" sz="900" dirty="0"/>
          </a:p>
        </p:txBody>
      </p:sp>
      <p:sp>
        <p:nvSpPr>
          <p:cNvPr id="19" name="Text 13"/>
          <p:cNvSpPr/>
          <p:nvPr/>
        </p:nvSpPr>
        <p:spPr>
          <a:xfrm>
            <a:off x="7260336" y="3383280"/>
            <a:ext cx="457200" cy="402336"/>
          </a:xfrm>
          <a:prstGeom prst="rect">
            <a:avLst/>
          </a:prstGeom>
          <a:noFill/>
          <a:ln/>
        </p:spPr>
        <p:txBody>
          <a:bodyPr wrap="square" lIns="0" tIns="0" rIns="0" bIns="0" rtlCol="0" anchor="ctr"/>
          <a:lstStyle/>
          <a:p>
            <a:pPr indent="0" marL="0">
              <a:buNone/>
            </a:pPr>
            <a:r>
              <a:rPr lang="en-US" sz="950" b="1" dirty="0">
                <a:solidFill>
                  <a:srgbClr val="6B7A8C"/>
                </a:solidFill>
                <a:latin typeface="Courier New" pitchFamily="34" charset="0"/>
                <a:ea typeface="Courier New" pitchFamily="34" charset="-122"/>
                <a:cs typeface="Courier New" pitchFamily="34" charset="-120"/>
              </a:rPr>
              <a:t>#19</a:t>
            </a:r>
            <a:endParaRPr lang="en-US" sz="950" dirty="0"/>
          </a:p>
        </p:txBody>
      </p:sp>
      <p:sp>
        <p:nvSpPr>
          <p:cNvPr id="20" name="Text 14"/>
          <p:cNvSpPr/>
          <p:nvPr/>
        </p:nvSpPr>
        <p:spPr>
          <a:xfrm>
            <a:off x="7699248" y="3383280"/>
            <a:ext cx="1188720" cy="402336"/>
          </a:xfrm>
          <a:prstGeom prst="rect">
            <a:avLst/>
          </a:prstGeom>
          <a:noFill/>
          <a:ln/>
        </p:spPr>
        <p:txBody>
          <a:bodyPr wrap="square" lIns="0" tIns="0" rIns="0" bIns="0" rtlCol="0" anchor="ctr"/>
          <a:lstStyle/>
          <a:p>
            <a:pPr indent="0" marL="0">
              <a:buNone/>
            </a:pPr>
            <a:r>
              <a:rPr lang="en-US" sz="1050" b="1" dirty="0">
                <a:solidFill>
                  <a:srgbClr val="0E7C5A"/>
                </a:solidFill>
                <a:latin typeface="Calibri" pitchFamily="34" charset="0"/>
                <a:ea typeface="Calibri" pitchFamily="34" charset="-122"/>
                <a:cs typeface="Calibri" pitchFamily="34" charset="-120"/>
              </a:rPr>
              <a:t>0.57 → 1.00</a:t>
            </a:r>
            <a:endParaRPr lang="en-US" sz="1050" dirty="0"/>
          </a:p>
        </p:txBody>
      </p:sp>
      <p:sp>
        <p:nvSpPr>
          <p:cNvPr id="21" name="Text 15"/>
          <p:cNvSpPr/>
          <p:nvPr/>
        </p:nvSpPr>
        <p:spPr>
          <a:xfrm>
            <a:off x="8906256" y="3383280"/>
            <a:ext cx="2651760" cy="402336"/>
          </a:xfrm>
          <a:prstGeom prst="rect">
            <a:avLst/>
          </a:prstGeom>
          <a:noFill/>
          <a:ln/>
        </p:spPr>
        <p:txBody>
          <a:bodyPr wrap="square" lIns="0" tIns="0" rIns="0" bIns="0" rtlCol="0" anchor="ctr"/>
          <a:lstStyle/>
          <a:p>
            <a:pPr indent="0" marL="0">
              <a:lnSpc>
                <a:spcPts val="1150"/>
              </a:lnSpc>
              <a:buNone/>
            </a:pPr>
            <a:r>
              <a:rPr lang="en-US" sz="900" dirty="0">
                <a:solidFill>
                  <a:srgbClr val="46566B"/>
                </a:solidFill>
                <a:latin typeface="Calibri" pitchFamily="34" charset="0"/>
                <a:ea typeface="Calibri" pitchFamily="34" charset="-122"/>
                <a:cs typeface="Calibri" pitchFamily="34" charset="-120"/>
              </a:rPr>
              <a:t>near-miss — tart cherry vs quercetin</a:t>
            </a:r>
            <a:endParaRPr lang="en-US" sz="900" dirty="0"/>
          </a:p>
        </p:txBody>
      </p:sp>
      <p:sp>
        <p:nvSpPr>
          <p:cNvPr id="22" name="Text 16"/>
          <p:cNvSpPr/>
          <p:nvPr/>
        </p:nvSpPr>
        <p:spPr>
          <a:xfrm>
            <a:off x="7260336" y="3840480"/>
            <a:ext cx="457200" cy="402336"/>
          </a:xfrm>
          <a:prstGeom prst="rect">
            <a:avLst/>
          </a:prstGeom>
          <a:noFill/>
          <a:ln/>
        </p:spPr>
        <p:txBody>
          <a:bodyPr wrap="square" lIns="0" tIns="0" rIns="0" bIns="0" rtlCol="0" anchor="ctr"/>
          <a:lstStyle/>
          <a:p>
            <a:pPr indent="0" marL="0">
              <a:buNone/>
            </a:pPr>
            <a:r>
              <a:rPr lang="en-US" sz="950" b="1" dirty="0">
                <a:solidFill>
                  <a:srgbClr val="6B7A8C"/>
                </a:solidFill>
                <a:latin typeface="Courier New" pitchFamily="34" charset="0"/>
                <a:ea typeface="Courier New" pitchFamily="34" charset="-122"/>
                <a:cs typeface="Courier New" pitchFamily="34" charset="-120"/>
              </a:rPr>
              <a:t>#18</a:t>
            </a:r>
            <a:endParaRPr lang="en-US" sz="950" dirty="0"/>
          </a:p>
        </p:txBody>
      </p:sp>
      <p:sp>
        <p:nvSpPr>
          <p:cNvPr id="23" name="Text 17"/>
          <p:cNvSpPr/>
          <p:nvPr/>
        </p:nvSpPr>
        <p:spPr>
          <a:xfrm>
            <a:off x="7699248" y="3840480"/>
            <a:ext cx="1188720" cy="402336"/>
          </a:xfrm>
          <a:prstGeom prst="rect">
            <a:avLst/>
          </a:prstGeom>
          <a:noFill/>
          <a:ln/>
        </p:spPr>
        <p:txBody>
          <a:bodyPr wrap="square" lIns="0" tIns="0" rIns="0" bIns="0" rtlCol="0" anchor="ctr"/>
          <a:lstStyle/>
          <a:p>
            <a:pPr indent="0" marL="0">
              <a:buNone/>
            </a:pPr>
            <a:r>
              <a:rPr lang="en-US" sz="1050" b="1" dirty="0">
                <a:solidFill>
                  <a:srgbClr val="0E7C5A"/>
                </a:solidFill>
                <a:latin typeface="Calibri" pitchFamily="34" charset="0"/>
                <a:ea typeface="Calibri" pitchFamily="34" charset="-122"/>
                <a:cs typeface="Calibri" pitchFamily="34" charset="-120"/>
              </a:rPr>
              <a:t>0.60 → 1.00</a:t>
            </a:r>
            <a:endParaRPr lang="en-US" sz="1050" dirty="0"/>
          </a:p>
        </p:txBody>
      </p:sp>
      <p:sp>
        <p:nvSpPr>
          <p:cNvPr id="24" name="Text 18"/>
          <p:cNvSpPr/>
          <p:nvPr/>
        </p:nvSpPr>
        <p:spPr>
          <a:xfrm>
            <a:off x="8906256" y="3840480"/>
            <a:ext cx="2651760" cy="402336"/>
          </a:xfrm>
          <a:prstGeom prst="rect">
            <a:avLst/>
          </a:prstGeom>
          <a:noFill/>
          <a:ln/>
        </p:spPr>
        <p:txBody>
          <a:bodyPr wrap="square" lIns="0" tIns="0" rIns="0" bIns="0" rtlCol="0" anchor="ctr"/>
          <a:lstStyle/>
          <a:p>
            <a:pPr indent="0" marL="0">
              <a:lnSpc>
                <a:spcPts val="1150"/>
              </a:lnSpc>
              <a:buNone/>
            </a:pPr>
            <a:r>
              <a:rPr lang="en-US" sz="900" dirty="0">
                <a:solidFill>
                  <a:srgbClr val="46566B"/>
                </a:solidFill>
                <a:latin typeface="Calibri" pitchFamily="34" charset="0"/>
                <a:ea typeface="Calibri" pitchFamily="34" charset="-122"/>
                <a:cs typeface="Calibri" pitchFamily="34" charset="-120"/>
              </a:rPr>
              <a:t>acronym comparative — HMB vs BCAAs</a:t>
            </a:r>
            <a:endParaRPr lang="en-US" sz="900" dirty="0"/>
          </a:p>
        </p:txBody>
      </p:sp>
      <p:sp>
        <p:nvSpPr>
          <p:cNvPr id="25" name="Shape 19"/>
          <p:cNvSpPr/>
          <p:nvPr/>
        </p:nvSpPr>
        <p:spPr>
          <a:xfrm>
            <a:off x="7260336" y="4242816"/>
            <a:ext cx="4364431" cy="1188720"/>
          </a:xfrm>
          <a:prstGeom prst="roundRect">
            <a:avLst>
              <a:gd name="adj" fmla="val 4615"/>
            </a:avLst>
          </a:prstGeom>
          <a:solidFill>
            <a:srgbClr val="0E1A2B"/>
          </a:solidFill>
          <a:ln w="9525">
            <a:solidFill>
              <a:srgbClr val="0E1A2B"/>
            </a:solidFill>
            <a:prstDash val="solid"/>
          </a:ln>
          <a:effectLst>
            <a:outerShdw sx="100000" sy="100000" kx="0" ky="0" algn="bl" rotWithShape="0" blurRad="127000" dist="508" dir="5400000">
              <a:srgbClr val="000000">
                <a:alpha val="9000"/>
              </a:srgbClr>
            </a:outerShdw>
          </a:effectLst>
        </p:spPr>
      </p:sp>
      <p:sp>
        <p:nvSpPr>
          <p:cNvPr id="26" name="Text 20"/>
          <p:cNvSpPr/>
          <p:nvPr/>
        </p:nvSpPr>
        <p:spPr>
          <a:xfrm>
            <a:off x="7498080" y="4370832"/>
            <a:ext cx="3840480" cy="219456"/>
          </a:xfrm>
          <a:prstGeom prst="rect">
            <a:avLst/>
          </a:prstGeom>
          <a:noFill/>
          <a:ln/>
        </p:spPr>
        <p:txBody>
          <a:bodyPr wrap="square" lIns="0" tIns="0" rIns="0" bIns="0" rtlCol="0" anchor="ctr"/>
          <a:lstStyle/>
          <a:p>
            <a:pPr indent="0" marL="0">
              <a:buNone/>
            </a:pPr>
            <a:r>
              <a:rPr lang="en-US" sz="950" b="1" spc="80" kern="0" dirty="0">
                <a:solidFill>
                  <a:srgbClr val="FF7900"/>
                </a:solidFill>
                <a:latin typeface="Calibri" pitchFamily="34" charset="0"/>
                <a:ea typeface="Calibri" pitchFamily="34" charset="-122"/>
                <a:cs typeface="Calibri" pitchFamily="34" charset="-120"/>
              </a:rPr>
              <a:t>The decision</a:t>
            </a:r>
            <a:endParaRPr lang="en-US" sz="950" dirty="0"/>
          </a:p>
        </p:txBody>
      </p:sp>
      <p:sp>
        <p:nvSpPr>
          <p:cNvPr id="27" name="Text 21"/>
          <p:cNvSpPr/>
          <p:nvPr/>
        </p:nvSpPr>
        <p:spPr>
          <a:xfrm>
            <a:off x="7498080" y="4590288"/>
            <a:ext cx="3840480" cy="786384"/>
          </a:xfrm>
          <a:prstGeom prst="rect">
            <a:avLst/>
          </a:prstGeom>
          <a:noFill/>
          <a:ln/>
        </p:spPr>
        <p:txBody>
          <a:bodyPr wrap="square" lIns="0" tIns="0" rIns="0" bIns="0" rtlCol="0" anchor="t"/>
          <a:lstStyle/>
          <a:p>
            <a:pPr indent="0" marL="0">
              <a:lnSpc>
                <a:spcPts val="1250"/>
              </a:lnSpc>
              <a:buNone/>
            </a:pPr>
            <a:r>
              <a:rPr lang="en-US" sz="950" dirty="0">
                <a:solidFill>
                  <a:srgbClr val="8FA3B8"/>
                </a:solidFill>
                <a:latin typeface="Calibri" pitchFamily="34" charset="0"/>
                <a:ea typeface="Calibri" pitchFamily="34" charset="-122"/>
                <a:cs typeface="Calibri" pitchFamily="34" charset="-120"/>
              </a:rPr>
              <a:t>For a system whose job is citable answers, recall beats precision: a retrieved chunk that goes unused costs little, while evidence never retrieved can never be cited. top_k now defaults to 10 — with the measurement recorded in the code, so the number does not read as taste.</a:t>
            </a:r>
            <a:endParaRPr lang="en-US" sz="950" dirty="0"/>
          </a:p>
        </p:txBody>
      </p:sp>
      <p:sp>
        <p:nvSpPr>
          <p:cNvPr id="28" name="Shape 22"/>
          <p:cNvSpPr/>
          <p:nvPr/>
        </p:nvSpPr>
        <p:spPr>
          <a:xfrm>
            <a:off x="566928" y="4443984"/>
            <a:ext cx="6492240" cy="987552"/>
          </a:xfrm>
          <a:prstGeom prst="roundRect">
            <a:avLst>
              <a:gd name="adj" fmla="val 5556"/>
            </a:avLst>
          </a:prstGeom>
          <a:solidFill>
            <a:srgbClr val="FFF6EC"/>
          </a:solidFill>
          <a:ln w="9525">
            <a:solidFill>
              <a:srgbClr val="F0DCC2"/>
            </a:solidFill>
            <a:prstDash val="solid"/>
          </a:ln>
          <a:effectLst>
            <a:outerShdw sx="100000" sy="100000" kx="0" ky="0" algn="bl" rotWithShape="0" blurRad="127000" dist="508" dir="5400000">
              <a:srgbClr val="000000">
                <a:alpha val="9000"/>
              </a:srgbClr>
            </a:outerShdw>
          </a:effectLst>
        </p:spPr>
      </p:sp>
      <p:sp>
        <p:nvSpPr>
          <p:cNvPr id="29" name="Text 23"/>
          <p:cNvSpPr/>
          <p:nvPr/>
        </p:nvSpPr>
        <p:spPr>
          <a:xfrm>
            <a:off x="786384" y="4572000"/>
            <a:ext cx="6053328" cy="768096"/>
          </a:xfrm>
          <a:prstGeom prst="rect">
            <a:avLst/>
          </a:prstGeom>
          <a:noFill/>
          <a:ln/>
        </p:spPr>
        <p:txBody>
          <a:bodyPr wrap="square" lIns="0" tIns="0" rIns="0" bIns="0" rtlCol="0" anchor="t"/>
          <a:lstStyle/>
          <a:p>
            <a:pPr indent="0" marL="0">
              <a:lnSpc>
                <a:spcPts val="1250"/>
              </a:lnSpc>
              <a:buNone/>
            </a:pPr>
            <a:r>
              <a:rPr lang="en-US" sz="950" b="1" dirty="0">
                <a:solidFill>
                  <a:srgbClr val="0E1A2B"/>
                </a:solidFill>
                <a:latin typeface="Calibri" pitchFamily="34" charset="0"/>
                <a:ea typeface="Calibri" pitchFamily="34" charset="-122"/>
                <a:cs typeface="Calibri" pitchFamily="34" charset="-120"/>
              </a:rPr>
              <a:t>And it disproved one of our own conclusions. </a:t>
            </a:r>
            <a:pPr indent="0" marL="0">
              <a:lnSpc>
                <a:spcPts val="1250"/>
              </a:lnSpc>
              <a:buNone/>
            </a:pPr>
            <a:r>
              <a:rPr lang="en-US" sz="950" dirty="0">
                <a:solidFill>
                  <a:srgbClr val="5A4A38"/>
                </a:solidFill>
                <a:latin typeface="Calibri" pitchFamily="34" charset="0"/>
                <a:ea typeface="Calibri" pitchFamily="34" charset="-122"/>
                <a:cs typeface="Calibri" pitchFamily="34" charset="-120"/>
              </a:rPr>
              <a:t>We had written up #13 as “the misspelling defeats retrieval outright”. It does not: at depth 5 the right chunks were being found and ranked below the cutoff. The embedder handled the misspelling; the ranking did not surface it. Spelling-tolerant retrieval went from a planned next step to low priority.</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RESULT · RERANKING</a:t>
            </a:r>
            <a:endParaRPr lang="en-US" sz="1050" dirty="0"/>
          </a:p>
        </p:txBody>
      </p:sp>
      <p:sp>
        <p:nvSpPr>
          <p:cNvPr id="6" name="Text 1"/>
          <p:cNvSpPr/>
          <p:nvPr/>
        </p:nvSpPr>
        <p:spPr>
          <a:xfrm>
            <a:off x="566928" y="768096"/>
            <a:ext cx="11057839" cy="566928"/>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Eight points of precision, bought with three of recall</a:t>
            </a:r>
            <a:endParaRPr lang="en-US" sz="3000" dirty="0"/>
          </a:p>
        </p:txBody>
      </p:sp>
      <p:graphicFrame>
        <p:nvGraphicFramePr>
          <p:cNvPr id="7" name="Chart 0" descr=""/>
          <p:cNvGraphicFramePr/>
          <p:nvPr/>
        </p:nvGraphicFramePr>
        <p:xfrm>
          <a:off x="566928" y="1554480"/>
          <a:ext cx="6583680" cy="2340864"/>
        </p:xfrm>
        <a:graphic xmlns:a="http://schemas.openxmlformats.org/drawingml/2006/main">
          <a:graphicData uri="http://schemas.openxmlformats.org/drawingml/2006/chart">
            <c:chart xmlns:c="http://schemas.openxmlformats.org/drawingml/2006/chart" r:id="rId4"/>
          </a:graphicData>
        </a:graphic>
      </p:graphicFrame>
      <p:sp>
        <p:nvSpPr>
          <p:cNvPr id="8" name="Text 2"/>
          <p:cNvSpPr/>
          <p:nvPr/>
        </p:nvSpPr>
        <p:spPr>
          <a:xfrm>
            <a:off x="566928" y="3950208"/>
            <a:ext cx="6583680" cy="310896"/>
          </a:xfrm>
          <a:prstGeom prst="rect">
            <a:avLst/>
          </a:prstGeom>
          <a:noFill/>
          <a:ln/>
        </p:spPr>
        <p:txBody>
          <a:bodyPr wrap="square" lIns="0" tIns="0" rIns="0" bIns="0" rtlCol="0" anchor="ctr"/>
          <a:lstStyle/>
          <a:p>
            <a:pPr indent="0" marL="0">
              <a:buNone/>
            </a:pPr>
            <a:r>
              <a:rPr lang="en-US" sz="1050" i="1" dirty="0">
                <a:solidFill>
                  <a:srgbClr val="6B7A8C"/>
                </a:solidFill>
                <a:latin typeface="Calibri" pitchFamily="34" charset="0"/>
                <a:ea typeface="Calibri" pitchFamily="34" charset="-122"/>
                <a:cs typeface="Calibri" pitchFamily="34" charset="-120"/>
              </a:rPr>
              <a:t>Over the 31 answerable questions. Both runs on the same pinned endpoint, same index, prompt, depth and judge — only reranking changed.</a:t>
            </a:r>
            <a:endParaRPr lang="en-US" sz="1050" dirty="0"/>
          </a:p>
        </p:txBody>
      </p:sp>
      <p:sp>
        <p:nvSpPr>
          <p:cNvPr id="9" name="Text 3"/>
          <p:cNvSpPr/>
          <p:nvPr/>
        </p:nvSpPr>
        <p:spPr>
          <a:xfrm>
            <a:off x="7333488" y="1591056"/>
            <a:ext cx="1737360" cy="237744"/>
          </a:xfrm>
          <a:prstGeom prst="rect">
            <a:avLst/>
          </a:prstGeom>
          <a:noFill/>
          <a:ln/>
        </p:spPr>
        <p:txBody>
          <a:bodyPr wrap="square" lIns="0" tIns="0" rIns="0" bIns="0" rtlCol="0" anchor="ctr"/>
          <a:lstStyle/>
          <a:p>
            <a:pPr indent="0" marL="0">
              <a:buNone/>
            </a:pPr>
            <a:r>
              <a:rPr lang="en-US" sz="1000" dirty="0">
                <a:solidFill>
                  <a:srgbClr val="6B7A8C"/>
                </a:solidFill>
                <a:latin typeface="Calibri" pitchFamily="34" charset="0"/>
                <a:ea typeface="Calibri" pitchFamily="34" charset="-122"/>
                <a:cs typeface="Calibri" pitchFamily="34" charset="-120"/>
              </a:rPr>
              <a:t>context precision</a:t>
            </a:r>
            <a:endParaRPr lang="en-US" sz="1000" dirty="0"/>
          </a:p>
        </p:txBody>
      </p:sp>
      <p:sp>
        <p:nvSpPr>
          <p:cNvPr id="10" name="Text 4"/>
          <p:cNvSpPr/>
          <p:nvPr/>
        </p:nvSpPr>
        <p:spPr>
          <a:xfrm>
            <a:off x="7333488" y="1810512"/>
            <a:ext cx="1737360" cy="274320"/>
          </a:xfrm>
          <a:prstGeom prst="rect">
            <a:avLst/>
          </a:prstGeom>
          <a:noFill/>
          <a:ln/>
        </p:spPr>
        <p:txBody>
          <a:bodyPr wrap="square" lIns="0" tIns="0" rIns="0" bIns="0" rtlCol="0" anchor="ctr"/>
          <a:lstStyle/>
          <a:p>
            <a:pPr indent="0" marL="0">
              <a:buNone/>
            </a:pPr>
            <a:r>
              <a:rPr lang="en-US" sz="1400" b="1" dirty="0">
                <a:solidFill>
                  <a:srgbClr val="0E7C5A"/>
                </a:solidFill>
                <a:latin typeface="Calibri" pitchFamily="34" charset="0"/>
                <a:ea typeface="Calibri" pitchFamily="34" charset="-122"/>
                <a:cs typeface="Calibri" pitchFamily="34" charset="-120"/>
              </a:rPr>
              <a:t>0.735 → 0.819</a:t>
            </a:r>
            <a:endParaRPr lang="en-US" sz="1400" dirty="0"/>
          </a:p>
        </p:txBody>
      </p:sp>
      <p:sp>
        <p:nvSpPr>
          <p:cNvPr id="11" name="Text 5"/>
          <p:cNvSpPr/>
          <p:nvPr/>
        </p:nvSpPr>
        <p:spPr>
          <a:xfrm>
            <a:off x="9162288" y="1682496"/>
            <a:ext cx="2462479" cy="384048"/>
          </a:xfrm>
          <a:prstGeom prst="rect">
            <a:avLst/>
          </a:prstGeom>
          <a:noFill/>
          <a:ln/>
        </p:spPr>
        <p:txBody>
          <a:bodyPr wrap="square" lIns="0" tIns="0" rIns="0" bIns="0" rtlCol="0" anchor="t"/>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the target, and the metric that was failing</a:t>
            </a:r>
            <a:endParaRPr lang="en-US" sz="950" dirty="0"/>
          </a:p>
        </p:txBody>
      </p:sp>
      <p:sp>
        <p:nvSpPr>
          <p:cNvPr id="12" name="Text 6"/>
          <p:cNvSpPr/>
          <p:nvPr/>
        </p:nvSpPr>
        <p:spPr>
          <a:xfrm>
            <a:off x="7333488" y="2157984"/>
            <a:ext cx="1737360" cy="237744"/>
          </a:xfrm>
          <a:prstGeom prst="rect">
            <a:avLst/>
          </a:prstGeom>
          <a:noFill/>
          <a:ln/>
        </p:spPr>
        <p:txBody>
          <a:bodyPr wrap="square" lIns="0" tIns="0" rIns="0" bIns="0" rtlCol="0" anchor="ctr"/>
          <a:lstStyle/>
          <a:p>
            <a:pPr indent="0" marL="0">
              <a:buNone/>
            </a:pPr>
            <a:r>
              <a:rPr lang="en-US" sz="1000" dirty="0">
                <a:solidFill>
                  <a:srgbClr val="6B7A8C"/>
                </a:solidFill>
                <a:latin typeface="Calibri" pitchFamily="34" charset="0"/>
                <a:ea typeface="Calibri" pitchFamily="34" charset="-122"/>
                <a:cs typeface="Calibri" pitchFamily="34" charset="-120"/>
              </a:rPr>
              <a:t>answer relevancy</a:t>
            </a:r>
            <a:endParaRPr lang="en-US" sz="1000" dirty="0"/>
          </a:p>
        </p:txBody>
      </p:sp>
      <p:sp>
        <p:nvSpPr>
          <p:cNvPr id="13" name="Text 7"/>
          <p:cNvSpPr/>
          <p:nvPr/>
        </p:nvSpPr>
        <p:spPr>
          <a:xfrm>
            <a:off x="7333488" y="2377440"/>
            <a:ext cx="1737360" cy="274320"/>
          </a:xfrm>
          <a:prstGeom prst="rect">
            <a:avLst/>
          </a:prstGeom>
          <a:noFill/>
          <a:ln/>
        </p:spPr>
        <p:txBody>
          <a:bodyPr wrap="square" lIns="0" tIns="0" rIns="0" bIns="0" rtlCol="0" anchor="ctr"/>
          <a:lstStyle/>
          <a:p>
            <a:pPr indent="0" marL="0">
              <a:buNone/>
            </a:pPr>
            <a:r>
              <a:rPr lang="en-US" sz="1400" b="1" dirty="0">
                <a:solidFill>
                  <a:srgbClr val="0E7C5A"/>
                </a:solidFill>
                <a:latin typeface="Calibri" pitchFamily="34" charset="0"/>
                <a:ea typeface="Calibri" pitchFamily="34" charset="-122"/>
                <a:cs typeface="Calibri" pitchFamily="34" charset="-120"/>
              </a:rPr>
              <a:t>0.768 → 0.783</a:t>
            </a:r>
            <a:endParaRPr lang="en-US" sz="1400" dirty="0"/>
          </a:p>
        </p:txBody>
      </p:sp>
      <p:sp>
        <p:nvSpPr>
          <p:cNvPr id="14" name="Text 8"/>
          <p:cNvSpPr/>
          <p:nvPr/>
        </p:nvSpPr>
        <p:spPr>
          <a:xfrm>
            <a:off x="9162288" y="2249424"/>
            <a:ext cx="2462479" cy="384048"/>
          </a:xfrm>
          <a:prstGeom prst="rect">
            <a:avLst/>
          </a:prstGeom>
          <a:noFill/>
          <a:ln/>
        </p:spPr>
        <p:txBody>
          <a:bodyPr wrap="square" lIns="0" tIns="0" rIns="0" bIns="0" rtlCol="0" anchor="t"/>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a cleaner context, a less diluted answer</a:t>
            </a:r>
            <a:endParaRPr lang="en-US" sz="950" dirty="0"/>
          </a:p>
        </p:txBody>
      </p:sp>
      <p:sp>
        <p:nvSpPr>
          <p:cNvPr id="15" name="Text 9"/>
          <p:cNvSpPr/>
          <p:nvPr/>
        </p:nvSpPr>
        <p:spPr>
          <a:xfrm>
            <a:off x="7333488" y="2724912"/>
            <a:ext cx="1737360" cy="237744"/>
          </a:xfrm>
          <a:prstGeom prst="rect">
            <a:avLst/>
          </a:prstGeom>
          <a:noFill/>
          <a:ln/>
        </p:spPr>
        <p:txBody>
          <a:bodyPr wrap="square" lIns="0" tIns="0" rIns="0" bIns="0" rtlCol="0" anchor="ctr"/>
          <a:lstStyle/>
          <a:p>
            <a:pPr indent="0" marL="0">
              <a:buNone/>
            </a:pPr>
            <a:r>
              <a:rPr lang="en-US" sz="1000" dirty="0">
                <a:solidFill>
                  <a:srgbClr val="6B7A8C"/>
                </a:solidFill>
                <a:latin typeface="Calibri" pitchFamily="34" charset="0"/>
                <a:ea typeface="Calibri" pitchFamily="34" charset="-122"/>
                <a:cs typeface="Calibri" pitchFamily="34" charset="-120"/>
              </a:rPr>
              <a:t>context recall</a:t>
            </a:r>
            <a:endParaRPr lang="en-US" sz="1000" dirty="0"/>
          </a:p>
        </p:txBody>
      </p:sp>
      <p:sp>
        <p:nvSpPr>
          <p:cNvPr id="16" name="Text 10"/>
          <p:cNvSpPr/>
          <p:nvPr/>
        </p:nvSpPr>
        <p:spPr>
          <a:xfrm>
            <a:off x="7333488" y="2944368"/>
            <a:ext cx="1737360" cy="274320"/>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0.851 → 0.816</a:t>
            </a:r>
            <a:endParaRPr lang="en-US" sz="1400" dirty="0"/>
          </a:p>
        </p:txBody>
      </p:sp>
      <p:sp>
        <p:nvSpPr>
          <p:cNvPr id="17" name="Text 11"/>
          <p:cNvSpPr/>
          <p:nvPr/>
        </p:nvSpPr>
        <p:spPr>
          <a:xfrm>
            <a:off x="9162288" y="2816352"/>
            <a:ext cx="2462479" cy="384048"/>
          </a:xfrm>
          <a:prstGeom prst="rect">
            <a:avLst/>
          </a:prstGeom>
          <a:noFill/>
          <a:ln/>
        </p:spPr>
        <p:txBody>
          <a:bodyPr wrap="square" lIns="0" tIns="0" rIns="0" bIns="0" rtlCol="0" anchor="t"/>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the cost — it drops chunks dense had kept</a:t>
            </a:r>
            <a:endParaRPr lang="en-US" sz="950" dirty="0"/>
          </a:p>
        </p:txBody>
      </p:sp>
      <p:sp>
        <p:nvSpPr>
          <p:cNvPr id="18" name="Text 12"/>
          <p:cNvSpPr/>
          <p:nvPr/>
        </p:nvSpPr>
        <p:spPr>
          <a:xfrm>
            <a:off x="7333488" y="3291840"/>
            <a:ext cx="1737360" cy="237744"/>
          </a:xfrm>
          <a:prstGeom prst="rect">
            <a:avLst/>
          </a:prstGeom>
          <a:noFill/>
          <a:ln/>
        </p:spPr>
        <p:txBody>
          <a:bodyPr wrap="square" lIns="0" tIns="0" rIns="0" bIns="0" rtlCol="0" anchor="ctr"/>
          <a:lstStyle/>
          <a:p>
            <a:pPr indent="0" marL="0">
              <a:buNone/>
            </a:pPr>
            <a:r>
              <a:rPr lang="en-US" sz="1000" dirty="0">
                <a:solidFill>
                  <a:srgbClr val="6B7A8C"/>
                </a:solidFill>
                <a:latin typeface="Calibri" pitchFamily="34" charset="0"/>
                <a:ea typeface="Calibri" pitchFamily="34" charset="-122"/>
                <a:cs typeface="Calibri" pitchFamily="34" charset="-120"/>
              </a:rPr>
              <a:t>faithfulness</a:t>
            </a:r>
            <a:endParaRPr lang="en-US" sz="1000" dirty="0"/>
          </a:p>
        </p:txBody>
      </p:sp>
      <p:sp>
        <p:nvSpPr>
          <p:cNvPr id="19" name="Text 13"/>
          <p:cNvSpPr/>
          <p:nvPr/>
        </p:nvSpPr>
        <p:spPr>
          <a:xfrm>
            <a:off x="7333488" y="3511296"/>
            <a:ext cx="1737360" cy="274320"/>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0.870 → 0.838</a:t>
            </a:r>
            <a:endParaRPr lang="en-US" sz="1400" dirty="0"/>
          </a:p>
        </p:txBody>
      </p:sp>
      <p:sp>
        <p:nvSpPr>
          <p:cNvPr id="20" name="Text 14"/>
          <p:cNvSpPr/>
          <p:nvPr/>
        </p:nvSpPr>
        <p:spPr>
          <a:xfrm>
            <a:off x="9162288" y="3383280"/>
            <a:ext cx="2462479" cy="384048"/>
          </a:xfrm>
          <a:prstGeom prst="rect">
            <a:avLst/>
          </a:prstGeom>
          <a:noFill/>
          <a:ln/>
        </p:spPr>
        <p:txBody>
          <a:bodyPr wrap="square" lIns="0" tIns="0" rIns="0" bIns="0" rtlCol="0" anchor="t"/>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the same cost, on groundedness</a:t>
            </a:r>
            <a:endParaRPr lang="en-US" sz="950" dirty="0"/>
          </a:p>
        </p:txBody>
      </p:sp>
      <p:sp>
        <p:nvSpPr>
          <p:cNvPr id="21" name="Shape 15"/>
          <p:cNvSpPr/>
          <p:nvPr/>
        </p:nvSpPr>
        <p:spPr>
          <a:xfrm>
            <a:off x="7260336" y="3895344"/>
            <a:ext cx="4364431" cy="1298448"/>
          </a:xfrm>
          <a:prstGeom prst="roundRect">
            <a:avLst>
              <a:gd name="adj" fmla="val 4225"/>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2" name="Text 16"/>
          <p:cNvSpPr/>
          <p:nvPr/>
        </p:nvSpPr>
        <p:spPr>
          <a:xfrm>
            <a:off x="7498080" y="4005072"/>
            <a:ext cx="3931920" cy="237744"/>
          </a:xfrm>
          <a:prstGeom prst="rect">
            <a:avLst/>
          </a:prstGeom>
          <a:noFill/>
          <a:ln/>
        </p:spPr>
        <p:txBody>
          <a:bodyPr wrap="square" lIns="0" tIns="0" rIns="0" bIns="0" rtlCol="0" anchor="ctr"/>
          <a:lstStyle/>
          <a:p>
            <a:pPr indent="0" marL="0">
              <a:buNone/>
            </a:pPr>
            <a:r>
              <a:rPr lang="en-US" sz="1250" b="1" dirty="0">
                <a:solidFill>
                  <a:srgbClr val="0E1A2B"/>
                </a:solidFill>
                <a:latin typeface="Cambria" pitchFamily="34" charset="0"/>
                <a:ea typeface="Cambria" pitchFamily="34" charset="-122"/>
                <a:cs typeface="Cambria" pitchFamily="34" charset="-120"/>
              </a:rPr>
              <a:t>What the control corrected</a:t>
            </a:r>
            <a:endParaRPr lang="en-US" sz="1250" dirty="0"/>
          </a:p>
        </p:txBody>
      </p:sp>
      <p:sp>
        <p:nvSpPr>
          <p:cNvPr id="23" name="Text 17"/>
          <p:cNvSpPr/>
          <p:nvPr/>
        </p:nvSpPr>
        <p:spPr>
          <a:xfrm>
            <a:off x="7498080" y="4261104"/>
            <a:ext cx="3931920" cy="859536"/>
          </a:xfrm>
          <a:prstGeom prst="rect">
            <a:avLst/>
          </a:prstGeom>
          <a:noFill/>
          <a:ln/>
        </p:spPr>
        <p:txBody>
          <a:bodyPr wrap="square" lIns="0" tIns="0" rIns="0" bIns="0" rtlCol="0" anchor="t"/>
          <a:lstStyle/>
          <a:p>
            <a:pPr indent="0" marL="0">
              <a:lnSpc>
                <a:spcPts val="1250"/>
              </a:lnSpc>
              <a:buNone/>
            </a:pPr>
            <a:r>
              <a:rPr lang="en-US" sz="950" dirty="0">
                <a:solidFill>
                  <a:srgbClr val="46566B"/>
                </a:solidFill>
                <a:latin typeface="Calibri" pitchFamily="34" charset="0"/>
                <a:ea typeface="Calibri" pitchFamily="34" charset="-122"/>
                <a:cs typeface="Calibri" pitchFamily="34" charset="-120"/>
              </a:rPr>
              <a:t>Against the local baseline recall looked flat, and we nearly reported that as proof. A control run on the same endpoint shows it is not: reranking picks which ten of twenty reach the answer, so it can drop one dense had kept. Three points of recall and groundedness buy eight of precision.</a:t>
            </a:r>
            <a:endParaRPr lang="en-US" sz="950" dirty="0"/>
          </a:p>
        </p:txBody>
      </p:sp>
      <p:sp>
        <p:nvSpPr>
          <p:cNvPr id="24" name="Text 18"/>
          <p:cNvSpPr/>
          <p:nvPr/>
        </p:nvSpPr>
        <p:spPr>
          <a:xfrm>
            <a:off x="566928" y="4407408"/>
            <a:ext cx="6583680" cy="402336"/>
          </a:xfrm>
          <a:prstGeom prst="rect">
            <a:avLst/>
          </a:prstGeom>
          <a:noFill/>
          <a:ln/>
        </p:spPr>
        <p:txBody>
          <a:bodyPr wrap="square" lIns="0" tIns="0" rIns="0" bIns="0" rtlCol="0" anchor="ctr"/>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Failing samples 26 → 21. The host move itself was worth +0.029 recall and +0.026 relevancy with no code change — which is exactly why the control was needed before attributing anything to the reranker.</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Users/Marwan/Projects/athletic-dietry-rag/presentation/assets/logos/creativa.png">    </p:cNvPr>
          <p:cNvPicPr>
            <a:picLocks noChangeAspect="1"/>
          </p:cNvPicPr>
          <p:nvPr/>
        </p:nvPicPr>
        <p:blipFill>
          <a:blip r:embed="rId1"/>
          <a:stretch>
            <a:fillRect/>
          </a:stretch>
        </p:blipFill>
        <p:spPr>
          <a:xfrm>
            <a:off x="566928" y="6208776"/>
            <a:ext cx="356021" cy="384048"/>
          </a:xfrm>
          <a:prstGeom prst="rect">
            <a:avLst/>
          </a:prstGeom>
        </p:spPr>
      </p:pic>
      <p:pic>
        <p:nvPicPr>
          <p:cNvPr id="3" name="Image 1" descr="/Users/Marwan/Projects/athletic-dietry-rag/presentation/assets/logos/instant.png">    </p:cNvPr>
          <p:cNvPicPr>
            <a:picLocks noChangeAspect="1"/>
          </p:cNvPicPr>
          <p:nvPr/>
        </p:nvPicPr>
        <p:blipFill>
          <a:blip r:embed="rId2"/>
          <a:stretch>
            <a:fillRect/>
          </a:stretch>
        </p:blipFill>
        <p:spPr>
          <a:xfrm>
            <a:off x="1252133" y="6305902"/>
            <a:ext cx="1481328" cy="189795"/>
          </a:xfrm>
          <a:prstGeom prst="rect">
            <a:avLst/>
          </a:prstGeom>
        </p:spPr>
      </p:pic>
      <p:pic>
        <p:nvPicPr>
          <p:cNvPr id="4" name="Image 2" descr="/Users/Marwan/Projects/athletic-dietry-rag/presentation/assets/logos/orange.png">    </p:cNvPr>
          <p:cNvPicPr>
            <a:picLocks noChangeAspect="1"/>
          </p:cNvPicPr>
          <p:nvPr/>
        </p:nvPicPr>
        <p:blipFill>
          <a:blip r:embed="rId3"/>
          <a:stretch>
            <a:fillRect/>
          </a:stretch>
        </p:blipFill>
        <p:spPr>
          <a:xfrm>
            <a:off x="3062645" y="6240122"/>
            <a:ext cx="1481328" cy="321355"/>
          </a:xfrm>
          <a:prstGeom prst="rect">
            <a:avLst/>
          </a:prstGeom>
        </p:spPr>
      </p:pic>
      <p:sp>
        <p:nvSpPr>
          <p:cNvPr id="5" name="Text 0"/>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WHERE WE STAND</a:t>
            </a:r>
            <a:endParaRPr lang="en-US" sz="1050" dirty="0"/>
          </a:p>
        </p:txBody>
      </p:sp>
      <p:sp>
        <p:nvSpPr>
          <p:cNvPr id="6" name="Text 1"/>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0E1A2B"/>
                </a:solidFill>
                <a:latin typeface="Cambria" pitchFamily="34" charset="0"/>
                <a:ea typeface="Cambria" pitchFamily="34" charset="-122"/>
                <a:cs typeface="Cambria" pitchFamily="34" charset="-120"/>
              </a:rPr>
              <a:t>Three of four metrics pass. The fourth we are not going to round up.</a:t>
            </a:r>
            <a:endParaRPr lang="en-US" sz="3000" dirty="0"/>
          </a:p>
        </p:txBody>
      </p:sp>
      <p:sp>
        <p:nvSpPr>
          <p:cNvPr id="7" name="Text 2"/>
          <p:cNvSpPr/>
          <p:nvPr/>
        </p:nvSpPr>
        <p:spPr>
          <a:xfrm>
            <a:off x="566928" y="1825752"/>
            <a:ext cx="11057839" cy="256032"/>
          </a:xfrm>
          <a:prstGeom prst="rect">
            <a:avLst/>
          </a:prstGeom>
          <a:noFill/>
          <a:ln/>
        </p:spPr>
        <p:txBody>
          <a:bodyPr wrap="square" lIns="0" tIns="0" rIns="0" bIns="0" rtlCol="0" anchor="ctr"/>
          <a:lstStyle/>
          <a:p>
            <a:pPr indent="0" marL="0">
              <a:buNone/>
            </a:pPr>
            <a:r>
              <a:rPr lang="en-US" sz="1100" i="1" dirty="0">
                <a:solidFill>
                  <a:srgbClr val="6B7A8C"/>
                </a:solidFill>
                <a:latin typeface="Calibri" pitchFamily="34" charset="0"/>
                <a:ea typeface="Calibri" pitchFamily="34" charset="-122"/>
                <a:cs typeface="Calibri" pitchFamily="34" charset="-120"/>
              </a:rPr>
              <a:t>Shipped configuration · top_k = 10, fixed prompt, reranking on · 31 answerable questions</a:t>
            </a:r>
            <a:endParaRPr lang="en-US" sz="1100" dirty="0"/>
          </a:p>
        </p:txBody>
      </p:sp>
      <p:sp>
        <p:nvSpPr>
          <p:cNvPr id="8" name="Shape 3"/>
          <p:cNvSpPr/>
          <p:nvPr/>
        </p:nvSpPr>
        <p:spPr>
          <a:xfrm>
            <a:off x="566928" y="2136648"/>
            <a:ext cx="2620442" cy="1298448"/>
          </a:xfrm>
          <a:prstGeom prst="roundRect">
            <a:avLst>
              <a:gd name="adj" fmla="val 4225"/>
            </a:avLst>
          </a:prstGeom>
          <a:solidFill>
            <a:srgbClr val="EDF6F2"/>
          </a:solidFill>
          <a:ln w="9525">
            <a:solidFill>
              <a:srgbClr val="C6E4D8"/>
            </a:solidFill>
            <a:prstDash val="solid"/>
          </a:ln>
          <a:effectLst>
            <a:outerShdw sx="100000" sy="100000" kx="0" ky="0" algn="bl" rotWithShape="0" blurRad="127000" dist="508" dir="5400000">
              <a:srgbClr val="000000">
                <a:alpha val="9000"/>
              </a:srgbClr>
            </a:outerShdw>
          </a:effectLst>
        </p:spPr>
      </p:sp>
      <p:sp>
        <p:nvSpPr>
          <p:cNvPr id="9" name="Text 4"/>
          <p:cNvSpPr/>
          <p:nvPr/>
        </p:nvSpPr>
        <p:spPr>
          <a:xfrm>
            <a:off x="786384" y="2301240"/>
            <a:ext cx="2181530" cy="548640"/>
          </a:xfrm>
          <a:prstGeom prst="rect">
            <a:avLst/>
          </a:prstGeom>
          <a:noFill/>
          <a:ln/>
        </p:spPr>
        <p:txBody>
          <a:bodyPr wrap="square" lIns="0" tIns="0" rIns="0" bIns="0" rtlCol="0" anchor="ctr"/>
          <a:lstStyle/>
          <a:p>
            <a:pPr indent="0" marL="0">
              <a:buNone/>
            </a:pPr>
            <a:r>
              <a:rPr lang="en-US" sz="3400" b="1" dirty="0">
                <a:solidFill>
                  <a:srgbClr val="0E7C5A"/>
                </a:solidFill>
                <a:latin typeface="Cambria" pitchFamily="34" charset="0"/>
                <a:ea typeface="Cambria" pitchFamily="34" charset="-122"/>
                <a:cs typeface="Cambria" pitchFamily="34" charset="-120"/>
              </a:rPr>
              <a:t>0.838</a:t>
            </a:r>
            <a:endParaRPr lang="en-US" sz="3400" dirty="0"/>
          </a:p>
        </p:txBody>
      </p:sp>
      <p:sp>
        <p:nvSpPr>
          <p:cNvPr id="10" name="Text 5"/>
          <p:cNvSpPr/>
          <p:nvPr/>
        </p:nvSpPr>
        <p:spPr>
          <a:xfrm>
            <a:off x="786384" y="2849880"/>
            <a:ext cx="2181530" cy="237744"/>
          </a:xfrm>
          <a:prstGeom prst="rect">
            <a:avLst/>
          </a:prstGeom>
          <a:noFill/>
          <a:ln/>
        </p:spPr>
        <p:txBody>
          <a:bodyPr wrap="square" lIns="0" tIns="0" rIns="0" bIns="0" rtlCol="0" anchor="ctr"/>
          <a:lstStyle/>
          <a:p>
            <a:pPr indent="0" marL="0">
              <a:buNone/>
            </a:pPr>
            <a:r>
              <a:rPr lang="en-US" sz="1050" dirty="0">
                <a:solidFill>
                  <a:srgbClr val="6B7A8C"/>
                </a:solidFill>
                <a:latin typeface="Calibri" pitchFamily="34" charset="0"/>
                <a:ea typeface="Calibri" pitchFamily="34" charset="-122"/>
                <a:cs typeface="Calibri" pitchFamily="34" charset="-120"/>
              </a:rPr>
              <a:t>faithfulness</a:t>
            </a:r>
            <a:endParaRPr lang="en-US" sz="1050" dirty="0"/>
          </a:p>
        </p:txBody>
      </p:sp>
      <p:sp>
        <p:nvSpPr>
          <p:cNvPr id="11" name="Shape 6"/>
          <p:cNvSpPr/>
          <p:nvPr/>
        </p:nvSpPr>
        <p:spPr>
          <a:xfrm>
            <a:off x="786384" y="3105912"/>
            <a:ext cx="446227" cy="219456"/>
          </a:xfrm>
          <a:prstGeom prst="roundRect">
            <a:avLst>
              <a:gd name="adj" fmla="val 50000"/>
            </a:avLst>
          </a:prstGeom>
          <a:solidFill>
            <a:srgbClr val="0E7C5A"/>
          </a:solidFill>
          <a:ln w="12700">
            <a:solidFill>
              <a:srgbClr val="0E7C5A"/>
            </a:solidFill>
            <a:prstDash val="solid"/>
          </a:ln>
        </p:spPr>
      </p:sp>
      <p:sp>
        <p:nvSpPr>
          <p:cNvPr id="12" name="Text 7"/>
          <p:cNvSpPr/>
          <p:nvPr/>
        </p:nvSpPr>
        <p:spPr>
          <a:xfrm>
            <a:off x="786384" y="3105912"/>
            <a:ext cx="446227"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PASS</a:t>
            </a:r>
            <a:endParaRPr lang="en-US" sz="850" dirty="0"/>
          </a:p>
        </p:txBody>
      </p:sp>
      <p:sp>
        <p:nvSpPr>
          <p:cNvPr id="13" name="Shape 8"/>
          <p:cNvSpPr/>
          <p:nvPr/>
        </p:nvSpPr>
        <p:spPr>
          <a:xfrm>
            <a:off x="3379394" y="2136648"/>
            <a:ext cx="2620442" cy="1298448"/>
          </a:xfrm>
          <a:prstGeom prst="roundRect">
            <a:avLst>
              <a:gd name="adj" fmla="val 4225"/>
            </a:avLst>
          </a:prstGeom>
          <a:solidFill>
            <a:srgbClr val="EDF6F2"/>
          </a:solidFill>
          <a:ln w="9525">
            <a:solidFill>
              <a:srgbClr val="C6E4D8"/>
            </a:solidFill>
            <a:prstDash val="solid"/>
          </a:ln>
          <a:effectLst>
            <a:outerShdw sx="100000" sy="100000" kx="0" ky="0" algn="bl" rotWithShape="0" blurRad="127000" dist="508" dir="5400000">
              <a:srgbClr val="000000">
                <a:alpha val="9000"/>
              </a:srgbClr>
            </a:outerShdw>
          </a:effectLst>
        </p:spPr>
      </p:sp>
      <p:sp>
        <p:nvSpPr>
          <p:cNvPr id="14" name="Text 9"/>
          <p:cNvSpPr/>
          <p:nvPr/>
        </p:nvSpPr>
        <p:spPr>
          <a:xfrm>
            <a:off x="3598850" y="2301240"/>
            <a:ext cx="2181530" cy="548640"/>
          </a:xfrm>
          <a:prstGeom prst="rect">
            <a:avLst/>
          </a:prstGeom>
          <a:noFill/>
          <a:ln/>
        </p:spPr>
        <p:txBody>
          <a:bodyPr wrap="square" lIns="0" tIns="0" rIns="0" bIns="0" rtlCol="0" anchor="ctr"/>
          <a:lstStyle/>
          <a:p>
            <a:pPr indent="0" marL="0">
              <a:buNone/>
            </a:pPr>
            <a:r>
              <a:rPr lang="en-US" sz="3400" b="1" dirty="0">
                <a:solidFill>
                  <a:srgbClr val="0E7C5A"/>
                </a:solidFill>
                <a:latin typeface="Cambria" pitchFamily="34" charset="0"/>
                <a:ea typeface="Cambria" pitchFamily="34" charset="-122"/>
                <a:cs typeface="Cambria" pitchFamily="34" charset="-120"/>
              </a:rPr>
              <a:t>0.819</a:t>
            </a:r>
            <a:endParaRPr lang="en-US" sz="3400" dirty="0"/>
          </a:p>
        </p:txBody>
      </p:sp>
      <p:sp>
        <p:nvSpPr>
          <p:cNvPr id="15" name="Text 10"/>
          <p:cNvSpPr/>
          <p:nvPr/>
        </p:nvSpPr>
        <p:spPr>
          <a:xfrm>
            <a:off x="3598850" y="2849880"/>
            <a:ext cx="2181530" cy="237744"/>
          </a:xfrm>
          <a:prstGeom prst="rect">
            <a:avLst/>
          </a:prstGeom>
          <a:noFill/>
          <a:ln/>
        </p:spPr>
        <p:txBody>
          <a:bodyPr wrap="square" lIns="0" tIns="0" rIns="0" bIns="0" rtlCol="0" anchor="ctr"/>
          <a:lstStyle/>
          <a:p>
            <a:pPr indent="0" marL="0">
              <a:buNone/>
            </a:pPr>
            <a:r>
              <a:rPr lang="en-US" sz="1050" dirty="0">
                <a:solidFill>
                  <a:srgbClr val="6B7A8C"/>
                </a:solidFill>
                <a:latin typeface="Calibri" pitchFamily="34" charset="0"/>
                <a:ea typeface="Calibri" pitchFamily="34" charset="-122"/>
                <a:cs typeface="Calibri" pitchFamily="34" charset="-120"/>
              </a:rPr>
              <a:t>context precision</a:t>
            </a:r>
            <a:endParaRPr lang="en-US" sz="1050" dirty="0"/>
          </a:p>
        </p:txBody>
      </p:sp>
      <p:sp>
        <p:nvSpPr>
          <p:cNvPr id="16" name="Shape 11"/>
          <p:cNvSpPr/>
          <p:nvPr/>
        </p:nvSpPr>
        <p:spPr>
          <a:xfrm>
            <a:off x="3598850" y="3105912"/>
            <a:ext cx="446227" cy="219456"/>
          </a:xfrm>
          <a:prstGeom prst="roundRect">
            <a:avLst>
              <a:gd name="adj" fmla="val 50000"/>
            </a:avLst>
          </a:prstGeom>
          <a:solidFill>
            <a:srgbClr val="0E7C5A"/>
          </a:solidFill>
          <a:ln w="12700">
            <a:solidFill>
              <a:srgbClr val="0E7C5A"/>
            </a:solidFill>
            <a:prstDash val="solid"/>
          </a:ln>
        </p:spPr>
      </p:sp>
      <p:sp>
        <p:nvSpPr>
          <p:cNvPr id="17" name="Text 12"/>
          <p:cNvSpPr/>
          <p:nvPr/>
        </p:nvSpPr>
        <p:spPr>
          <a:xfrm>
            <a:off x="3598850" y="3105912"/>
            <a:ext cx="446227"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PASS</a:t>
            </a:r>
            <a:endParaRPr lang="en-US" sz="850" dirty="0"/>
          </a:p>
        </p:txBody>
      </p:sp>
      <p:sp>
        <p:nvSpPr>
          <p:cNvPr id="18" name="Shape 13"/>
          <p:cNvSpPr/>
          <p:nvPr/>
        </p:nvSpPr>
        <p:spPr>
          <a:xfrm>
            <a:off x="6191860" y="2136648"/>
            <a:ext cx="2620442" cy="1298448"/>
          </a:xfrm>
          <a:prstGeom prst="roundRect">
            <a:avLst>
              <a:gd name="adj" fmla="val 4225"/>
            </a:avLst>
          </a:prstGeom>
          <a:solidFill>
            <a:srgbClr val="EDF6F2"/>
          </a:solidFill>
          <a:ln w="9525">
            <a:solidFill>
              <a:srgbClr val="C6E4D8"/>
            </a:solidFill>
            <a:prstDash val="solid"/>
          </a:ln>
          <a:effectLst>
            <a:outerShdw sx="100000" sy="100000" kx="0" ky="0" algn="bl" rotWithShape="0" blurRad="127000" dist="508" dir="5400000">
              <a:srgbClr val="000000">
                <a:alpha val="9000"/>
              </a:srgbClr>
            </a:outerShdw>
          </a:effectLst>
        </p:spPr>
      </p:sp>
      <p:sp>
        <p:nvSpPr>
          <p:cNvPr id="19" name="Text 14"/>
          <p:cNvSpPr/>
          <p:nvPr/>
        </p:nvSpPr>
        <p:spPr>
          <a:xfrm>
            <a:off x="6411316" y="2301240"/>
            <a:ext cx="2181530" cy="548640"/>
          </a:xfrm>
          <a:prstGeom prst="rect">
            <a:avLst/>
          </a:prstGeom>
          <a:noFill/>
          <a:ln/>
        </p:spPr>
        <p:txBody>
          <a:bodyPr wrap="square" lIns="0" tIns="0" rIns="0" bIns="0" rtlCol="0" anchor="ctr"/>
          <a:lstStyle/>
          <a:p>
            <a:pPr indent="0" marL="0">
              <a:buNone/>
            </a:pPr>
            <a:r>
              <a:rPr lang="en-US" sz="3400" b="1" dirty="0">
                <a:solidFill>
                  <a:srgbClr val="0E7C5A"/>
                </a:solidFill>
                <a:latin typeface="Cambria" pitchFamily="34" charset="0"/>
                <a:ea typeface="Cambria" pitchFamily="34" charset="-122"/>
                <a:cs typeface="Cambria" pitchFamily="34" charset="-120"/>
              </a:rPr>
              <a:t>0.817</a:t>
            </a:r>
            <a:endParaRPr lang="en-US" sz="3400" dirty="0"/>
          </a:p>
        </p:txBody>
      </p:sp>
      <p:sp>
        <p:nvSpPr>
          <p:cNvPr id="20" name="Text 15"/>
          <p:cNvSpPr/>
          <p:nvPr/>
        </p:nvSpPr>
        <p:spPr>
          <a:xfrm>
            <a:off x="6411316" y="2849880"/>
            <a:ext cx="2181530" cy="237744"/>
          </a:xfrm>
          <a:prstGeom prst="rect">
            <a:avLst/>
          </a:prstGeom>
          <a:noFill/>
          <a:ln/>
        </p:spPr>
        <p:txBody>
          <a:bodyPr wrap="square" lIns="0" tIns="0" rIns="0" bIns="0" rtlCol="0" anchor="ctr"/>
          <a:lstStyle/>
          <a:p>
            <a:pPr indent="0" marL="0">
              <a:buNone/>
            </a:pPr>
            <a:r>
              <a:rPr lang="en-US" sz="1050" dirty="0">
                <a:solidFill>
                  <a:srgbClr val="6B7A8C"/>
                </a:solidFill>
                <a:latin typeface="Calibri" pitchFamily="34" charset="0"/>
                <a:ea typeface="Calibri" pitchFamily="34" charset="-122"/>
                <a:cs typeface="Calibri" pitchFamily="34" charset="-120"/>
              </a:rPr>
              <a:t>context recall</a:t>
            </a:r>
            <a:endParaRPr lang="en-US" sz="1050" dirty="0"/>
          </a:p>
        </p:txBody>
      </p:sp>
      <p:sp>
        <p:nvSpPr>
          <p:cNvPr id="21" name="Shape 16"/>
          <p:cNvSpPr/>
          <p:nvPr/>
        </p:nvSpPr>
        <p:spPr>
          <a:xfrm>
            <a:off x="6411316" y="3105912"/>
            <a:ext cx="446227" cy="219456"/>
          </a:xfrm>
          <a:prstGeom prst="roundRect">
            <a:avLst>
              <a:gd name="adj" fmla="val 50000"/>
            </a:avLst>
          </a:prstGeom>
          <a:solidFill>
            <a:srgbClr val="0E7C5A"/>
          </a:solidFill>
          <a:ln w="12700">
            <a:solidFill>
              <a:srgbClr val="0E7C5A"/>
            </a:solidFill>
            <a:prstDash val="solid"/>
          </a:ln>
        </p:spPr>
      </p:sp>
      <p:sp>
        <p:nvSpPr>
          <p:cNvPr id="22" name="Text 17"/>
          <p:cNvSpPr/>
          <p:nvPr/>
        </p:nvSpPr>
        <p:spPr>
          <a:xfrm>
            <a:off x="6411316" y="3105912"/>
            <a:ext cx="446227"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PASS</a:t>
            </a:r>
            <a:endParaRPr lang="en-US" sz="850" dirty="0"/>
          </a:p>
        </p:txBody>
      </p:sp>
      <p:sp>
        <p:nvSpPr>
          <p:cNvPr id="23" name="Shape 18"/>
          <p:cNvSpPr/>
          <p:nvPr/>
        </p:nvSpPr>
        <p:spPr>
          <a:xfrm>
            <a:off x="9004325" y="2136648"/>
            <a:ext cx="2620442" cy="1298448"/>
          </a:xfrm>
          <a:prstGeom prst="roundRect">
            <a:avLst>
              <a:gd name="adj" fmla="val 4225"/>
            </a:avLst>
          </a:prstGeom>
          <a:solidFill>
            <a:srgbClr val="F1F4F8"/>
          </a:solidFill>
          <a:ln w="9525">
            <a:solidFill>
              <a:srgbClr val="E3E9F1"/>
            </a:solidFill>
            <a:prstDash val="solid"/>
          </a:ln>
          <a:effectLst>
            <a:outerShdw sx="100000" sy="100000" kx="0" ky="0" algn="bl" rotWithShape="0" blurRad="127000" dist="508" dir="5400000">
              <a:srgbClr val="000000">
                <a:alpha val="9000"/>
              </a:srgbClr>
            </a:outerShdw>
          </a:effectLst>
        </p:spPr>
      </p:sp>
      <p:sp>
        <p:nvSpPr>
          <p:cNvPr id="24" name="Text 19"/>
          <p:cNvSpPr/>
          <p:nvPr/>
        </p:nvSpPr>
        <p:spPr>
          <a:xfrm>
            <a:off x="9223781" y="2301240"/>
            <a:ext cx="2181530" cy="548640"/>
          </a:xfrm>
          <a:prstGeom prst="rect">
            <a:avLst/>
          </a:prstGeom>
          <a:noFill/>
          <a:ln/>
        </p:spPr>
        <p:txBody>
          <a:bodyPr wrap="square" lIns="0" tIns="0" rIns="0" bIns="0" rtlCol="0" anchor="ctr"/>
          <a:lstStyle/>
          <a:p>
            <a:pPr indent="0" marL="0">
              <a:buNone/>
            </a:pPr>
            <a:r>
              <a:rPr lang="en-US" sz="3400" b="1" dirty="0">
                <a:solidFill>
                  <a:srgbClr val="0E1A2B"/>
                </a:solidFill>
                <a:latin typeface="Cambria" pitchFamily="34" charset="0"/>
                <a:ea typeface="Cambria" pitchFamily="34" charset="-122"/>
                <a:cs typeface="Cambria" pitchFamily="34" charset="-120"/>
              </a:rPr>
              <a:t>0.783</a:t>
            </a:r>
            <a:endParaRPr lang="en-US" sz="3400" dirty="0"/>
          </a:p>
        </p:txBody>
      </p:sp>
      <p:sp>
        <p:nvSpPr>
          <p:cNvPr id="25" name="Text 20"/>
          <p:cNvSpPr/>
          <p:nvPr/>
        </p:nvSpPr>
        <p:spPr>
          <a:xfrm>
            <a:off x="9223781" y="2849880"/>
            <a:ext cx="2181530" cy="237744"/>
          </a:xfrm>
          <a:prstGeom prst="rect">
            <a:avLst/>
          </a:prstGeom>
          <a:noFill/>
          <a:ln/>
        </p:spPr>
        <p:txBody>
          <a:bodyPr wrap="square" lIns="0" tIns="0" rIns="0" bIns="0" rtlCol="0" anchor="ctr"/>
          <a:lstStyle/>
          <a:p>
            <a:pPr indent="0" marL="0">
              <a:buNone/>
            </a:pPr>
            <a:r>
              <a:rPr lang="en-US" sz="1050" dirty="0">
                <a:solidFill>
                  <a:srgbClr val="6B7A8C"/>
                </a:solidFill>
                <a:latin typeface="Calibri" pitchFamily="34" charset="0"/>
                <a:ea typeface="Calibri" pitchFamily="34" charset="-122"/>
                <a:cs typeface="Calibri" pitchFamily="34" charset="-120"/>
              </a:rPr>
              <a:t>answer relevancy</a:t>
            </a:r>
            <a:endParaRPr lang="en-US" sz="1050" dirty="0"/>
          </a:p>
        </p:txBody>
      </p:sp>
      <p:sp>
        <p:nvSpPr>
          <p:cNvPr id="26" name="Shape 21"/>
          <p:cNvSpPr/>
          <p:nvPr/>
        </p:nvSpPr>
        <p:spPr>
          <a:xfrm>
            <a:off x="9223781" y="3105912"/>
            <a:ext cx="841248" cy="219456"/>
          </a:xfrm>
          <a:prstGeom prst="roundRect">
            <a:avLst>
              <a:gd name="adj" fmla="val 50000"/>
            </a:avLst>
          </a:prstGeom>
          <a:solidFill>
            <a:srgbClr val="6B7A8C"/>
          </a:solidFill>
          <a:ln w="12700">
            <a:solidFill>
              <a:srgbClr val="6B7A8C"/>
            </a:solidFill>
            <a:prstDash val="solid"/>
          </a:ln>
        </p:spPr>
      </p:sp>
      <p:sp>
        <p:nvSpPr>
          <p:cNvPr id="27" name="Text 22"/>
          <p:cNvSpPr/>
          <p:nvPr/>
        </p:nvSpPr>
        <p:spPr>
          <a:xfrm>
            <a:off x="9223781" y="3105912"/>
            <a:ext cx="841248"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BELOW 0.80</a:t>
            </a:r>
            <a:endParaRPr lang="en-US" sz="850" dirty="0"/>
          </a:p>
        </p:txBody>
      </p:sp>
      <p:sp>
        <p:nvSpPr>
          <p:cNvPr id="28" name="Text 23"/>
          <p:cNvSpPr/>
          <p:nvPr/>
        </p:nvSpPr>
        <p:spPr>
          <a:xfrm>
            <a:off x="566928" y="3563112"/>
            <a:ext cx="11057839" cy="402336"/>
          </a:xfrm>
          <a:prstGeom prst="rect">
            <a:avLst/>
          </a:prstGeom>
          <a:noFill/>
          <a:ln/>
        </p:spPr>
        <p:txBody>
          <a:bodyPr wrap="square" lIns="0" tIns="0" rIns="0" bIns="0" rtlCol="0" anchor="ctr"/>
          <a:lstStyle/>
          <a:p>
            <a:pPr indent="0" marL="0">
              <a:lnSpc>
                <a:spcPts val="1400"/>
              </a:lnSpc>
              <a:buNone/>
            </a:pPr>
            <a:r>
              <a:rPr lang="en-US" sz="1050" dirty="0">
                <a:solidFill>
                  <a:srgbClr val="46566B"/>
                </a:solidFill>
                <a:latin typeface="Calibri" pitchFamily="34" charset="0"/>
                <a:ea typeface="Calibri" pitchFamily="34" charset="-122"/>
                <a:cs typeface="Calibri" pitchFamily="34" charset="-120"/>
              </a:rPr>
              <a:t>Over all 34 questions, including the three that are unanswerable by design: 0.799 recall · 0.754 precision · 0.764 faithfulness · 0.725 relevancy. Failing samples fell from 25 to 21, and answer relevancy is the one metric still short.</a:t>
            </a:r>
            <a:endParaRPr lang="en-US" sz="1050" dirty="0"/>
          </a:p>
        </p:txBody>
      </p:sp>
      <p:sp>
        <p:nvSpPr>
          <p:cNvPr id="29" name="Text 24"/>
          <p:cNvSpPr/>
          <p:nvPr/>
        </p:nvSpPr>
        <p:spPr>
          <a:xfrm>
            <a:off x="566928" y="4038600"/>
            <a:ext cx="5486400" cy="256032"/>
          </a:xfrm>
          <a:prstGeom prst="rect">
            <a:avLst/>
          </a:prstGeom>
          <a:noFill/>
          <a:ln/>
        </p:spPr>
        <p:txBody>
          <a:bodyPr wrap="square" lIns="0" tIns="0" rIns="0" bIns="0" rtlCol="0" anchor="ctr"/>
          <a:lstStyle/>
          <a:p>
            <a:pPr indent="0" marL="0">
              <a:buNone/>
            </a:pPr>
            <a:r>
              <a:rPr lang="en-US" sz="1450" b="1" dirty="0">
                <a:solidFill>
                  <a:srgbClr val="0E1A2B"/>
                </a:solidFill>
                <a:latin typeface="Cambria" pitchFamily="34" charset="0"/>
                <a:ea typeface="Cambria" pitchFamily="34" charset="-122"/>
                <a:cs typeface="Cambria" pitchFamily="34" charset="-120"/>
              </a:rPr>
              <a:t>Open, in the order we would do it</a:t>
            </a:r>
            <a:endParaRPr lang="en-US" sz="1450" dirty="0"/>
          </a:p>
        </p:txBody>
      </p:sp>
      <p:sp>
        <p:nvSpPr>
          <p:cNvPr id="30" name="Shape 25"/>
          <p:cNvSpPr/>
          <p:nvPr/>
        </p:nvSpPr>
        <p:spPr>
          <a:xfrm>
            <a:off x="566928" y="4349496"/>
            <a:ext cx="237744" cy="237744"/>
          </a:xfrm>
          <a:prstGeom prst="ellipse">
            <a:avLst/>
          </a:prstGeom>
          <a:solidFill>
            <a:srgbClr val="FF7900"/>
          </a:solidFill>
          <a:ln w="12700">
            <a:solidFill>
              <a:srgbClr val="FF7900"/>
            </a:solidFill>
            <a:prstDash val="solid"/>
          </a:ln>
        </p:spPr>
      </p:sp>
      <p:sp>
        <p:nvSpPr>
          <p:cNvPr id="31" name="Text 26"/>
          <p:cNvSpPr/>
          <p:nvPr/>
        </p:nvSpPr>
        <p:spPr>
          <a:xfrm>
            <a:off x="566928" y="434949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2" name="Text 27"/>
          <p:cNvSpPr/>
          <p:nvPr/>
        </p:nvSpPr>
        <p:spPr>
          <a:xfrm>
            <a:off x="914400" y="4331208"/>
            <a:ext cx="2834640" cy="274320"/>
          </a:xfrm>
          <a:prstGeom prst="rect">
            <a:avLst/>
          </a:prstGeom>
          <a:noFill/>
          <a:ln/>
        </p:spPr>
        <p:txBody>
          <a:bodyPr wrap="square" lIns="0" tIns="0" rIns="0" bIns="0" rtlCol="0" anchor="ctr"/>
          <a:lstStyle/>
          <a:p>
            <a:pPr indent="0" marL="0">
              <a:buNone/>
            </a:pPr>
            <a:r>
              <a:rPr lang="en-US" sz="1000" b="1" dirty="0">
                <a:solidFill>
                  <a:srgbClr val="0E1A2B"/>
                </a:solidFill>
                <a:latin typeface="Calibri" pitchFamily="34" charset="0"/>
                <a:ea typeface="Calibri" pitchFamily="34" charset="-122"/>
                <a:cs typeface="Calibri" pitchFamily="34" charset="-120"/>
              </a:rPr>
              <a:t>Measure a depth between 5 and 10</a:t>
            </a:r>
            <a:endParaRPr lang="en-US" sz="1000" dirty="0"/>
          </a:p>
        </p:txBody>
      </p:sp>
      <p:sp>
        <p:nvSpPr>
          <p:cNvPr id="33" name="Text 28"/>
          <p:cNvSpPr/>
          <p:nvPr/>
        </p:nvSpPr>
        <p:spPr>
          <a:xfrm>
            <a:off x="3767328" y="4331208"/>
            <a:ext cx="7857439" cy="292608"/>
          </a:xfrm>
          <a:prstGeom prst="rect">
            <a:avLst/>
          </a:prstGeom>
          <a:noFill/>
          <a:ln/>
        </p:spPr>
        <p:txBody>
          <a:bodyPr wrap="square" lIns="0" tIns="0" rIns="0" bIns="0" rtlCol="0" anchor="t"/>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Untested, and with reranking now recovering precision, a shallower cut may cost less than it did before.</a:t>
            </a:r>
            <a:endParaRPr lang="en-US" sz="950" dirty="0"/>
          </a:p>
        </p:txBody>
      </p:sp>
      <p:sp>
        <p:nvSpPr>
          <p:cNvPr id="34" name="Shape 29"/>
          <p:cNvSpPr/>
          <p:nvPr/>
        </p:nvSpPr>
        <p:spPr>
          <a:xfrm>
            <a:off x="566928" y="4770120"/>
            <a:ext cx="237744" cy="237744"/>
          </a:xfrm>
          <a:prstGeom prst="ellipse">
            <a:avLst/>
          </a:prstGeom>
          <a:solidFill>
            <a:srgbClr val="FF7900"/>
          </a:solidFill>
          <a:ln w="12700">
            <a:solidFill>
              <a:srgbClr val="FF7900"/>
            </a:solidFill>
            <a:prstDash val="solid"/>
          </a:ln>
        </p:spPr>
      </p:sp>
      <p:sp>
        <p:nvSpPr>
          <p:cNvPr id="35" name="Text 30"/>
          <p:cNvSpPr/>
          <p:nvPr/>
        </p:nvSpPr>
        <p:spPr>
          <a:xfrm>
            <a:off x="566928" y="477012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6" name="Text 31"/>
          <p:cNvSpPr/>
          <p:nvPr/>
        </p:nvSpPr>
        <p:spPr>
          <a:xfrm>
            <a:off x="914400" y="4751832"/>
            <a:ext cx="2834640" cy="274320"/>
          </a:xfrm>
          <a:prstGeom prst="rect">
            <a:avLst/>
          </a:prstGeom>
          <a:noFill/>
          <a:ln/>
        </p:spPr>
        <p:txBody>
          <a:bodyPr wrap="square" lIns="0" tIns="0" rIns="0" bIns="0" rtlCol="0" anchor="ctr"/>
          <a:lstStyle/>
          <a:p>
            <a:pPr indent="0" marL="0">
              <a:buNone/>
            </a:pPr>
            <a:r>
              <a:rPr lang="en-US" sz="1000" b="1" dirty="0">
                <a:solidFill>
                  <a:srgbClr val="0E1A2B"/>
                </a:solidFill>
                <a:latin typeface="Calibri" pitchFamily="34" charset="0"/>
                <a:ea typeface="Calibri" pitchFamily="34" charset="-122"/>
                <a:cs typeface="Calibri" pitchFamily="34" charset="-120"/>
              </a:rPr>
              <a:t>Answer relevancy, the last metric</a:t>
            </a:r>
            <a:endParaRPr lang="en-US" sz="1000" dirty="0"/>
          </a:p>
        </p:txBody>
      </p:sp>
      <p:sp>
        <p:nvSpPr>
          <p:cNvPr id="37" name="Text 32"/>
          <p:cNvSpPr/>
          <p:nvPr/>
        </p:nvSpPr>
        <p:spPr>
          <a:xfrm>
            <a:off x="3767328" y="4751832"/>
            <a:ext cx="7857439" cy="292608"/>
          </a:xfrm>
          <a:prstGeom prst="rect">
            <a:avLst/>
          </a:prstGeom>
          <a:noFill/>
          <a:ln/>
        </p:spPr>
        <p:txBody>
          <a:bodyPr wrap="square" lIns="0" tIns="0" rIns="0" bIns="0" rtlCol="0" anchor="t"/>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0.783 against a 0.80 threshold. The judge samples three generated questions per answer and often gets one, so part of the gap is measurement noise rather than the answer.</a:t>
            </a:r>
            <a:endParaRPr lang="en-US" sz="950" dirty="0"/>
          </a:p>
        </p:txBody>
      </p:sp>
      <p:sp>
        <p:nvSpPr>
          <p:cNvPr id="38" name="Shape 33"/>
          <p:cNvSpPr/>
          <p:nvPr/>
        </p:nvSpPr>
        <p:spPr>
          <a:xfrm>
            <a:off x="566928" y="5190744"/>
            <a:ext cx="237744" cy="237744"/>
          </a:xfrm>
          <a:prstGeom prst="ellipse">
            <a:avLst/>
          </a:prstGeom>
          <a:solidFill>
            <a:srgbClr val="6B7A8C"/>
          </a:solidFill>
          <a:ln w="12700">
            <a:solidFill>
              <a:srgbClr val="6B7A8C"/>
            </a:solidFill>
            <a:prstDash val="solid"/>
          </a:ln>
        </p:spPr>
      </p:sp>
      <p:sp>
        <p:nvSpPr>
          <p:cNvPr id="39" name="Text 34"/>
          <p:cNvSpPr/>
          <p:nvPr/>
        </p:nvSpPr>
        <p:spPr>
          <a:xfrm>
            <a:off x="566928" y="519074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0" name="Text 35"/>
          <p:cNvSpPr/>
          <p:nvPr/>
        </p:nvSpPr>
        <p:spPr>
          <a:xfrm>
            <a:off x="914400" y="5172456"/>
            <a:ext cx="2834640" cy="274320"/>
          </a:xfrm>
          <a:prstGeom prst="rect">
            <a:avLst/>
          </a:prstGeom>
          <a:noFill/>
          <a:ln/>
        </p:spPr>
        <p:txBody>
          <a:bodyPr wrap="square" lIns="0" tIns="0" rIns="0" bIns="0" rtlCol="0" anchor="ctr"/>
          <a:lstStyle/>
          <a:p>
            <a:pPr indent="0" marL="0">
              <a:buNone/>
            </a:pPr>
            <a:r>
              <a:rPr lang="en-US" sz="1000" b="1" dirty="0">
                <a:solidFill>
                  <a:srgbClr val="0E1A2B"/>
                </a:solidFill>
                <a:latin typeface="Calibri" pitchFamily="34" charset="0"/>
                <a:ea typeface="Calibri" pitchFamily="34" charset="-122"/>
                <a:cs typeface="Calibri" pitchFamily="34" charset="-120"/>
              </a:rPr>
              <a:t>Negation and absent-value queries</a:t>
            </a:r>
            <a:endParaRPr lang="en-US" sz="1000" dirty="0"/>
          </a:p>
        </p:txBody>
      </p:sp>
      <p:sp>
        <p:nvSpPr>
          <p:cNvPr id="41" name="Text 36"/>
          <p:cNvSpPr/>
          <p:nvPr/>
        </p:nvSpPr>
        <p:spPr>
          <a:xfrm>
            <a:off x="3767328" y="5172456"/>
            <a:ext cx="7857439" cy="292608"/>
          </a:xfrm>
          <a:prstGeom prst="rect">
            <a:avLst/>
          </a:prstGeom>
          <a:noFill/>
          <a:ln/>
        </p:spPr>
        <p:txBody>
          <a:bodyPr wrap="square" lIns="0" tIns="0" rIns="0" bIns="0" rtlCol="0" anchor="t"/>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#20 asks which ingredients have no evidence; #11 asks for a value the page never states. Retrieving more chunks cannot surface an absence.</a:t>
            </a:r>
            <a:endParaRPr lang="en-US" sz="950" dirty="0"/>
          </a:p>
        </p:txBody>
      </p:sp>
      <p:sp>
        <p:nvSpPr>
          <p:cNvPr id="42" name="Shape 37"/>
          <p:cNvSpPr/>
          <p:nvPr/>
        </p:nvSpPr>
        <p:spPr>
          <a:xfrm>
            <a:off x="566928" y="5611368"/>
            <a:ext cx="237744" cy="237744"/>
          </a:xfrm>
          <a:prstGeom prst="ellipse">
            <a:avLst/>
          </a:prstGeom>
          <a:solidFill>
            <a:srgbClr val="6B7A8C"/>
          </a:solidFill>
          <a:ln w="12700">
            <a:solidFill>
              <a:srgbClr val="6B7A8C"/>
            </a:solidFill>
            <a:prstDash val="solid"/>
          </a:ln>
        </p:spPr>
      </p:sp>
      <p:sp>
        <p:nvSpPr>
          <p:cNvPr id="43" name="Text 38"/>
          <p:cNvSpPr/>
          <p:nvPr/>
        </p:nvSpPr>
        <p:spPr>
          <a:xfrm>
            <a:off x="566928" y="56113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4" name="Text 39"/>
          <p:cNvSpPr/>
          <p:nvPr/>
        </p:nvSpPr>
        <p:spPr>
          <a:xfrm>
            <a:off x="914400" y="5593080"/>
            <a:ext cx="2834640" cy="274320"/>
          </a:xfrm>
          <a:prstGeom prst="rect">
            <a:avLst/>
          </a:prstGeom>
          <a:noFill/>
          <a:ln/>
        </p:spPr>
        <p:txBody>
          <a:bodyPr wrap="square" lIns="0" tIns="0" rIns="0" bIns="0" rtlCol="0" anchor="ctr"/>
          <a:lstStyle/>
          <a:p>
            <a:pPr indent="0" marL="0">
              <a:buNone/>
            </a:pPr>
            <a:r>
              <a:rPr lang="en-US" sz="1000" b="1" dirty="0">
                <a:solidFill>
                  <a:srgbClr val="0E1A2B"/>
                </a:solidFill>
                <a:latin typeface="Calibri" pitchFamily="34" charset="0"/>
                <a:ea typeface="Calibri" pitchFamily="34" charset="-122"/>
                <a:cs typeface="Calibri" pitchFamily="34" charset="-120"/>
              </a:rPr>
              <a:t>Hybrid BM25 for dosage queries</a:t>
            </a:r>
            <a:endParaRPr lang="en-US" sz="1000" dirty="0"/>
          </a:p>
        </p:txBody>
      </p:sp>
      <p:sp>
        <p:nvSpPr>
          <p:cNvPr id="45" name="Text 40"/>
          <p:cNvSpPr/>
          <p:nvPr/>
        </p:nvSpPr>
        <p:spPr>
          <a:xfrm>
            <a:off x="3767328" y="5593080"/>
            <a:ext cx="7857439" cy="292608"/>
          </a:xfrm>
          <a:prstGeom prst="rect">
            <a:avLst/>
          </a:prstGeom>
          <a:noFill/>
          <a:ln/>
        </p:spPr>
        <p:txBody>
          <a:bodyPr wrap="square" lIns="0" tIns="0" rIns="0" bIns="0" rtlCol="0" anchor="t"/>
          <a:lstStyle/>
          <a:p>
            <a:pPr indent="0" marL="0">
              <a:lnSpc>
                <a:spcPts val="1200"/>
              </a:lnSpc>
              <a:buNone/>
            </a:pPr>
            <a:r>
              <a:rPr lang="en-US" sz="950" dirty="0">
                <a:solidFill>
                  <a:srgbClr val="46566B"/>
                </a:solidFill>
                <a:latin typeface="Calibri" pitchFamily="34" charset="0"/>
                <a:ea typeface="Calibri" pitchFamily="34" charset="-122"/>
                <a:cs typeface="Calibri" pitchFamily="34" charset="-120"/>
              </a:rPr>
              <a:t>Measured at 5.5% of evidence that dense missed, concentrated in numeric questions. Worth adding — just not first.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6108192"/>
            <a:ext cx="4306229" cy="585216"/>
          </a:xfrm>
          <a:prstGeom prst="roundRect">
            <a:avLst>
              <a:gd name="adj" fmla="val 9375"/>
            </a:avLst>
          </a:prstGeom>
          <a:solidFill>
            <a:srgbClr val="FFFFFF"/>
          </a:solidFill>
          <a:ln w="12700">
            <a:solidFill>
              <a:srgbClr val="FFFFFF"/>
            </a:solidFill>
            <a:prstDash val="solid"/>
          </a:ln>
        </p:spPr>
      </p:sp>
      <p:pic>
        <p:nvPicPr>
          <p:cNvPr id="3" name="Image 0" descr="/Users/Marwan/Projects/athletic-dietry-rag/presentation/assets/logos/creativa.png">    </p:cNvPr>
          <p:cNvPicPr>
            <a:picLocks noChangeAspect="1"/>
          </p:cNvPicPr>
          <p:nvPr/>
        </p:nvPicPr>
        <p:blipFill>
          <a:blip r:embed="rId1"/>
          <a:stretch>
            <a:fillRect/>
          </a:stretch>
        </p:blipFill>
        <p:spPr>
          <a:xfrm>
            <a:off x="731520" y="6208776"/>
            <a:ext cx="356021" cy="384048"/>
          </a:xfrm>
          <a:prstGeom prst="rect">
            <a:avLst/>
          </a:prstGeom>
        </p:spPr>
      </p:pic>
      <p:pic>
        <p:nvPicPr>
          <p:cNvPr id="4" name="Image 1" descr="/Users/Marwan/Projects/athletic-dietry-rag/presentation/assets/logos/instant.png">    </p:cNvPr>
          <p:cNvPicPr>
            <a:picLocks noChangeAspect="1"/>
          </p:cNvPicPr>
          <p:nvPr/>
        </p:nvPicPr>
        <p:blipFill>
          <a:blip r:embed="rId2"/>
          <a:stretch>
            <a:fillRect/>
          </a:stretch>
        </p:blipFill>
        <p:spPr>
          <a:xfrm>
            <a:off x="1416725" y="6305902"/>
            <a:ext cx="1481328" cy="189795"/>
          </a:xfrm>
          <a:prstGeom prst="rect">
            <a:avLst/>
          </a:prstGeom>
        </p:spPr>
      </p:pic>
      <p:pic>
        <p:nvPicPr>
          <p:cNvPr id="5" name="Image 2" descr="/Users/Marwan/Projects/athletic-dietry-rag/presentation/assets/logos/orange.png">    </p:cNvPr>
          <p:cNvPicPr>
            <a:picLocks noChangeAspect="1"/>
          </p:cNvPicPr>
          <p:nvPr/>
        </p:nvPicPr>
        <p:blipFill>
          <a:blip r:embed="rId3"/>
          <a:stretch>
            <a:fillRect/>
          </a:stretch>
        </p:blipFill>
        <p:spPr>
          <a:xfrm>
            <a:off x="3227237" y="6240122"/>
            <a:ext cx="1481328" cy="321355"/>
          </a:xfrm>
          <a:prstGeom prst="rect">
            <a:avLst/>
          </a:prstGeom>
        </p:spPr>
      </p:pic>
      <p:sp>
        <p:nvSpPr>
          <p:cNvPr id="6" name="Text 1"/>
          <p:cNvSpPr/>
          <p:nvPr/>
        </p:nvSpPr>
        <p:spPr>
          <a:xfrm>
            <a:off x="566928" y="512064"/>
            <a:ext cx="11057839" cy="237744"/>
          </a:xfrm>
          <a:prstGeom prst="rect">
            <a:avLst/>
          </a:prstGeom>
          <a:noFill/>
          <a:ln/>
        </p:spPr>
        <p:txBody>
          <a:bodyPr wrap="square" lIns="0" tIns="0" rIns="0" bIns="0" rtlCol="0" anchor="ctr"/>
          <a:lstStyle/>
          <a:p>
            <a:pPr indent="0" marL="0">
              <a:buNone/>
            </a:pPr>
            <a:r>
              <a:rPr lang="en-US" sz="1050" b="1" spc="140" kern="0" dirty="0">
                <a:solidFill>
                  <a:srgbClr val="FF7900"/>
                </a:solidFill>
                <a:latin typeface="Calibri" pitchFamily="34" charset="0"/>
                <a:ea typeface="Calibri" pitchFamily="34" charset="-122"/>
                <a:cs typeface="Calibri" pitchFamily="34" charset="-120"/>
              </a:rPr>
              <a:t>WHAT WENT WRONG</a:t>
            </a:r>
            <a:endParaRPr lang="en-US" sz="1050" dirty="0"/>
          </a:p>
        </p:txBody>
      </p:sp>
      <p:sp>
        <p:nvSpPr>
          <p:cNvPr id="7" name="Text 2"/>
          <p:cNvSpPr/>
          <p:nvPr/>
        </p:nvSpPr>
        <p:spPr>
          <a:xfrm>
            <a:off x="566928" y="768096"/>
            <a:ext cx="11057839" cy="893064"/>
          </a:xfrm>
          <a:prstGeom prst="rect">
            <a:avLst/>
          </a:prstGeom>
          <a:noFill/>
          <a:ln/>
        </p:spPr>
        <p:txBody>
          <a:bodyPr wrap="square" lIns="0" tIns="0" rIns="0" bIns="0" rtlCol="0" anchor="t"/>
          <a:lstStyle/>
          <a:p>
            <a:pPr indent="0" marL="0">
              <a:lnSpc>
                <a:spcPts val="3300"/>
              </a:lnSpc>
              <a:buNone/>
            </a:pPr>
            <a:r>
              <a:rPr lang="en-US" sz="3000" b="1" dirty="0">
                <a:solidFill>
                  <a:srgbClr val="FFFFFF"/>
                </a:solidFill>
                <a:latin typeface="Cambria" pitchFamily="34" charset="0"/>
                <a:ea typeface="Cambria" pitchFamily="34" charset="-122"/>
                <a:cs typeface="Cambria" pitchFamily="34" charset="-120"/>
              </a:rPr>
              <a:t>Nineteen hurdles logged. Three of them were our own reasoning.</a:t>
            </a:r>
            <a:endParaRPr lang="en-US" sz="3000" dirty="0"/>
          </a:p>
        </p:txBody>
      </p:sp>
      <p:sp>
        <p:nvSpPr>
          <p:cNvPr id="8" name="Shape 3"/>
          <p:cNvSpPr/>
          <p:nvPr/>
        </p:nvSpPr>
        <p:spPr>
          <a:xfrm>
            <a:off x="566928" y="1862328"/>
            <a:ext cx="3557930" cy="1572768"/>
          </a:xfrm>
          <a:prstGeom prst="roundRect">
            <a:avLst>
              <a:gd name="adj" fmla="val 3488"/>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9" name="Shape 4"/>
          <p:cNvSpPr/>
          <p:nvPr/>
        </p:nvSpPr>
        <p:spPr>
          <a:xfrm>
            <a:off x="768096" y="2026920"/>
            <a:ext cx="709574" cy="219456"/>
          </a:xfrm>
          <a:prstGeom prst="roundRect">
            <a:avLst>
              <a:gd name="adj" fmla="val 50000"/>
            </a:avLst>
          </a:prstGeom>
          <a:solidFill>
            <a:srgbClr val="FF7900"/>
          </a:solidFill>
          <a:ln w="12700">
            <a:solidFill>
              <a:srgbClr val="FF7900"/>
            </a:solidFill>
            <a:prstDash val="solid"/>
          </a:ln>
        </p:spPr>
      </p:sp>
      <p:sp>
        <p:nvSpPr>
          <p:cNvPr id="10" name="Text 5"/>
          <p:cNvSpPr/>
          <p:nvPr/>
        </p:nvSpPr>
        <p:spPr>
          <a:xfrm>
            <a:off x="768096" y="2026920"/>
            <a:ext cx="709574"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EXTERNAL</a:t>
            </a:r>
            <a:endParaRPr lang="en-US" sz="850" dirty="0"/>
          </a:p>
        </p:txBody>
      </p:sp>
      <p:sp>
        <p:nvSpPr>
          <p:cNvPr id="11" name="Text 6"/>
          <p:cNvSpPr/>
          <p:nvPr/>
        </p:nvSpPr>
        <p:spPr>
          <a:xfrm>
            <a:off x="768096" y="2319528"/>
            <a:ext cx="3155594" cy="384048"/>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mbria" pitchFamily="34" charset="0"/>
                <a:ea typeface="Cambria" pitchFamily="34" charset="-122"/>
                <a:cs typeface="Cambria" pitchFamily="34" charset="-120"/>
              </a:rPr>
              <a:t>The PDF the work assumed does not exist</a:t>
            </a:r>
            <a:endParaRPr lang="en-US" sz="1250" dirty="0"/>
          </a:p>
        </p:txBody>
      </p:sp>
      <p:sp>
        <p:nvSpPr>
          <p:cNvPr id="12" name="Text 7"/>
          <p:cNvSpPr/>
          <p:nvPr/>
        </p:nvSpPr>
        <p:spPr>
          <a:xfrm>
            <a:off x="768096" y="2721864"/>
            <a:ext cx="3155594" cy="640080"/>
          </a:xfrm>
          <a:prstGeom prst="rect">
            <a:avLst/>
          </a:prstGeom>
          <a:noFill/>
          <a:ln/>
        </p:spPr>
        <p:txBody>
          <a:bodyPr wrap="square" lIns="0" tIns="0" rIns="0" bIns="0" rtlCol="0" anchor="t"/>
          <a:lstStyle/>
          <a:p>
            <a:pPr indent="0" marL="0">
              <a:lnSpc>
                <a:spcPts val="1180"/>
              </a:lnSpc>
              <a:buNone/>
            </a:pPr>
            <a:r>
              <a:rPr lang="en-US" sz="900" dirty="0">
                <a:solidFill>
                  <a:srgbClr val="8FA3B8"/>
                </a:solidFill>
                <a:latin typeface="Calibri" pitchFamily="34" charset="0"/>
                <a:ea typeface="Calibri" pitchFamily="34" charset="-122"/>
                <a:cs typeface="Calibri" pitchFamily="34" charset="-120"/>
              </a:rPr>
              <a:t>NIH publishes it as a web page only — all 29 PDF links on it are cited references. We typeset our own source document and checked it in, so the corpus is reproducible.</a:t>
            </a:r>
            <a:endParaRPr lang="en-US" sz="900" dirty="0"/>
          </a:p>
        </p:txBody>
      </p:sp>
      <p:sp>
        <p:nvSpPr>
          <p:cNvPr id="13" name="Shape 8"/>
          <p:cNvSpPr/>
          <p:nvPr/>
        </p:nvSpPr>
        <p:spPr>
          <a:xfrm>
            <a:off x="4316882" y="1862328"/>
            <a:ext cx="3557930" cy="1572768"/>
          </a:xfrm>
          <a:prstGeom prst="roundRect">
            <a:avLst>
              <a:gd name="adj" fmla="val 3488"/>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14" name="Shape 9"/>
          <p:cNvSpPr/>
          <p:nvPr/>
        </p:nvSpPr>
        <p:spPr>
          <a:xfrm>
            <a:off x="4518050" y="2026920"/>
            <a:ext cx="577901" cy="219456"/>
          </a:xfrm>
          <a:prstGeom prst="roundRect">
            <a:avLst>
              <a:gd name="adj" fmla="val 50000"/>
            </a:avLst>
          </a:prstGeom>
          <a:solidFill>
            <a:srgbClr val="B3261E"/>
          </a:solidFill>
          <a:ln w="12700">
            <a:solidFill>
              <a:srgbClr val="B3261E"/>
            </a:solidFill>
            <a:prstDash val="solid"/>
          </a:ln>
        </p:spPr>
      </p:sp>
      <p:sp>
        <p:nvSpPr>
          <p:cNvPr id="15" name="Text 10"/>
          <p:cNvSpPr/>
          <p:nvPr/>
        </p:nvSpPr>
        <p:spPr>
          <a:xfrm>
            <a:off x="4518050" y="2026920"/>
            <a:ext cx="577901"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DEFECT</a:t>
            </a:r>
            <a:endParaRPr lang="en-US" sz="850" dirty="0"/>
          </a:p>
        </p:txBody>
      </p:sp>
      <p:sp>
        <p:nvSpPr>
          <p:cNvPr id="16" name="Text 11"/>
          <p:cNvSpPr/>
          <p:nvPr/>
        </p:nvSpPr>
        <p:spPr>
          <a:xfrm>
            <a:off x="4518050" y="2319528"/>
            <a:ext cx="3155594" cy="384048"/>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mbria" pitchFamily="34" charset="0"/>
                <a:ea typeface="Cambria" pitchFamily="34" charset="-122"/>
                <a:cs typeface="Cambria" pitchFamily="34" charset="-120"/>
              </a:rPr>
              <a:t>Running heads deleted real headings</a:t>
            </a:r>
            <a:endParaRPr lang="en-US" sz="1250" dirty="0"/>
          </a:p>
        </p:txBody>
      </p:sp>
      <p:sp>
        <p:nvSpPr>
          <p:cNvPr id="17" name="Text 12"/>
          <p:cNvSpPr/>
          <p:nvPr/>
        </p:nvSpPr>
        <p:spPr>
          <a:xfrm>
            <a:off x="4518050" y="2721864"/>
            <a:ext cx="3155594" cy="640080"/>
          </a:xfrm>
          <a:prstGeom prst="rect">
            <a:avLst/>
          </a:prstGeom>
          <a:noFill/>
          <a:ln/>
        </p:spPr>
        <p:txBody>
          <a:bodyPr wrap="square" lIns="0" tIns="0" rIns="0" bIns="0" rtlCol="0" anchor="t"/>
          <a:lstStyle/>
          <a:p>
            <a:pPr indent="0" marL="0">
              <a:lnSpc>
                <a:spcPts val="1180"/>
              </a:lnSpc>
              <a:buNone/>
            </a:pPr>
            <a:r>
              <a:rPr lang="en-US" sz="900" dirty="0">
                <a:solidFill>
                  <a:srgbClr val="8FA3B8"/>
                </a:solidFill>
                <a:latin typeface="Calibri" pitchFamily="34" charset="0"/>
                <a:ea typeface="Calibri" pitchFamily="34" charset="-122"/>
                <a:cs typeface="Calibri" pitchFamily="34" charset="-120"/>
              </a:rPr>
              <a:t>Repetition alone is not a running head when 21 ingredients each have an “Efficacy” section. Position fixed it: 36 → 95 headings.</a:t>
            </a:r>
            <a:endParaRPr lang="en-US" sz="900" dirty="0"/>
          </a:p>
        </p:txBody>
      </p:sp>
      <p:sp>
        <p:nvSpPr>
          <p:cNvPr id="18" name="Shape 13"/>
          <p:cNvSpPr/>
          <p:nvPr/>
        </p:nvSpPr>
        <p:spPr>
          <a:xfrm>
            <a:off x="8066837" y="1862328"/>
            <a:ext cx="3557930" cy="1572768"/>
          </a:xfrm>
          <a:prstGeom prst="roundRect">
            <a:avLst>
              <a:gd name="adj" fmla="val 3488"/>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19" name="Shape 14"/>
          <p:cNvSpPr/>
          <p:nvPr/>
        </p:nvSpPr>
        <p:spPr>
          <a:xfrm>
            <a:off x="8268005" y="2026920"/>
            <a:ext cx="577901" cy="219456"/>
          </a:xfrm>
          <a:prstGeom prst="roundRect">
            <a:avLst>
              <a:gd name="adj" fmla="val 50000"/>
            </a:avLst>
          </a:prstGeom>
          <a:solidFill>
            <a:srgbClr val="B3261E"/>
          </a:solidFill>
          <a:ln w="12700">
            <a:solidFill>
              <a:srgbClr val="B3261E"/>
            </a:solidFill>
            <a:prstDash val="solid"/>
          </a:ln>
        </p:spPr>
      </p:sp>
      <p:sp>
        <p:nvSpPr>
          <p:cNvPr id="20" name="Text 15"/>
          <p:cNvSpPr/>
          <p:nvPr/>
        </p:nvSpPr>
        <p:spPr>
          <a:xfrm>
            <a:off x="8268005" y="2026920"/>
            <a:ext cx="577901"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DEFECT</a:t>
            </a:r>
            <a:endParaRPr lang="en-US" sz="850" dirty="0"/>
          </a:p>
        </p:txBody>
      </p:sp>
      <p:sp>
        <p:nvSpPr>
          <p:cNvPr id="21" name="Text 16"/>
          <p:cNvSpPr/>
          <p:nvPr/>
        </p:nvSpPr>
        <p:spPr>
          <a:xfrm>
            <a:off x="8268005" y="2319528"/>
            <a:ext cx="3155594" cy="384048"/>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mbria" pitchFamily="34" charset="0"/>
                <a:ea typeface="Cambria" pitchFamily="34" charset="-122"/>
                <a:cs typeface="Cambria" pitchFamily="34" charset="-120"/>
              </a:rPr>
              <a:t>A stale cache was served as PDF output</a:t>
            </a:r>
            <a:endParaRPr lang="en-US" sz="1250" dirty="0"/>
          </a:p>
        </p:txBody>
      </p:sp>
      <p:sp>
        <p:nvSpPr>
          <p:cNvPr id="22" name="Text 17"/>
          <p:cNvSpPr/>
          <p:nvPr/>
        </p:nvSpPr>
        <p:spPr>
          <a:xfrm>
            <a:off x="8268005" y="2721864"/>
            <a:ext cx="3155594" cy="640080"/>
          </a:xfrm>
          <a:prstGeom prst="rect">
            <a:avLst/>
          </a:prstGeom>
          <a:noFill/>
          <a:ln/>
        </p:spPr>
        <p:txBody>
          <a:bodyPr wrap="square" lIns="0" tIns="0" rIns="0" bIns="0" rtlCol="0" anchor="t"/>
          <a:lstStyle/>
          <a:p>
            <a:pPr indent="0" marL="0">
              <a:lnSpc>
                <a:spcPts val="1180"/>
              </a:lnSpc>
              <a:buNone/>
            </a:pPr>
            <a:r>
              <a:rPr lang="en-US" sz="900" dirty="0">
                <a:solidFill>
                  <a:srgbClr val="8FA3B8"/>
                </a:solidFill>
                <a:latin typeface="Calibri" pitchFamily="34" charset="0"/>
                <a:ea typeface="Calibri" pitchFamily="34" charset="-122"/>
                <a:cs typeface="Calibri" pitchFamily="34" charset="-120"/>
              </a:rPr>
              <a:t>Cache consulted before the source was validated. 288 chunks silently carried no page numbers. Nothing raised.</a:t>
            </a:r>
            <a:endParaRPr lang="en-US" sz="900" dirty="0"/>
          </a:p>
        </p:txBody>
      </p:sp>
      <p:sp>
        <p:nvSpPr>
          <p:cNvPr id="23" name="Shape 18"/>
          <p:cNvSpPr/>
          <p:nvPr/>
        </p:nvSpPr>
        <p:spPr>
          <a:xfrm>
            <a:off x="566928" y="3581400"/>
            <a:ext cx="3557930" cy="1572768"/>
          </a:xfrm>
          <a:prstGeom prst="roundRect">
            <a:avLst>
              <a:gd name="adj" fmla="val 3488"/>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24" name="Shape 19"/>
          <p:cNvSpPr/>
          <p:nvPr/>
        </p:nvSpPr>
        <p:spPr>
          <a:xfrm>
            <a:off x="768096" y="3745992"/>
            <a:ext cx="577901" cy="219456"/>
          </a:xfrm>
          <a:prstGeom prst="roundRect">
            <a:avLst>
              <a:gd name="adj" fmla="val 50000"/>
            </a:avLst>
          </a:prstGeom>
          <a:solidFill>
            <a:srgbClr val="B3261E"/>
          </a:solidFill>
          <a:ln w="12700">
            <a:solidFill>
              <a:srgbClr val="B3261E"/>
            </a:solidFill>
            <a:prstDash val="solid"/>
          </a:ln>
        </p:spPr>
      </p:sp>
      <p:sp>
        <p:nvSpPr>
          <p:cNvPr id="25" name="Text 20"/>
          <p:cNvSpPr/>
          <p:nvPr/>
        </p:nvSpPr>
        <p:spPr>
          <a:xfrm>
            <a:off x="768096" y="3745992"/>
            <a:ext cx="577901"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DEFECT</a:t>
            </a:r>
            <a:endParaRPr lang="en-US" sz="850" dirty="0"/>
          </a:p>
        </p:txBody>
      </p:sp>
      <p:sp>
        <p:nvSpPr>
          <p:cNvPr id="26" name="Text 21"/>
          <p:cNvSpPr/>
          <p:nvPr/>
        </p:nvSpPr>
        <p:spPr>
          <a:xfrm>
            <a:off x="768096" y="4038600"/>
            <a:ext cx="3155594" cy="384048"/>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mbria" pitchFamily="34" charset="0"/>
                <a:ea typeface="Cambria" pitchFamily="34" charset="-122"/>
                <a:cs typeface="Cambria" pitchFamily="34" charset="-120"/>
              </a:rPr>
              <a:t>Half the citations bypassed verification</a:t>
            </a:r>
            <a:endParaRPr lang="en-US" sz="1250" dirty="0"/>
          </a:p>
        </p:txBody>
      </p:sp>
      <p:sp>
        <p:nvSpPr>
          <p:cNvPr id="27" name="Text 22"/>
          <p:cNvSpPr/>
          <p:nvPr/>
        </p:nvSpPr>
        <p:spPr>
          <a:xfrm>
            <a:off x="768096" y="4440936"/>
            <a:ext cx="3155594" cy="640080"/>
          </a:xfrm>
          <a:prstGeom prst="rect">
            <a:avLst/>
          </a:prstGeom>
          <a:noFill/>
          <a:ln/>
        </p:spPr>
        <p:txBody>
          <a:bodyPr wrap="square" lIns="0" tIns="0" rIns="0" bIns="0" rtlCol="0" anchor="t"/>
          <a:lstStyle/>
          <a:p>
            <a:pPr indent="0" marL="0">
              <a:lnSpc>
                <a:spcPts val="1180"/>
              </a:lnSpc>
              <a:buNone/>
            </a:pPr>
            <a:r>
              <a:rPr lang="en-US" sz="900" dirty="0">
                <a:solidFill>
                  <a:srgbClr val="8FA3B8"/>
                </a:solidFill>
                <a:latin typeface="Calibri" pitchFamily="34" charset="0"/>
                <a:ea typeface="Calibri" pitchFamily="34" charset="-122"/>
                <a:cs typeface="Calibri" pitchFamily="34" charset="-120"/>
              </a:rPr>
              <a:t>Fullwidth brackets from the model slipped past an ASCII-only pattern in 11 of 22 answers.</a:t>
            </a:r>
            <a:endParaRPr lang="en-US" sz="900" dirty="0"/>
          </a:p>
        </p:txBody>
      </p:sp>
      <p:sp>
        <p:nvSpPr>
          <p:cNvPr id="28" name="Shape 23"/>
          <p:cNvSpPr/>
          <p:nvPr/>
        </p:nvSpPr>
        <p:spPr>
          <a:xfrm>
            <a:off x="4316882" y="3581400"/>
            <a:ext cx="3557930" cy="1572768"/>
          </a:xfrm>
          <a:prstGeom prst="roundRect">
            <a:avLst>
              <a:gd name="adj" fmla="val 3488"/>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29" name="Shape 24"/>
          <p:cNvSpPr/>
          <p:nvPr/>
        </p:nvSpPr>
        <p:spPr>
          <a:xfrm>
            <a:off x="4518050" y="3745992"/>
            <a:ext cx="1104595" cy="219456"/>
          </a:xfrm>
          <a:prstGeom prst="roundRect">
            <a:avLst>
              <a:gd name="adj" fmla="val 50000"/>
            </a:avLst>
          </a:prstGeom>
          <a:solidFill>
            <a:srgbClr val="B26A00"/>
          </a:solidFill>
          <a:ln w="12700">
            <a:solidFill>
              <a:srgbClr val="B26A00"/>
            </a:solidFill>
            <a:prstDash val="solid"/>
          </a:ln>
        </p:spPr>
      </p:sp>
      <p:sp>
        <p:nvSpPr>
          <p:cNvPr id="30" name="Text 25"/>
          <p:cNvSpPr/>
          <p:nvPr/>
        </p:nvSpPr>
        <p:spPr>
          <a:xfrm>
            <a:off x="4518050" y="3745992"/>
            <a:ext cx="1104595"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INFRASTRUCTURE</a:t>
            </a:r>
            <a:endParaRPr lang="en-US" sz="850" dirty="0"/>
          </a:p>
        </p:txBody>
      </p:sp>
      <p:sp>
        <p:nvSpPr>
          <p:cNvPr id="31" name="Text 26"/>
          <p:cNvSpPr/>
          <p:nvPr/>
        </p:nvSpPr>
        <p:spPr>
          <a:xfrm>
            <a:off x="4518050" y="4038600"/>
            <a:ext cx="3155594" cy="384048"/>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mbria" pitchFamily="34" charset="0"/>
                <a:ea typeface="Cambria" pitchFamily="34" charset="-122"/>
                <a:cs typeface="Cambria" pitchFamily="34" charset="-120"/>
              </a:rPr>
              <a:t>Four evaluation runs destroyed</a:t>
            </a:r>
            <a:endParaRPr lang="en-US" sz="1250" dirty="0"/>
          </a:p>
        </p:txBody>
      </p:sp>
      <p:sp>
        <p:nvSpPr>
          <p:cNvPr id="32" name="Text 27"/>
          <p:cNvSpPr/>
          <p:nvPr/>
        </p:nvSpPr>
        <p:spPr>
          <a:xfrm>
            <a:off x="4518050" y="4440936"/>
            <a:ext cx="3155594" cy="640080"/>
          </a:xfrm>
          <a:prstGeom prst="rect">
            <a:avLst/>
          </a:prstGeom>
          <a:noFill/>
          <a:ln/>
        </p:spPr>
        <p:txBody>
          <a:bodyPr wrap="square" lIns="0" tIns="0" rIns="0" bIns="0" rtlCol="0" anchor="t"/>
          <a:lstStyle/>
          <a:p>
            <a:pPr indent="0" marL="0">
              <a:lnSpc>
                <a:spcPts val="1180"/>
              </a:lnSpc>
              <a:buNone/>
            </a:pPr>
            <a:r>
              <a:rPr lang="en-US" sz="900" dirty="0">
                <a:solidFill>
                  <a:srgbClr val="8FA3B8"/>
                </a:solidFill>
                <a:latin typeface="Calibri" pitchFamily="34" charset="0"/>
                <a:ea typeface="Calibri" pitchFamily="34" charset="-122"/>
                <a:cs typeface="Calibri" pitchFamily="34" charset="-120"/>
              </a:rPr>
              <a:t>ragas scores a failed judge call as 0, so a broken run still produces a complete, confident-looking report. We discarded four — including one where 110 of 136 calls failed.</a:t>
            </a:r>
            <a:endParaRPr lang="en-US" sz="900" dirty="0"/>
          </a:p>
        </p:txBody>
      </p:sp>
      <p:sp>
        <p:nvSpPr>
          <p:cNvPr id="33" name="Shape 28"/>
          <p:cNvSpPr/>
          <p:nvPr/>
        </p:nvSpPr>
        <p:spPr>
          <a:xfrm>
            <a:off x="8066837" y="3581400"/>
            <a:ext cx="3557930" cy="1572768"/>
          </a:xfrm>
          <a:prstGeom prst="roundRect">
            <a:avLst>
              <a:gd name="adj" fmla="val 3488"/>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34" name="Shape 29"/>
          <p:cNvSpPr/>
          <p:nvPr/>
        </p:nvSpPr>
        <p:spPr>
          <a:xfrm>
            <a:off x="8268005" y="3745992"/>
            <a:ext cx="1236269" cy="219456"/>
          </a:xfrm>
          <a:prstGeom prst="roundRect">
            <a:avLst>
              <a:gd name="adj" fmla="val 50000"/>
            </a:avLst>
          </a:prstGeom>
          <a:solidFill>
            <a:srgbClr val="9FB3C8"/>
          </a:solidFill>
          <a:ln w="12700">
            <a:solidFill>
              <a:srgbClr val="9FB3C8"/>
            </a:solidFill>
            <a:prstDash val="solid"/>
          </a:ln>
        </p:spPr>
      </p:sp>
      <p:sp>
        <p:nvSpPr>
          <p:cNvPr id="35" name="Text 30"/>
          <p:cNvSpPr/>
          <p:nvPr/>
        </p:nvSpPr>
        <p:spPr>
          <a:xfrm>
            <a:off x="8268005" y="3745992"/>
            <a:ext cx="1236269" cy="219456"/>
          </a:xfrm>
          <a:prstGeom prst="rect">
            <a:avLst/>
          </a:prstGeom>
          <a:noFill/>
          <a:ln/>
        </p:spPr>
        <p:txBody>
          <a:bodyPr wrap="square" lIns="0" tIns="0" rIns="0" bIns="0" rtlCol="0" anchor="ctr"/>
          <a:lstStyle/>
          <a:p>
            <a:pPr algn="ctr" indent="0" marL="0">
              <a:buNone/>
            </a:pPr>
            <a:r>
              <a:rPr lang="en-US" sz="850" b="1" spc="50" kern="0" dirty="0">
                <a:solidFill>
                  <a:srgbClr val="0E1A2B"/>
                </a:solidFill>
                <a:latin typeface="Calibri" pitchFamily="34" charset="0"/>
                <a:ea typeface="Calibri" pitchFamily="34" charset="-122"/>
                <a:cs typeface="Calibri" pitchFamily="34" charset="-120"/>
              </a:rPr>
              <a:t>OUR OWN ANALYSIS</a:t>
            </a:r>
            <a:endParaRPr lang="en-US" sz="850" dirty="0"/>
          </a:p>
        </p:txBody>
      </p:sp>
      <p:sp>
        <p:nvSpPr>
          <p:cNvPr id="36" name="Text 31"/>
          <p:cNvSpPr/>
          <p:nvPr/>
        </p:nvSpPr>
        <p:spPr>
          <a:xfrm>
            <a:off x="8268005" y="4038600"/>
            <a:ext cx="3155594" cy="384048"/>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mbria" pitchFamily="34" charset="0"/>
                <a:ea typeface="Cambria" pitchFamily="34" charset="-122"/>
                <a:cs typeface="Cambria" pitchFamily="34" charset="-120"/>
              </a:rPr>
              <a:t>Two conclusions we had to withdraw</a:t>
            </a:r>
            <a:endParaRPr lang="en-US" sz="1250" dirty="0"/>
          </a:p>
        </p:txBody>
      </p:sp>
      <p:sp>
        <p:nvSpPr>
          <p:cNvPr id="37" name="Text 32"/>
          <p:cNvSpPr/>
          <p:nvPr/>
        </p:nvSpPr>
        <p:spPr>
          <a:xfrm>
            <a:off x="8268005" y="4440936"/>
            <a:ext cx="3155594" cy="640080"/>
          </a:xfrm>
          <a:prstGeom prst="rect">
            <a:avLst/>
          </a:prstGeom>
          <a:noFill/>
          <a:ln/>
        </p:spPr>
        <p:txBody>
          <a:bodyPr wrap="square" lIns="0" tIns="0" rIns="0" bIns="0" rtlCol="0" anchor="t"/>
          <a:lstStyle/>
          <a:p>
            <a:pPr indent="0" marL="0">
              <a:lnSpc>
                <a:spcPts val="1180"/>
              </a:lnSpc>
              <a:buNone/>
            </a:pPr>
            <a:r>
              <a:rPr lang="en-US" sz="900" dirty="0">
                <a:solidFill>
                  <a:srgbClr val="8FA3B8"/>
                </a:solidFill>
                <a:latin typeface="Calibri" pitchFamily="34" charset="0"/>
                <a:ea typeface="Calibri" pitchFamily="34" charset="-122"/>
                <a:cs typeface="Calibri" pitchFamily="34" charset="-120"/>
              </a:rPr>
              <a:t>A baseline comparison silently used a 3-question report instead of the 34-question one; and we called a retrieval failure a spelling problem that the next measurement disproved.</a:t>
            </a:r>
            <a:endParaRPr lang="en-US" sz="900" dirty="0"/>
          </a:p>
        </p:txBody>
      </p:sp>
      <p:sp>
        <p:nvSpPr>
          <p:cNvPr id="38" name="Text 33"/>
          <p:cNvSpPr/>
          <p:nvPr/>
        </p:nvSpPr>
        <p:spPr>
          <a:xfrm>
            <a:off x="566928" y="5446776"/>
            <a:ext cx="11057839" cy="402336"/>
          </a:xfrm>
          <a:prstGeom prst="rect">
            <a:avLst/>
          </a:prstGeom>
          <a:noFill/>
          <a:ln/>
        </p:spPr>
        <p:txBody>
          <a:bodyPr wrap="square" lIns="0" tIns="0" rIns="0" bIns="0" rtlCol="0" anchor="ctr"/>
          <a:lstStyle/>
          <a:p>
            <a:pPr indent="0" marL="0">
              <a:lnSpc>
                <a:spcPts val="1400"/>
              </a:lnSpc>
              <a:buNone/>
            </a:pPr>
            <a:r>
              <a:rPr lang="en-US" sz="1050" i="1" dirty="0">
                <a:solidFill>
                  <a:srgbClr val="6B7A8C"/>
                </a:solidFill>
                <a:latin typeface="Calibri" pitchFamily="34" charset="0"/>
                <a:ea typeface="Calibri" pitchFamily="34" charset="-122"/>
                <a:cs typeface="Calibri" pitchFamily="34" charset="-120"/>
              </a:rPr>
              <a:t>Every one of these is written up with the evidence that found it and the test that now prevents it. The ones we are least comfortable with are the silent failures — the runs and the chunks that looked fine and were not.</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66928" y="6108192"/>
            <a:ext cx="4306229" cy="585216"/>
          </a:xfrm>
          <a:prstGeom prst="roundRect">
            <a:avLst>
              <a:gd name="adj" fmla="val 9375"/>
            </a:avLst>
          </a:prstGeom>
          <a:solidFill>
            <a:srgbClr val="FFFFFF"/>
          </a:solidFill>
          <a:ln w="12700">
            <a:solidFill>
              <a:srgbClr val="FFFFFF"/>
            </a:solidFill>
            <a:prstDash val="solid"/>
          </a:ln>
        </p:spPr>
      </p:sp>
      <p:pic>
        <p:nvPicPr>
          <p:cNvPr id="3" name="Image 0" descr="/Users/Marwan/Projects/athletic-dietry-rag/presentation/assets/logos/creativa.png">    </p:cNvPr>
          <p:cNvPicPr>
            <a:picLocks noChangeAspect="1"/>
          </p:cNvPicPr>
          <p:nvPr/>
        </p:nvPicPr>
        <p:blipFill>
          <a:blip r:embed="rId1"/>
          <a:stretch>
            <a:fillRect/>
          </a:stretch>
        </p:blipFill>
        <p:spPr>
          <a:xfrm>
            <a:off x="731520" y="6208776"/>
            <a:ext cx="356021" cy="384048"/>
          </a:xfrm>
          <a:prstGeom prst="rect">
            <a:avLst/>
          </a:prstGeom>
        </p:spPr>
      </p:pic>
      <p:pic>
        <p:nvPicPr>
          <p:cNvPr id="4" name="Image 1" descr="/Users/Marwan/Projects/athletic-dietry-rag/presentation/assets/logos/instant.png">    </p:cNvPr>
          <p:cNvPicPr>
            <a:picLocks noChangeAspect="1"/>
          </p:cNvPicPr>
          <p:nvPr/>
        </p:nvPicPr>
        <p:blipFill>
          <a:blip r:embed="rId2"/>
          <a:stretch>
            <a:fillRect/>
          </a:stretch>
        </p:blipFill>
        <p:spPr>
          <a:xfrm>
            <a:off x="1416725" y="6305902"/>
            <a:ext cx="1481328" cy="189795"/>
          </a:xfrm>
          <a:prstGeom prst="rect">
            <a:avLst/>
          </a:prstGeom>
        </p:spPr>
      </p:pic>
      <p:pic>
        <p:nvPicPr>
          <p:cNvPr id="5" name="Image 2" descr="/Users/Marwan/Projects/athletic-dietry-rag/presentation/assets/logos/orange.png">    </p:cNvPr>
          <p:cNvPicPr>
            <a:picLocks noChangeAspect="1"/>
          </p:cNvPicPr>
          <p:nvPr/>
        </p:nvPicPr>
        <p:blipFill>
          <a:blip r:embed="rId3"/>
          <a:stretch>
            <a:fillRect/>
          </a:stretch>
        </p:blipFill>
        <p:spPr>
          <a:xfrm>
            <a:off x="3227237" y="6240122"/>
            <a:ext cx="1481328" cy="321355"/>
          </a:xfrm>
          <a:prstGeom prst="rect">
            <a:avLst/>
          </a:prstGeom>
        </p:spPr>
      </p:pic>
      <p:sp>
        <p:nvSpPr>
          <p:cNvPr id="6" name="Text 1"/>
          <p:cNvSpPr/>
          <p:nvPr/>
        </p:nvSpPr>
        <p:spPr>
          <a:xfrm>
            <a:off x="566928" y="914400"/>
            <a:ext cx="7315200" cy="512064"/>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would like you to test</a:t>
            </a:r>
            <a:endParaRPr lang="en-US" sz="3200" dirty="0"/>
          </a:p>
        </p:txBody>
      </p:sp>
      <p:sp>
        <p:nvSpPr>
          <p:cNvPr id="7" name="Text 2"/>
          <p:cNvSpPr/>
          <p:nvPr/>
        </p:nvSpPr>
        <p:spPr>
          <a:xfrm>
            <a:off x="566928" y="1536192"/>
            <a:ext cx="6766560" cy="512064"/>
          </a:xfrm>
          <a:prstGeom prst="rect">
            <a:avLst/>
          </a:prstGeom>
          <a:noFill/>
          <a:ln/>
        </p:spPr>
        <p:txBody>
          <a:bodyPr wrap="square" lIns="0" tIns="0" rIns="0" bIns="0" rtlCol="0" anchor="t"/>
          <a:lstStyle/>
          <a:p>
            <a:pPr indent="0" marL="0">
              <a:lnSpc>
                <a:spcPts val="2000"/>
              </a:lnSpc>
              <a:buNone/>
            </a:pPr>
            <a:r>
              <a:rPr lang="en-US" sz="1400" dirty="0">
                <a:solidFill>
                  <a:srgbClr val="8FA3B8"/>
                </a:solidFill>
                <a:latin typeface="Calibri" pitchFamily="34" charset="0"/>
                <a:ea typeface="Calibri" pitchFamily="34" charset="-122"/>
                <a:cs typeface="Calibri" pitchFamily="34" charset="-120"/>
              </a:rPr>
              <a:t>Give us a question. Any question from the fact sheet's ~21 ingredients — and then one it cannot possibly answer.</a:t>
            </a:r>
            <a:endParaRPr lang="en-US" sz="1400" dirty="0"/>
          </a:p>
        </p:txBody>
      </p:sp>
      <p:sp>
        <p:nvSpPr>
          <p:cNvPr id="8" name="Shape 3"/>
          <p:cNvSpPr/>
          <p:nvPr/>
        </p:nvSpPr>
        <p:spPr>
          <a:xfrm>
            <a:off x="566928" y="2194560"/>
            <a:ext cx="3557930" cy="1517904"/>
          </a:xfrm>
          <a:prstGeom prst="roundRect">
            <a:avLst>
              <a:gd name="adj" fmla="val 3614"/>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9" name="Shape 4"/>
          <p:cNvSpPr/>
          <p:nvPr/>
        </p:nvSpPr>
        <p:spPr>
          <a:xfrm>
            <a:off x="786384" y="2395728"/>
            <a:ext cx="292608" cy="292608"/>
          </a:xfrm>
          <a:prstGeom prst="ellipse">
            <a:avLst/>
          </a:prstGeom>
          <a:solidFill>
            <a:srgbClr val="FF7900"/>
          </a:solidFill>
          <a:ln w="12700">
            <a:solidFill>
              <a:srgbClr val="FF7900"/>
            </a:solidFill>
            <a:prstDash val="solid"/>
          </a:ln>
        </p:spPr>
      </p:sp>
      <p:sp>
        <p:nvSpPr>
          <p:cNvPr id="10" name="Text 5"/>
          <p:cNvSpPr/>
          <p:nvPr/>
        </p:nvSpPr>
        <p:spPr>
          <a:xfrm>
            <a:off x="786384" y="23957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6"/>
          <p:cNvSpPr/>
          <p:nvPr/>
        </p:nvSpPr>
        <p:spPr>
          <a:xfrm>
            <a:off x="786384" y="2779776"/>
            <a:ext cx="3119018"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Ask something comparative</a:t>
            </a:r>
            <a:endParaRPr lang="en-US" sz="1350" dirty="0"/>
          </a:p>
        </p:txBody>
      </p:sp>
      <p:sp>
        <p:nvSpPr>
          <p:cNvPr id="12" name="Text 7"/>
          <p:cNvSpPr/>
          <p:nvPr/>
        </p:nvSpPr>
        <p:spPr>
          <a:xfrm>
            <a:off x="786384" y="3072384"/>
            <a:ext cx="3119018" cy="566928"/>
          </a:xfrm>
          <a:prstGeom prst="rect">
            <a:avLst/>
          </a:prstGeom>
          <a:noFill/>
          <a:ln/>
        </p:spPr>
        <p:txBody>
          <a:bodyPr wrap="square" lIns="0" tIns="0" rIns="0" bIns="0" rtlCol="0" anchor="t"/>
          <a:lstStyle/>
          <a:p>
            <a:pPr indent="0" marL="0">
              <a:lnSpc>
                <a:spcPts val="1300"/>
              </a:lnSpc>
              <a:buNone/>
            </a:pPr>
            <a:r>
              <a:rPr lang="en-US" sz="1000" dirty="0">
                <a:solidFill>
                  <a:srgbClr val="8FA3B8"/>
                </a:solidFill>
                <a:latin typeface="Calibri" pitchFamily="34" charset="0"/>
                <a:ea typeface="Calibri" pitchFamily="34" charset="-122"/>
                <a:cs typeface="Calibri" pitchFamily="34" charset="-120"/>
              </a:rPr>
              <a:t>“HMB or BCAAs for recovery?” — watch the retrieved chunks appear before the answer does.</a:t>
            </a:r>
            <a:endParaRPr lang="en-US" sz="1000" dirty="0"/>
          </a:p>
        </p:txBody>
      </p:sp>
      <p:sp>
        <p:nvSpPr>
          <p:cNvPr id="13" name="Shape 8"/>
          <p:cNvSpPr/>
          <p:nvPr/>
        </p:nvSpPr>
        <p:spPr>
          <a:xfrm>
            <a:off x="4316882" y="2194560"/>
            <a:ext cx="3557930" cy="1517904"/>
          </a:xfrm>
          <a:prstGeom prst="roundRect">
            <a:avLst>
              <a:gd name="adj" fmla="val 3614"/>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14" name="Shape 9"/>
          <p:cNvSpPr/>
          <p:nvPr/>
        </p:nvSpPr>
        <p:spPr>
          <a:xfrm>
            <a:off x="4536338" y="2395728"/>
            <a:ext cx="292608" cy="292608"/>
          </a:xfrm>
          <a:prstGeom prst="ellipse">
            <a:avLst/>
          </a:prstGeom>
          <a:solidFill>
            <a:srgbClr val="FF7900"/>
          </a:solidFill>
          <a:ln w="12700">
            <a:solidFill>
              <a:srgbClr val="FF7900"/>
            </a:solidFill>
            <a:prstDash val="solid"/>
          </a:ln>
        </p:spPr>
      </p:sp>
      <p:sp>
        <p:nvSpPr>
          <p:cNvPr id="15" name="Text 10"/>
          <p:cNvSpPr/>
          <p:nvPr/>
        </p:nvSpPr>
        <p:spPr>
          <a:xfrm>
            <a:off x="4536338" y="23957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1"/>
          <p:cNvSpPr/>
          <p:nvPr/>
        </p:nvSpPr>
        <p:spPr>
          <a:xfrm>
            <a:off x="4536338" y="2779776"/>
            <a:ext cx="3119018"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Check a citation</a:t>
            </a:r>
            <a:endParaRPr lang="en-US" sz="1350" dirty="0"/>
          </a:p>
        </p:txBody>
      </p:sp>
      <p:sp>
        <p:nvSpPr>
          <p:cNvPr id="17" name="Text 12"/>
          <p:cNvSpPr/>
          <p:nvPr/>
        </p:nvSpPr>
        <p:spPr>
          <a:xfrm>
            <a:off x="4536338" y="3072384"/>
            <a:ext cx="3119018" cy="566928"/>
          </a:xfrm>
          <a:prstGeom prst="rect">
            <a:avLst/>
          </a:prstGeom>
          <a:noFill/>
          <a:ln/>
        </p:spPr>
        <p:txBody>
          <a:bodyPr wrap="square" lIns="0" tIns="0" rIns="0" bIns="0" rtlCol="0" anchor="t"/>
          <a:lstStyle/>
          <a:p>
            <a:pPr indent="0" marL="0">
              <a:lnSpc>
                <a:spcPts val="1300"/>
              </a:lnSpc>
              <a:buNone/>
            </a:pPr>
            <a:r>
              <a:rPr lang="en-US" sz="1000" dirty="0">
                <a:solidFill>
                  <a:srgbClr val="8FA3B8"/>
                </a:solidFill>
                <a:latin typeface="Calibri" pitchFamily="34" charset="0"/>
                <a:ea typeface="Calibri" pitchFamily="34" charset="-122"/>
                <a:cs typeface="Calibri" pitchFamily="34" charset="-120"/>
              </a:rPr>
              <a:t>Take any [n, p. X] and open that page of the source PDF. The page came from the index, not the model.</a:t>
            </a:r>
            <a:endParaRPr lang="en-US" sz="1000" dirty="0"/>
          </a:p>
        </p:txBody>
      </p:sp>
      <p:sp>
        <p:nvSpPr>
          <p:cNvPr id="18" name="Shape 13"/>
          <p:cNvSpPr/>
          <p:nvPr/>
        </p:nvSpPr>
        <p:spPr>
          <a:xfrm>
            <a:off x="8066837" y="2194560"/>
            <a:ext cx="3557930" cy="1517904"/>
          </a:xfrm>
          <a:prstGeom prst="roundRect">
            <a:avLst>
              <a:gd name="adj" fmla="val 3614"/>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19" name="Shape 14"/>
          <p:cNvSpPr/>
          <p:nvPr/>
        </p:nvSpPr>
        <p:spPr>
          <a:xfrm>
            <a:off x="8286293" y="2395728"/>
            <a:ext cx="292608" cy="292608"/>
          </a:xfrm>
          <a:prstGeom prst="ellipse">
            <a:avLst/>
          </a:prstGeom>
          <a:solidFill>
            <a:srgbClr val="FF7900"/>
          </a:solidFill>
          <a:ln w="12700">
            <a:solidFill>
              <a:srgbClr val="FF7900"/>
            </a:solidFill>
            <a:prstDash val="solid"/>
          </a:ln>
        </p:spPr>
      </p:sp>
      <p:sp>
        <p:nvSpPr>
          <p:cNvPr id="20" name="Text 15"/>
          <p:cNvSpPr/>
          <p:nvPr/>
        </p:nvSpPr>
        <p:spPr>
          <a:xfrm>
            <a:off x="8286293" y="23957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6"/>
          <p:cNvSpPr/>
          <p:nvPr/>
        </p:nvSpPr>
        <p:spPr>
          <a:xfrm>
            <a:off x="8286293" y="2779776"/>
            <a:ext cx="3119018"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Try to break it</a:t>
            </a:r>
            <a:endParaRPr lang="en-US" sz="1350" dirty="0"/>
          </a:p>
        </p:txBody>
      </p:sp>
      <p:sp>
        <p:nvSpPr>
          <p:cNvPr id="22" name="Text 17"/>
          <p:cNvSpPr/>
          <p:nvPr/>
        </p:nvSpPr>
        <p:spPr>
          <a:xfrm>
            <a:off x="8286293" y="3072384"/>
            <a:ext cx="3119018" cy="566928"/>
          </a:xfrm>
          <a:prstGeom prst="rect">
            <a:avLst/>
          </a:prstGeom>
          <a:noFill/>
          <a:ln/>
        </p:spPr>
        <p:txBody>
          <a:bodyPr wrap="square" lIns="0" tIns="0" rIns="0" bIns="0" rtlCol="0" anchor="t"/>
          <a:lstStyle/>
          <a:p>
            <a:pPr indent="0" marL="0">
              <a:lnSpc>
                <a:spcPts val="1300"/>
              </a:lnSpc>
              <a:buNone/>
            </a:pPr>
            <a:r>
              <a:rPr lang="en-US" sz="1000" dirty="0">
                <a:solidFill>
                  <a:srgbClr val="8FA3B8"/>
                </a:solidFill>
                <a:latin typeface="Calibri" pitchFamily="34" charset="0"/>
                <a:ea typeface="Calibri" pitchFamily="34" charset="-122"/>
                <a:cs typeface="Calibri" pitchFamily="34" charset="-120"/>
              </a:rPr>
              <a:t>Ask for a carbohydrate loading protocol. The fact sheet does not cover it, and the system will tell you so.</a:t>
            </a:r>
            <a:endParaRPr lang="en-US" sz="1000" dirty="0"/>
          </a:p>
        </p:txBody>
      </p:sp>
      <p:sp>
        <p:nvSpPr>
          <p:cNvPr id="23" name="Shape 18"/>
          <p:cNvSpPr/>
          <p:nvPr/>
        </p:nvSpPr>
        <p:spPr>
          <a:xfrm>
            <a:off x="566928" y="3840480"/>
            <a:ext cx="6949440" cy="969264"/>
          </a:xfrm>
          <a:prstGeom prst="roundRect">
            <a:avLst>
              <a:gd name="adj" fmla="val 5660"/>
            </a:avLst>
          </a:prstGeom>
          <a:solidFill>
            <a:srgbClr val="17293E"/>
          </a:solidFill>
          <a:ln w="9525">
            <a:solidFill>
              <a:srgbClr val="2A3D55"/>
            </a:solidFill>
            <a:prstDash val="solid"/>
          </a:ln>
          <a:effectLst>
            <a:outerShdw sx="100000" sy="100000" kx="0" ky="0" algn="bl" rotWithShape="0" blurRad="127000" dist="508" dir="5400000">
              <a:srgbClr val="000000">
                <a:alpha val="35000"/>
              </a:srgbClr>
            </a:outerShdw>
          </a:effectLst>
        </p:spPr>
      </p:sp>
      <p:sp>
        <p:nvSpPr>
          <p:cNvPr id="24" name="Text 19"/>
          <p:cNvSpPr/>
          <p:nvPr/>
        </p:nvSpPr>
        <p:spPr>
          <a:xfrm>
            <a:off x="731520" y="3959352"/>
            <a:ext cx="6620256" cy="731520"/>
          </a:xfrm>
          <a:prstGeom prst="rect">
            <a:avLst/>
          </a:prstGeom>
          <a:noFill/>
          <a:ln/>
        </p:spPr>
        <p:txBody>
          <a:bodyPr wrap="square" lIns="0" tIns="0" rIns="0" bIns="0" rtlCol="0" anchor="t"/>
          <a:lstStyle/>
          <a:p>
            <a:pPr indent="0" marL="0">
              <a:lnSpc>
                <a:spcPts val="1400"/>
              </a:lnSpc>
              <a:buNone/>
            </a:pPr>
            <a:r>
              <a:rPr lang="en-US" sz="950" dirty="0">
                <a:solidFill>
                  <a:srgbClr val="C9D6E4"/>
                </a:solidFill>
                <a:latin typeface="Courier New" pitchFamily="34" charset="0"/>
                <a:ea typeface="Courier New" pitchFamily="34" charset="-122"/>
                <a:cs typeface="Courier New" pitchFamily="34" charset="-120"/>
              </a:rPr>
              <a:t>$  python -m rag.cli query "Does creatine improve performance?" --answer</a:t>
            </a:r>
            <a:endParaRPr lang="en-US" sz="950" dirty="0"/>
          </a:p>
          <a:p>
            <a:pPr indent="0" marL="0">
              <a:lnSpc>
                <a:spcPts val="1400"/>
              </a:lnSpc>
              <a:buNone/>
            </a:pPr>
            <a:r>
              <a:rPr lang="en-US" sz="950" dirty="0">
                <a:solidFill>
                  <a:srgbClr val="C9D6E4"/>
                </a:solidFill>
                <a:latin typeface="Courier New" pitchFamily="34" charset="0"/>
                <a:ea typeface="Courier New" pitchFamily="34" charset="-122"/>
                <a:cs typeface="Courier New" pitchFamily="34" charset="-120"/>
              </a:rPr>
              <a:t>$  python -m evaluation run</a:t>
            </a:r>
            <a:endParaRPr lang="en-US" sz="950" dirty="0"/>
          </a:p>
          <a:p>
            <a:pPr indent="0" marL="0">
              <a:lnSpc>
                <a:spcPts val="1400"/>
              </a:lnSpc>
              <a:buNone/>
            </a:pPr>
            <a:r>
              <a:rPr lang="en-US" sz="950" dirty="0">
                <a:solidFill>
                  <a:srgbClr val="C9D6E4"/>
                </a:solidFill>
                <a:latin typeface="Courier New" pitchFamily="34" charset="0"/>
                <a:ea typeface="Courier New" pitchFamily="34" charset="-122"/>
                <a:cs typeface="Courier New" pitchFamily="34" charset="-120"/>
              </a:rPr>
              <a:t>$  python tests/test_pipeline.py        # 54 passing</a:t>
            </a:r>
            <a:endParaRPr lang="en-US" sz="950" dirty="0"/>
          </a:p>
          <a:p>
            <a:pPr indent="0" marL="0">
              <a:lnSpc>
                <a:spcPts val="1400"/>
              </a:lnSpc>
              <a:buNone/>
            </a:pPr>
            <a:r>
              <a:rPr lang="en-US" sz="950" dirty="0">
                <a:solidFill>
                  <a:srgbClr val="C9D6E4"/>
                </a:solidFill>
                <a:latin typeface="Courier New" pitchFamily="34" charset="0"/>
                <a:ea typeface="Courier New" pitchFamily="34" charset="-122"/>
                <a:cs typeface="Courier New" pitchFamily="34" charset="-120"/>
              </a:rPr>
              <a:t>$  python tests/test_evaluation.py      # 12 passing</a:t>
            </a:r>
            <a:endParaRPr lang="en-US" sz="950" dirty="0"/>
          </a:p>
        </p:txBody>
      </p:sp>
      <p:sp>
        <p:nvSpPr>
          <p:cNvPr id="25" name="Text 20"/>
          <p:cNvSpPr/>
          <p:nvPr/>
        </p:nvSpPr>
        <p:spPr>
          <a:xfrm>
            <a:off x="7717536" y="3840480"/>
            <a:ext cx="3907231" cy="969264"/>
          </a:xfrm>
          <a:prstGeom prst="rect">
            <a:avLst/>
          </a:prstGeom>
          <a:noFill/>
          <a:ln/>
        </p:spPr>
        <p:txBody>
          <a:bodyPr wrap="square" lIns="0" tIns="0" rIns="0" bIns="0" rtlCol="0" anchor="t"/>
          <a:lstStyle/>
          <a:p>
            <a:pPr indent="0" marL="0">
              <a:lnSpc>
                <a:spcPts val="1350"/>
              </a:lnSpc>
              <a:buNone/>
            </a:pPr>
            <a:r>
              <a:rPr lang="en-US" sz="1000" i="1" dirty="0">
                <a:solidFill>
                  <a:srgbClr val="6B7A8C"/>
                </a:solidFill>
                <a:latin typeface="Calibri" pitchFamily="34" charset="0"/>
                <a:ea typeface="Calibri" pitchFamily="34" charset="-122"/>
                <a:cs typeface="Calibri" pitchFamily="34" charset="-120"/>
              </a:rPr>
              <a:t>Everything on these slides is reproducible from the repository: the source PDF, the golden set, the evaluation reports and the engineering log that records every figure and where it came from.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Creativa · Instant · Orange Digital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Supplement Assistant — Technical Appendix</dc:title>
  <dc:subject>PptxGenJS Presentation</dc:subject>
  <dc:creator>Team — Evidence-Based Supplement Assistant</dc:creator>
  <cp:lastModifiedBy>Team — Evidence-Based Supplement Assistant</cp:lastModifiedBy>
  <cp:revision>1</cp:revision>
  <dcterms:created xsi:type="dcterms:W3CDTF">2026-08-20T08:36:52Z</dcterms:created>
  <dcterms:modified xsi:type="dcterms:W3CDTF">2026-08-20T08:36:52Z</dcterms:modified>
</cp:coreProperties>
</file>