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'Two thirds of the athletes in this fact sheet take supplements. Ask a chatbot which ones work and it will tell you — fluently, and with nothing behind it. That gap is what we built for.'
Five to seven minutes. Problem, why a model alone fails, architecture, the retrieval problem in three stages, the evidence, what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point: the information is public and already paid for by the taxpayer. What is missing is a way to ask it a question and get an answer you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from business to technical. Say it plainly: we did not make the model smarter, we made it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about chunk size: 600 characters with 100 overlap, cut at headings so no chunk mixes two ingredients. Tuned on the Chunks tab before paying for any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a cross-encoder: it would mean pulling in torch against a deliberately light dependency set. The listwise LLM reranker goes through the client we already had, and no new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where it fails: negation questions (which ingredients have no evidence) and questions asking for a value the page never states. Retrieving more chunks cannot surface an absence — that needs a different mechanism, not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Then offer the live demo: a judge-chosen question, chunks shown before the answer, then an out-of-scope question to show the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572768"/>
            <a:ext cx="11057839" cy="274320"/>
          </a:xfrm>
          <a:prstGeom prst="rect">
            <a:avLst/>
          </a:prstGeom>
          <a:noFill/>
          <a:ln/>
        </p:spPr>
        <p:txBody>
          <a:bodyPr wrap="square" lIns="0" tIns="0" rIns="0" bIns="0" rtlCol="0" anchor="ctr"/>
          <a:lstStyle/>
          <a:p>
            <a:pPr indent="0" marL="0">
              <a:buNone/>
            </a:pPr>
            <a:r>
              <a:rPr lang="en-US" sz="1100" b="1" spc="150" kern="0" dirty="0">
                <a:solidFill>
                  <a:srgbClr val="FF7900"/>
                </a:solidFill>
                <a:latin typeface="Calibri" pitchFamily="34" charset="0"/>
                <a:ea typeface="Calibri" pitchFamily="34" charset="-122"/>
                <a:cs typeface="Calibri" pitchFamily="34" charset="-120"/>
              </a:rPr>
              <a:t>AI CLINICAL DECISION SUPPORT LITE  ·  HACKATHON 2026</a:t>
            </a:r>
            <a:endParaRPr lang="en-US" sz="1100" dirty="0"/>
          </a:p>
        </p:txBody>
      </p:sp>
      <p:sp>
        <p:nvSpPr>
          <p:cNvPr id="7" name="Text 2"/>
          <p:cNvSpPr/>
          <p:nvPr/>
        </p:nvSpPr>
        <p:spPr>
          <a:xfrm>
            <a:off x="566928" y="1956816"/>
            <a:ext cx="7863840" cy="1737360"/>
          </a:xfrm>
          <a:prstGeom prst="rect">
            <a:avLst/>
          </a:prstGeom>
          <a:noFill/>
          <a:ln/>
        </p:spPr>
        <p:txBody>
          <a:bodyPr wrap="square" lIns="0" tIns="0" rIns="0" bIns="0" rtlCol="0" anchor="t"/>
          <a:lstStyle/>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Evidence-Based</a:t>
            </a:r>
            <a:endParaRPr lang="en-US" sz="5000" dirty="0"/>
          </a:p>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Supplement Assistant</a:t>
            </a:r>
            <a:endParaRPr lang="en-US" sz="5000" dirty="0"/>
          </a:p>
        </p:txBody>
      </p:sp>
      <p:sp>
        <p:nvSpPr>
          <p:cNvPr id="8" name="Text 3"/>
          <p:cNvSpPr/>
          <p:nvPr/>
        </p:nvSpPr>
        <p:spPr>
          <a:xfrm>
            <a:off x="566928" y="3767328"/>
            <a:ext cx="6949440" cy="786384"/>
          </a:xfrm>
          <a:prstGeom prst="rect">
            <a:avLst/>
          </a:prstGeom>
          <a:noFill/>
          <a:ln/>
        </p:spPr>
        <p:txBody>
          <a:bodyPr wrap="square" lIns="0" tIns="0" rIns="0" bIns="0" rtlCol="0" anchor="t"/>
          <a:lstStyle/>
          <a:p>
            <a:pPr indent="0" marL="0">
              <a:lnSpc>
                <a:spcPts val="2200"/>
              </a:lnSpc>
              <a:buNone/>
            </a:pPr>
            <a:r>
              <a:rPr lang="en-US" sz="1500" dirty="0">
                <a:solidFill>
                  <a:srgbClr val="8FA3B8"/>
                </a:solidFill>
                <a:latin typeface="Calibri" pitchFamily="34" charset="0"/>
                <a:ea typeface="Calibri" pitchFamily="34" charset="-122"/>
                <a:cs typeface="Calibri" pitchFamily="34" charset="-120"/>
              </a:rPr>
              <a:t>Answers sports-nutrition questions from one official NIH fact sheet — and cites the page every claim came from.</a:t>
            </a:r>
            <a:endParaRPr lang="en-US" sz="1500" dirty="0"/>
          </a:p>
        </p:txBody>
      </p:sp>
      <p:sp>
        <p:nvSpPr>
          <p:cNvPr id="9" name="Shape 4"/>
          <p:cNvSpPr/>
          <p:nvPr/>
        </p:nvSpPr>
        <p:spPr>
          <a:xfrm>
            <a:off x="8613648" y="2011680"/>
            <a:ext cx="3017520" cy="1005840"/>
          </a:xfrm>
          <a:prstGeom prst="roundRect">
            <a:avLst>
              <a:gd name="adj" fmla="val 5455"/>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0" name="Text 5"/>
          <p:cNvSpPr/>
          <p:nvPr/>
        </p:nvSpPr>
        <p:spPr>
          <a:xfrm>
            <a:off x="8778240" y="2130552"/>
            <a:ext cx="2688336" cy="768096"/>
          </a:xfrm>
          <a:prstGeom prst="rect">
            <a:avLst/>
          </a:prstGeom>
          <a:noFill/>
          <a:ln/>
        </p:spPr>
        <p:txBody>
          <a:bodyPr wrap="square" lIns="0" tIns="0" rIns="0" bIns="0" rtlCol="0" anchor="t"/>
          <a:lstStyle/>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Loading is 20 g/day of</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creatine monohydrate in</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four portions of 5 g</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[1, p. 19].</a:t>
            </a:r>
            <a:endParaRPr lang="en-US" sz="1050" dirty="0"/>
          </a:p>
        </p:txBody>
      </p:sp>
      <p:sp>
        <p:nvSpPr>
          <p:cNvPr id="11" name="Text 6"/>
          <p:cNvSpPr/>
          <p:nvPr/>
        </p:nvSpPr>
        <p:spPr>
          <a:xfrm>
            <a:off x="8613648" y="3108960"/>
            <a:ext cx="3017520" cy="548640"/>
          </a:xfrm>
          <a:prstGeom prst="rect">
            <a:avLst/>
          </a:prstGeom>
          <a:noFill/>
          <a:ln/>
        </p:spPr>
        <p:txBody>
          <a:bodyPr wrap="square" lIns="0" tIns="0" rIns="0" bIns="0" rtlCol="0" anchor="ctr"/>
          <a:lstStyle/>
          <a:p>
            <a:pPr indent="0" marL="0">
              <a:lnSpc>
                <a:spcPts val="1300"/>
              </a:lnSpc>
              <a:buNone/>
            </a:pPr>
            <a:r>
              <a:rPr lang="en-US" sz="950" i="1" dirty="0">
                <a:solidFill>
                  <a:srgbClr val="6B7A8C"/>
                </a:solidFill>
                <a:latin typeface="Calibri" pitchFamily="34" charset="0"/>
                <a:ea typeface="Calibri" pitchFamily="34" charset="-122"/>
                <a:cs typeface="Calibri" pitchFamily="34" charset="-120"/>
              </a:rPr>
              <a:t>↑  the page is checked against the index,</a:t>
            </a:r>
            <a:endParaRPr lang="en-US" sz="950" dirty="0"/>
          </a:p>
          <a:p>
            <a:pPr indent="0" marL="0">
              <a:lnSpc>
                <a:spcPts val="1300"/>
              </a:lnSpc>
              <a:buNone/>
            </a:pPr>
            <a:r>
              <a:rPr lang="en-US" sz="950" i="1" dirty="0">
                <a:solidFill>
                  <a:srgbClr val="6B7A8C"/>
                </a:solidFill>
                <a:latin typeface="Calibri" pitchFamily="34" charset="0"/>
                <a:ea typeface="Calibri" pitchFamily="34" charset="-122"/>
                <a:cs typeface="Calibri" pitchFamily="34" charset="-120"/>
              </a:rPr>
              <a:t>    never taken from the model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PROBLEM</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Most people who train take supplements. Almost none can check them.</a:t>
            </a:r>
            <a:endParaRPr lang="en-US" sz="3000" dirty="0"/>
          </a:p>
        </p:txBody>
      </p:sp>
      <p:sp>
        <p:nvSpPr>
          <p:cNvPr id="7" name="Shape 2"/>
          <p:cNvSpPr/>
          <p:nvPr/>
        </p:nvSpPr>
        <p:spPr>
          <a:xfrm>
            <a:off x="566928" y="1880616"/>
            <a:ext cx="2620442" cy="1627632"/>
          </a:xfrm>
          <a:prstGeom prst="roundRect">
            <a:avLst>
              <a:gd name="adj" fmla="val 3371"/>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8" name="Text 3"/>
          <p:cNvSpPr/>
          <p:nvPr/>
        </p:nvSpPr>
        <p:spPr>
          <a:xfrm>
            <a:off x="786384" y="2026920"/>
            <a:ext cx="2181530" cy="548640"/>
          </a:xfrm>
          <a:prstGeom prst="rect">
            <a:avLst/>
          </a:prstGeom>
          <a:noFill/>
          <a:ln/>
        </p:spPr>
        <p:txBody>
          <a:bodyPr wrap="square" lIns="0" tIns="0" rIns="0" bIns="0" rtlCol="0" anchor="ctr"/>
          <a:lstStyle/>
          <a:p>
            <a:pPr indent="0" marL="0">
              <a:buNone/>
            </a:pPr>
            <a:r>
              <a:rPr lang="en-US" sz="3400" b="1" dirty="0">
                <a:solidFill>
                  <a:srgbClr val="0E1A2B"/>
                </a:solidFill>
                <a:latin typeface="Cambria" pitchFamily="34" charset="0"/>
                <a:ea typeface="Cambria" pitchFamily="34" charset="-122"/>
                <a:cs typeface="Cambria" pitchFamily="34" charset="-120"/>
              </a:rPr>
              <a:t>66%</a:t>
            </a:r>
            <a:endParaRPr lang="en-US" sz="3400" dirty="0"/>
          </a:p>
        </p:txBody>
      </p:sp>
      <p:sp>
        <p:nvSpPr>
          <p:cNvPr id="9" name="Text 4"/>
          <p:cNvSpPr/>
          <p:nvPr/>
        </p:nvSpPr>
        <p:spPr>
          <a:xfrm>
            <a:off x="786384" y="2612136"/>
            <a:ext cx="2181530" cy="51206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surveyed US college</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students take a supplement</a:t>
            </a:r>
            <a:endParaRPr lang="en-US" sz="1050" dirty="0"/>
          </a:p>
        </p:txBody>
      </p:sp>
      <p:sp>
        <p:nvSpPr>
          <p:cNvPr id="10" name="Text 5"/>
          <p:cNvSpPr/>
          <p:nvPr/>
        </p:nvSpPr>
        <p:spPr>
          <a:xfrm>
            <a:off x="786384" y="3160776"/>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11" name="Shape 6"/>
          <p:cNvSpPr/>
          <p:nvPr/>
        </p:nvSpPr>
        <p:spPr>
          <a:xfrm>
            <a:off x="3379394" y="1880616"/>
            <a:ext cx="2620442" cy="1627632"/>
          </a:xfrm>
          <a:prstGeom prst="roundRect">
            <a:avLst>
              <a:gd name="adj" fmla="val 3371"/>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2" name="Text 7"/>
          <p:cNvSpPr/>
          <p:nvPr/>
        </p:nvSpPr>
        <p:spPr>
          <a:xfrm>
            <a:off x="3598850" y="2026920"/>
            <a:ext cx="2181530" cy="548640"/>
          </a:xfrm>
          <a:prstGeom prst="rect">
            <a:avLst/>
          </a:prstGeom>
          <a:noFill/>
          <a:ln/>
        </p:spPr>
        <p:txBody>
          <a:bodyPr wrap="square" lIns="0" tIns="0" rIns="0" bIns="0" rtlCol="0" anchor="ctr"/>
          <a:lstStyle/>
          <a:p>
            <a:pPr indent="0" marL="0">
              <a:buNone/>
            </a:pPr>
            <a:r>
              <a:rPr lang="en-US" sz="3400" b="1" dirty="0">
                <a:solidFill>
                  <a:srgbClr val="0E1A2B"/>
                </a:solidFill>
                <a:latin typeface="Cambria" pitchFamily="34" charset="0"/>
                <a:ea typeface="Cambria" pitchFamily="34" charset="-122"/>
                <a:cs typeface="Cambria" pitchFamily="34" charset="-120"/>
              </a:rPr>
              <a:t>42%</a:t>
            </a:r>
            <a:endParaRPr lang="en-US" sz="3400" dirty="0"/>
          </a:p>
        </p:txBody>
      </p:sp>
      <p:sp>
        <p:nvSpPr>
          <p:cNvPr id="13" name="Text 8"/>
          <p:cNvSpPr/>
          <p:nvPr/>
        </p:nvSpPr>
        <p:spPr>
          <a:xfrm>
            <a:off x="3598850" y="2612136"/>
            <a:ext cx="2181530" cy="51206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~21,000 college athletes</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take protein products</a:t>
            </a:r>
            <a:endParaRPr lang="en-US" sz="1050" dirty="0"/>
          </a:p>
        </p:txBody>
      </p:sp>
      <p:sp>
        <p:nvSpPr>
          <p:cNvPr id="14" name="Text 9"/>
          <p:cNvSpPr/>
          <p:nvPr/>
        </p:nvSpPr>
        <p:spPr>
          <a:xfrm>
            <a:off x="3598850" y="3160776"/>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15" name="Shape 10"/>
          <p:cNvSpPr/>
          <p:nvPr/>
        </p:nvSpPr>
        <p:spPr>
          <a:xfrm>
            <a:off x="6191860" y="1880616"/>
            <a:ext cx="2620442" cy="1627632"/>
          </a:xfrm>
          <a:prstGeom prst="roundRect">
            <a:avLst>
              <a:gd name="adj" fmla="val 3371"/>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6" name="Text 11"/>
          <p:cNvSpPr/>
          <p:nvPr/>
        </p:nvSpPr>
        <p:spPr>
          <a:xfrm>
            <a:off x="6411316" y="2026920"/>
            <a:ext cx="2181530" cy="548640"/>
          </a:xfrm>
          <a:prstGeom prst="rect">
            <a:avLst/>
          </a:prstGeom>
          <a:noFill/>
          <a:ln/>
        </p:spPr>
        <p:txBody>
          <a:bodyPr wrap="square" lIns="0" tIns="0" rIns="0" bIns="0" rtlCol="0" anchor="ctr"/>
          <a:lstStyle/>
          <a:p>
            <a:pPr indent="0" marL="0">
              <a:buNone/>
            </a:pPr>
            <a:r>
              <a:rPr lang="en-US" sz="3400" b="1" dirty="0">
                <a:solidFill>
                  <a:srgbClr val="0E1A2B"/>
                </a:solidFill>
                <a:latin typeface="Cambria" pitchFamily="34" charset="0"/>
                <a:ea typeface="Cambria" pitchFamily="34" charset="-122"/>
                <a:cs typeface="Cambria" pitchFamily="34" charset="-120"/>
              </a:rPr>
              <a:t>2 in 3</a:t>
            </a:r>
            <a:endParaRPr lang="en-US" sz="3400" dirty="0"/>
          </a:p>
        </p:txBody>
      </p:sp>
      <p:sp>
        <p:nvSpPr>
          <p:cNvPr id="17" name="Text 12"/>
          <p:cNvSpPr/>
          <p:nvPr/>
        </p:nvSpPr>
        <p:spPr>
          <a:xfrm>
            <a:off x="6411316" y="2612136"/>
            <a:ext cx="2181530" cy="51206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elite track and field athletes,</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across international surveys</a:t>
            </a:r>
            <a:endParaRPr lang="en-US" sz="1050" dirty="0"/>
          </a:p>
        </p:txBody>
      </p:sp>
      <p:sp>
        <p:nvSpPr>
          <p:cNvPr id="18" name="Text 13"/>
          <p:cNvSpPr/>
          <p:nvPr/>
        </p:nvSpPr>
        <p:spPr>
          <a:xfrm>
            <a:off x="6411316" y="3160776"/>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19" name="Shape 14"/>
          <p:cNvSpPr/>
          <p:nvPr/>
        </p:nvSpPr>
        <p:spPr>
          <a:xfrm>
            <a:off x="9004325" y="1880616"/>
            <a:ext cx="2620442" cy="1627632"/>
          </a:xfrm>
          <a:prstGeom prst="roundRect">
            <a:avLst>
              <a:gd name="adj" fmla="val 3371"/>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0" name="Text 15"/>
          <p:cNvSpPr/>
          <p:nvPr/>
        </p:nvSpPr>
        <p:spPr>
          <a:xfrm>
            <a:off x="9223781" y="2026920"/>
            <a:ext cx="2181530" cy="548640"/>
          </a:xfrm>
          <a:prstGeom prst="rect">
            <a:avLst/>
          </a:prstGeom>
          <a:noFill/>
          <a:ln/>
        </p:spPr>
        <p:txBody>
          <a:bodyPr wrap="square" lIns="0" tIns="0" rIns="0" bIns="0" rtlCol="0" anchor="ctr"/>
          <a:lstStyle/>
          <a:p>
            <a:pPr indent="0" marL="0">
              <a:buNone/>
            </a:pPr>
            <a:r>
              <a:rPr lang="en-US" sz="3400" b="1" dirty="0">
                <a:solidFill>
                  <a:srgbClr val="0E1A2B"/>
                </a:solidFill>
                <a:latin typeface="Cambria" pitchFamily="34" charset="0"/>
                <a:ea typeface="Cambria" pitchFamily="34" charset="-122"/>
                <a:cs typeface="Cambria" pitchFamily="34" charset="-120"/>
              </a:rPr>
              <a:t>$5.7bn</a:t>
            </a:r>
            <a:endParaRPr lang="en-US" sz="3400" dirty="0"/>
          </a:p>
        </p:txBody>
      </p:sp>
      <p:sp>
        <p:nvSpPr>
          <p:cNvPr id="21" name="Text 16"/>
          <p:cNvSpPr/>
          <p:nvPr/>
        </p:nvSpPr>
        <p:spPr>
          <a:xfrm>
            <a:off x="9223781" y="2612136"/>
            <a:ext cx="2181530" cy="51206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sports nutrition sold</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in a single year</a:t>
            </a:r>
            <a:endParaRPr lang="en-US" sz="1050" dirty="0"/>
          </a:p>
        </p:txBody>
      </p:sp>
      <p:sp>
        <p:nvSpPr>
          <p:cNvPr id="22" name="Text 17"/>
          <p:cNvSpPr/>
          <p:nvPr/>
        </p:nvSpPr>
        <p:spPr>
          <a:xfrm>
            <a:off x="9223781" y="3160776"/>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23" name="Text 18"/>
          <p:cNvSpPr/>
          <p:nvPr/>
        </p:nvSpPr>
        <p:spPr>
          <a:xfrm>
            <a:off x="566928" y="3617976"/>
            <a:ext cx="11057839" cy="292608"/>
          </a:xfrm>
          <a:prstGeom prst="rect">
            <a:avLst/>
          </a:prstGeom>
          <a:noFill/>
          <a:ln/>
        </p:spPr>
        <p:txBody>
          <a:bodyPr wrap="square" lIns="0" tIns="0" rIns="0" bIns="0" rtlCol="0" anchor="ctr"/>
          <a:lstStyle/>
          <a:p>
            <a:pPr indent="0" marL="0">
              <a:buNone/>
            </a:pPr>
            <a:r>
              <a:rPr lang="en-US" sz="1100" i="1" dirty="0">
                <a:solidFill>
                  <a:srgbClr val="6B7A8C"/>
                </a:solidFill>
                <a:latin typeface="Calibri" pitchFamily="34" charset="0"/>
                <a:ea typeface="Calibri" pitchFamily="34" charset="-122"/>
                <a:cs typeface="Calibri" pitchFamily="34" charset="-120"/>
              </a:rPr>
              <a:t>Every figure above was retrieved from the document this system indexes, by this system — which is the product, demonstrated on itself.</a:t>
            </a:r>
            <a:endParaRPr lang="en-US" sz="1100" dirty="0"/>
          </a:p>
        </p:txBody>
      </p:sp>
      <p:sp>
        <p:nvSpPr>
          <p:cNvPr id="24" name="Shape 19"/>
          <p:cNvSpPr/>
          <p:nvPr/>
        </p:nvSpPr>
        <p:spPr>
          <a:xfrm>
            <a:off x="566928" y="4020312"/>
            <a:ext cx="3557930" cy="1371600"/>
          </a:xfrm>
          <a:prstGeom prst="roundRect">
            <a:avLst>
              <a:gd name="adj" fmla="val 4000"/>
            </a:avLst>
          </a:prstGeom>
          <a:solidFill>
            <a:srgbClr val="F1F4F8"/>
          </a:solidFill>
          <a:ln w="9525">
            <a:solidFill>
              <a:srgbClr val="E3E9F1"/>
            </a:solidFill>
            <a:prstDash val="solid"/>
          </a:ln>
        </p:spPr>
      </p:sp>
      <p:sp>
        <p:nvSpPr>
          <p:cNvPr id="25" name="Text 20"/>
          <p:cNvSpPr/>
          <p:nvPr/>
        </p:nvSpPr>
        <p:spPr>
          <a:xfrm>
            <a:off x="786384" y="4166616"/>
            <a:ext cx="3119018" cy="420624"/>
          </a:xfrm>
          <a:prstGeom prst="rect">
            <a:avLst/>
          </a:prstGeom>
          <a:noFill/>
          <a:ln/>
        </p:spPr>
        <p:txBody>
          <a:bodyPr wrap="square" lIns="0" tIns="0" rIns="0" bIns="0" rtlCol="0" anchor="t"/>
          <a:lstStyle/>
          <a:p>
            <a:pPr indent="0" marL="0">
              <a:lnSpc>
                <a:spcPts val="1600"/>
              </a:lnSpc>
              <a:buNone/>
            </a:pPr>
            <a:r>
              <a:rPr lang="en-US" sz="1300" b="1" dirty="0">
                <a:solidFill>
                  <a:srgbClr val="0E1A2B"/>
                </a:solidFill>
                <a:latin typeface="Cambria" pitchFamily="34" charset="0"/>
                <a:ea typeface="Cambria" pitchFamily="34" charset="-122"/>
                <a:cs typeface="Cambria" pitchFamily="34" charset="-120"/>
              </a:rPr>
              <a:t>The evidence is real, and unreadable</a:t>
            </a:r>
            <a:endParaRPr lang="en-US" sz="1300" dirty="0"/>
          </a:p>
        </p:txBody>
      </p:sp>
      <p:sp>
        <p:nvSpPr>
          <p:cNvPr id="26" name="Text 21"/>
          <p:cNvSpPr/>
          <p:nvPr/>
        </p:nvSpPr>
        <p:spPr>
          <a:xfrm>
            <a:off x="786384" y="4587240"/>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The answers exist — in a 32-page federal fact sheet written for health professionals, dense with study designs, dose ranges and hedged conclusions.</a:t>
            </a:r>
            <a:endParaRPr lang="en-US" sz="1000" dirty="0"/>
          </a:p>
        </p:txBody>
      </p:sp>
      <p:sp>
        <p:nvSpPr>
          <p:cNvPr id="27" name="Shape 22"/>
          <p:cNvSpPr/>
          <p:nvPr/>
        </p:nvSpPr>
        <p:spPr>
          <a:xfrm>
            <a:off x="4316882" y="4020312"/>
            <a:ext cx="3557930" cy="1371600"/>
          </a:xfrm>
          <a:prstGeom prst="roundRect">
            <a:avLst>
              <a:gd name="adj" fmla="val 4000"/>
            </a:avLst>
          </a:prstGeom>
          <a:solidFill>
            <a:srgbClr val="F1F4F8"/>
          </a:solidFill>
          <a:ln w="9525">
            <a:solidFill>
              <a:srgbClr val="E3E9F1"/>
            </a:solidFill>
            <a:prstDash val="solid"/>
          </a:ln>
        </p:spPr>
      </p:sp>
      <p:sp>
        <p:nvSpPr>
          <p:cNvPr id="28" name="Text 23"/>
          <p:cNvSpPr/>
          <p:nvPr/>
        </p:nvSpPr>
        <p:spPr>
          <a:xfrm>
            <a:off x="4536338" y="4166616"/>
            <a:ext cx="3119018" cy="420624"/>
          </a:xfrm>
          <a:prstGeom prst="rect">
            <a:avLst/>
          </a:prstGeom>
          <a:noFill/>
          <a:ln/>
        </p:spPr>
        <p:txBody>
          <a:bodyPr wrap="square" lIns="0" tIns="0" rIns="0" bIns="0" rtlCol="0" anchor="t"/>
          <a:lstStyle/>
          <a:p>
            <a:pPr indent="0" marL="0">
              <a:lnSpc>
                <a:spcPts val="1600"/>
              </a:lnSpc>
              <a:buNone/>
            </a:pPr>
            <a:r>
              <a:rPr lang="en-US" sz="1300" b="1" dirty="0">
                <a:solidFill>
                  <a:srgbClr val="0E1A2B"/>
                </a:solidFill>
                <a:latin typeface="Cambria" pitchFamily="34" charset="0"/>
                <a:ea typeface="Cambria" pitchFamily="34" charset="-122"/>
                <a:cs typeface="Cambria" pitchFamily="34" charset="-120"/>
              </a:rPr>
              <a:t>The market is louder than the evidence</a:t>
            </a:r>
            <a:endParaRPr lang="en-US" sz="1300" dirty="0"/>
          </a:p>
        </p:txBody>
      </p:sp>
      <p:sp>
        <p:nvSpPr>
          <p:cNvPr id="29" name="Text 24"/>
          <p:cNvSpPr/>
          <p:nvPr/>
        </p:nvSpPr>
        <p:spPr>
          <a:xfrm>
            <a:off x="4536338" y="4587240"/>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Products are sold as blends while research tests single ingredients, and labels rarely state how much of each is inside.</a:t>
            </a:r>
            <a:endParaRPr lang="en-US" sz="1000" dirty="0"/>
          </a:p>
        </p:txBody>
      </p:sp>
      <p:sp>
        <p:nvSpPr>
          <p:cNvPr id="30" name="Shape 25"/>
          <p:cNvSpPr/>
          <p:nvPr/>
        </p:nvSpPr>
        <p:spPr>
          <a:xfrm>
            <a:off x="8066837" y="4020312"/>
            <a:ext cx="3557930" cy="1371600"/>
          </a:xfrm>
          <a:prstGeom prst="roundRect">
            <a:avLst>
              <a:gd name="adj" fmla="val 4000"/>
            </a:avLst>
          </a:prstGeom>
          <a:solidFill>
            <a:srgbClr val="F1F4F8"/>
          </a:solidFill>
          <a:ln w="9525">
            <a:solidFill>
              <a:srgbClr val="E3E9F1"/>
            </a:solidFill>
            <a:prstDash val="solid"/>
          </a:ln>
        </p:spPr>
      </p:sp>
      <p:sp>
        <p:nvSpPr>
          <p:cNvPr id="31" name="Text 26"/>
          <p:cNvSpPr/>
          <p:nvPr/>
        </p:nvSpPr>
        <p:spPr>
          <a:xfrm>
            <a:off x="8286293" y="4166616"/>
            <a:ext cx="3119018" cy="420624"/>
          </a:xfrm>
          <a:prstGeom prst="rect">
            <a:avLst/>
          </a:prstGeom>
          <a:noFill/>
          <a:ln/>
        </p:spPr>
        <p:txBody>
          <a:bodyPr wrap="square" lIns="0" tIns="0" rIns="0" bIns="0" rtlCol="0" anchor="t"/>
          <a:lstStyle/>
          <a:p>
            <a:pPr indent="0" marL="0">
              <a:lnSpc>
                <a:spcPts val="1600"/>
              </a:lnSpc>
              <a:buNone/>
            </a:pPr>
            <a:r>
              <a:rPr lang="en-US" sz="1300" b="1" dirty="0">
                <a:solidFill>
                  <a:srgbClr val="0E1A2B"/>
                </a:solidFill>
                <a:latin typeface="Cambria" pitchFamily="34" charset="0"/>
                <a:ea typeface="Cambria" pitchFamily="34" charset="-122"/>
                <a:cs typeface="Cambria" pitchFamily="34" charset="-120"/>
              </a:rPr>
              <a:t>Even the experts hedge</a:t>
            </a:r>
            <a:endParaRPr lang="en-US" sz="1300" dirty="0"/>
          </a:p>
        </p:txBody>
      </p:sp>
      <p:sp>
        <p:nvSpPr>
          <p:cNvPr id="32" name="Text 27"/>
          <p:cNvSpPr/>
          <p:nvPr/>
        </p:nvSpPr>
        <p:spPr>
          <a:xfrm>
            <a:off x="8286293" y="4587240"/>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The National Athletic Trainers' Association notes that study outcomes are often equivocal, which makes these substances controversial and confusing to use [1, p.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WHY A LANGUAGE MODEL ALONE IS NOT ENOUGH</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It will answer. It will not show you where the answer came from.</a:t>
            </a:r>
            <a:endParaRPr lang="en-US" sz="3000" dirty="0"/>
          </a:p>
        </p:txBody>
      </p:sp>
      <p:sp>
        <p:nvSpPr>
          <p:cNvPr id="7" name="Shape 2"/>
          <p:cNvSpPr/>
          <p:nvPr/>
        </p:nvSpPr>
        <p:spPr>
          <a:xfrm>
            <a:off x="566928" y="1935480"/>
            <a:ext cx="292608" cy="292608"/>
          </a:xfrm>
          <a:prstGeom prst="ellipse">
            <a:avLst/>
          </a:prstGeom>
          <a:solidFill>
            <a:srgbClr val="B3261E"/>
          </a:solidFill>
          <a:ln w="12700">
            <a:solidFill>
              <a:srgbClr val="B3261E"/>
            </a:solidFill>
            <a:prstDash val="solid"/>
          </a:ln>
        </p:spPr>
      </p:sp>
      <p:sp>
        <p:nvSpPr>
          <p:cNvPr id="8" name="Text 3"/>
          <p:cNvSpPr/>
          <p:nvPr/>
        </p:nvSpPr>
        <p:spPr>
          <a:xfrm>
            <a:off x="566928" y="1935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p:nvPr/>
        </p:nvSpPr>
        <p:spPr>
          <a:xfrm>
            <a:off x="987552" y="1917192"/>
            <a:ext cx="4937760" cy="274320"/>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It sounds exactly like evidence</a:t>
            </a:r>
            <a:endParaRPr lang="en-US" sz="1350" dirty="0"/>
          </a:p>
        </p:txBody>
      </p:sp>
      <p:sp>
        <p:nvSpPr>
          <p:cNvPr id="10" name="Text 5"/>
          <p:cNvSpPr/>
          <p:nvPr/>
        </p:nvSpPr>
        <p:spPr>
          <a:xfrm>
            <a:off x="987552" y="2209800"/>
            <a:ext cx="4937760" cy="64008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A dose, a loading protocol, a timing window — delivered in the register of a clinical guideline, with nothing behind it.</a:t>
            </a:r>
            <a:endParaRPr lang="en-US" sz="1050" dirty="0"/>
          </a:p>
        </p:txBody>
      </p:sp>
      <p:sp>
        <p:nvSpPr>
          <p:cNvPr id="11" name="Shape 6"/>
          <p:cNvSpPr/>
          <p:nvPr/>
        </p:nvSpPr>
        <p:spPr>
          <a:xfrm>
            <a:off x="566928" y="2959608"/>
            <a:ext cx="292608" cy="292608"/>
          </a:xfrm>
          <a:prstGeom prst="ellipse">
            <a:avLst/>
          </a:prstGeom>
          <a:solidFill>
            <a:srgbClr val="B3261E"/>
          </a:solidFill>
          <a:ln w="12700">
            <a:solidFill>
              <a:srgbClr val="B3261E"/>
            </a:solidFill>
            <a:prstDash val="solid"/>
          </a:ln>
        </p:spPr>
      </p:sp>
      <p:sp>
        <p:nvSpPr>
          <p:cNvPr id="12" name="Text 7"/>
          <p:cNvSpPr/>
          <p:nvPr/>
        </p:nvSpPr>
        <p:spPr>
          <a:xfrm>
            <a:off x="566928" y="29596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p:nvPr/>
        </p:nvSpPr>
        <p:spPr>
          <a:xfrm>
            <a:off x="987552" y="2941320"/>
            <a:ext cx="4937760" cy="274320"/>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It accepts a false premise</a:t>
            </a:r>
            <a:endParaRPr lang="en-US" sz="1350" dirty="0"/>
          </a:p>
        </p:txBody>
      </p:sp>
      <p:sp>
        <p:nvSpPr>
          <p:cNvPr id="14" name="Text 9"/>
          <p:cNvSpPr/>
          <p:nvPr/>
        </p:nvSpPr>
        <p:spPr>
          <a:xfrm>
            <a:off x="987552" y="3233928"/>
            <a:ext cx="4937760" cy="64008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Ask “since DHEA raises testosterone, what dose should athletes take?” and it supplies one. The fact sheet says DHEA does not improve performance at all.</a:t>
            </a:r>
            <a:endParaRPr lang="en-US" sz="1050" dirty="0"/>
          </a:p>
        </p:txBody>
      </p:sp>
      <p:sp>
        <p:nvSpPr>
          <p:cNvPr id="15" name="Shape 10"/>
          <p:cNvSpPr/>
          <p:nvPr/>
        </p:nvSpPr>
        <p:spPr>
          <a:xfrm>
            <a:off x="566928" y="3983736"/>
            <a:ext cx="292608" cy="292608"/>
          </a:xfrm>
          <a:prstGeom prst="ellipse">
            <a:avLst/>
          </a:prstGeom>
          <a:solidFill>
            <a:srgbClr val="B3261E"/>
          </a:solidFill>
          <a:ln w="12700">
            <a:solidFill>
              <a:srgbClr val="B3261E"/>
            </a:solidFill>
            <a:prstDash val="solid"/>
          </a:ln>
        </p:spPr>
      </p:sp>
      <p:sp>
        <p:nvSpPr>
          <p:cNvPr id="16" name="Text 11"/>
          <p:cNvSpPr/>
          <p:nvPr/>
        </p:nvSpPr>
        <p:spPr>
          <a:xfrm>
            <a:off x="566928" y="39837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p:nvPr/>
        </p:nvSpPr>
        <p:spPr>
          <a:xfrm>
            <a:off x="987552" y="3965448"/>
            <a:ext cx="4937760" cy="274320"/>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It cannot be audited</a:t>
            </a:r>
            <a:endParaRPr lang="en-US" sz="1350" dirty="0"/>
          </a:p>
        </p:txBody>
      </p:sp>
      <p:sp>
        <p:nvSpPr>
          <p:cNvPr id="18" name="Text 13"/>
          <p:cNvSpPr/>
          <p:nvPr/>
        </p:nvSpPr>
        <p:spPr>
          <a:xfrm>
            <a:off x="987552" y="4258056"/>
            <a:ext cx="4937760" cy="64008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A coach or dietitian cannot check a claim they cannot trace. Without a document, a section and a page, review is impossible.</a:t>
            </a:r>
            <a:endParaRPr lang="en-US" sz="1050" dirty="0"/>
          </a:p>
        </p:txBody>
      </p:sp>
      <p:sp>
        <p:nvSpPr>
          <p:cNvPr id="19" name="Shape 14"/>
          <p:cNvSpPr/>
          <p:nvPr/>
        </p:nvSpPr>
        <p:spPr>
          <a:xfrm>
            <a:off x="6089904" y="1880616"/>
            <a:ext cx="5534863" cy="3200400"/>
          </a:xfrm>
          <a:prstGeom prst="roundRect">
            <a:avLst>
              <a:gd name="adj" fmla="val 1714"/>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20" name="Text 15"/>
          <p:cNvSpPr/>
          <p:nvPr/>
        </p:nvSpPr>
        <p:spPr>
          <a:xfrm>
            <a:off x="6345936" y="2063496"/>
            <a:ext cx="49377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retrieval changes</a:t>
            </a:r>
            <a:endParaRPr lang="en-US" sz="1700" dirty="0"/>
          </a:p>
        </p:txBody>
      </p:sp>
      <p:sp>
        <p:nvSpPr>
          <p:cNvPr id="21" name="Text 16"/>
          <p:cNvSpPr/>
          <p:nvPr/>
        </p:nvSpPr>
        <p:spPr>
          <a:xfrm>
            <a:off x="6345936" y="2392680"/>
            <a:ext cx="4937760" cy="457200"/>
          </a:xfrm>
          <a:prstGeom prst="rect">
            <a:avLst/>
          </a:prstGeom>
          <a:noFill/>
          <a:ln/>
        </p:spPr>
        <p:txBody>
          <a:bodyPr wrap="square" lIns="0" tIns="0" rIns="0" bIns="0" rtlCol="0" anchor="t"/>
          <a:lstStyle/>
          <a:p>
            <a:pPr indent="0" marL="0">
              <a:lnSpc>
                <a:spcPts val="1400"/>
              </a:lnSpc>
              <a:buNone/>
            </a:pPr>
            <a:r>
              <a:rPr lang="en-US" sz="1100" i="1" dirty="0">
                <a:solidFill>
                  <a:srgbClr val="8FA3B8"/>
                </a:solidFill>
                <a:latin typeface="Calibri" pitchFamily="34" charset="0"/>
                <a:ea typeface="Calibri" pitchFamily="34" charset="-122"/>
                <a:cs typeface="Calibri" pitchFamily="34" charset="-120"/>
              </a:rPr>
              <a:t>The model stops being the source of facts and becomes the thing that phrases them.</a:t>
            </a:r>
            <a:endParaRPr lang="en-US" sz="1100" dirty="0"/>
          </a:p>
        </p:txBody>
      </p:sp>
      <p:sp>
        <p:nvSpPr>
          <p:cNvPr id="22" name="Shape 17"/>
          <p:cNvSpPr/>
          <p:nvPr/>
        </p:nvSpPr>
        <p:spPr>
          <a:xfrm>
            <a:off x="6345936" y="2941320"/>
            <a:ext cx="274320" cy="274320"/>
          </a:xfrm>
          <a:prstGeom prst="ellipse">
            <a:avLst/>
          </a:prstGeom>
          <a:solidFill>
            <a:srgbClr val="0E7C5A"/>
          </a:solidFill>
          <a:ln w="12700">
            <a:solidFill>
              <a:srgbClr val="0E7C5A"/>
            </a:solidFill>
            <a:prstDash val="solid"/>
          </a:ln>
        </p:spPr>
      </p:sp>
      <p:sp>
        <p:nvSpPr>
          <p:cNvPr id="23" name="Text 18"/>
          <p:cNvSpPr/>
          <p:nvPr/>
        </p:nvSpPr>
        <p:spPr>
          <a:xfrm>
            <a:off x="6345936" y="2941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19"/>
          <p:cNvSpPr/>
          <p:nvPr/>
        </p:nvSpPr>
        <p:spPr>
          <a:xfrm>
            <a:off x="6729984" y="2923032"/>
            <a:ext cx="4572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Closed corpus</a:t>
            </a:r>
            <a:endParaRPr lang="en-US" sz="1200" dirty="0"/>
          </a:p>
        </p:txBody>
      </p:sp>
      <p:sp>
        <p:nvSpPr>
          <p:cNvPr id="25" name="Text 20"/>
          <p:cNvSpPr/>
          <p:nvPr/>
        </p:nvSpPr>
        <p:spPr>
          <a:xfrm>
            <a:off x="6729984" y="3179064"/>
            <a:ext cx="4572000" cy="438912"/>
          </a:xfrm>
          <a:prstGeom prst="rect">
            <a:avLst/>
          </a:prstGeom>
          <a:noFill/>
          <a:ln/>
        </p:spPr>
        <p:txBody>
          <a:bodyPr wrap="square" lIns="0" tIns="0" rIns="0" bIns="0" rtlCol="0" anchor="t"/>
          <a:lstStyle/>
          <a:p>
            <a:pPr indent="0" marL="0">
              <a:lnSpc>
                <a:spcPts val="1250"/>
              </a:lnSpc>
              <a:buNone/>
            </a:pPr>
            <a:r>
              <a:rPr lang="en-US" sz="950" dirty="0">
                <a:solidFill>
                  <a:srgbClr val="8FA3B8"/>
                </a:solidFill>
                <a:latin typeface="Calibri" pitchFamily="34" charset="0"/>
                <a:ea typeface="Calibri" pitchFamily="34" charset="-122"/>
                <a:cs typeface="Calibri" pitchFamily="34" charset="-120"/>
              </a:rPr>
              <a:t>It may use the retrieved passages and nothing else — no outside knowledge, no inference past what the text states.</a:t>
            </a:r>
            <a:endParaRPr lang="en-US" sz="950" dirty="0"/>
          </a:p>
        </p:txBody>
      </p:sp>
      <p:sp>
        <p:nvSpPr>
          <p:cNvPr id="26" name="Shape 21"/>
          <p:cNvSpPr/>
          <p:nvPr/>
        </p:nvSpPr>
        <p:spPr>
          <a:xfrm>
            <a:off x="6345936" y="3672840"/>
            <a:ext cx="274320" cy="274320"/>
          </a:xfrm>
          <a:prstGeom prst="ellipse">
            <a:avLst/>
          </a:prstGeom>
          <a:solidFill>
            <a:srgbClr val="0E7C5A"/>
          </a:solidFill>
          <a:ln w="12700">
            <a:solidFill>
              <a:srgbClr val="0E7C5A"/>
            </a:solidFill>
            <a:prstDash val="solid"/>
          </a:ln>
        </p:spPr>
      </p:sp>
      <p:sp>
        <p:nvSpPr>
          <p:cNvPr id="27" name="Text 22"/>
          <p:cNvSpPr/>
          <p:nvPr/>
        </p:nvSpPr>
        <p:spPr>
          <a:xfrm>
            <a:off x="6345936" y="3672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3"/>
          <p:cNvSpPr/>
          <p:nvPr/>
        </p:nvSpPr>
        <p:spPr>
          <a:xfrm>
            <a:off x="6729984" y="3654552"/>
            <a:ext cx="4572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Provenance it cannot fake</a:t>
            </a:r>
            <a:endParaRPr lang="en-US" sz="1200" dirty="0"/>
          </a:p>
        </p:txBody>
      </p:sp>
      <p:sp>
        <p:nvSpPr>
          <p:cNvPr id="29" name="Text 24"/>
          <p:cNvSpPr/>
          <p:nvPr/>
        </p:nvSpPr>
        <p:spPr>
          <a:xfrm>
            <a:off x="6729984" y="3910584"/>
            <a:ext cx="4572000" cy="438912"/>
          </a:xfrm>
          <a:prstGeom prst="rect">
            <a:avLst/>
          </a:prstGeom>
          <a:noFill/>
          <a:ln/>
        </p:spPr>
        <p:txBody>
          <a:bodyPr wrap="square" lIns="0" tIns="0" rIns="0" bIns="0" rtlCol="0" anchor="t"/>
          <a:lstStyle/>
          <a:p>
            <a:pPr indent="0" marL="0">
              <a:lnSpc>
                <a:spcPts val="1250"/>
              </a:lnSpc>
              <a:buNone/>
            </a:pPr>
            <a:r>
              <a:rPr lang="en-US" sz="950" dirty="0">
                <a:solidFill>
                  <a:srgbClr val="8FA3B8"/>
                </a:solidFill>
                <a:latin typeface="Calibri" pitchFamily="34" charset="0"/>
                <a:ea typeface="Calibri" pitchFamily="34" charset="-122"/>
                <a:cs typeface="Calibri" pitchFamily="34" charset="-120"/>
              </a:rPr>
              <a:t>Every claim carries [n, p. X], and the page is looked up from the index after generation. Choosing the source is the model's job; the page is not.</a:t>
            </a:r>
            <a:endParaRPr lang="en-US" sz="950" dirty="0"/>
          </a:p>
        </p:txBody>
      </p:sp>
      <p:sp>
        <p:nvSpPr>
          <p:cNvPr id="30" name="Shape 25"/>
          <p:cNvSpPr/>
          <p:nvPr/>
        </p:nvSpPr>
        <p:spPr>
          <a:xfrm>
            <a:off x="6345936" y="4404360"/>
            <a:ext cx="274320" cy="274320"/>
          </a:xfrm>
          <a:prstGeom prst="ellipse">
            <a:avLst/>
          </a:prstGeom>
          <a:solidFill>
            <a:srgbClr val="0E7C5A"/>
          </a:solidFill>
          <a:ln w="12700">
            <a:solidFill>
              <a:srgbClr val="0E7C5A"/>
            </a:solidFill>
            <a:prstDash val="solid"/>
          </a:ln>
        </p:spPr>
      </p:sp>
      <p:sp>
        <p:nvSpPr>
          <p:cNvPr id="31" name="Text 26"/>
          <p:cNvSpPr/>
          <p:nvPr/>
        </p:nvSpPr>
        <p:spPr>
          <a:xfrm>
            <a:off x="6345936" y="4404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7"/>
          <p:cNvSpPr/>
          <p:nvPr/>
        </p:nvSpPr>
        <p:spPr>
          <a:xfrm>
            <a:off x="6729984" y="4386072"/>
            <a:ext cx="4572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refusal that means something</a:t>
            </a:r>
            <a:endParaRPr lang="en-US" sz="1200" dirty="0"/>
          </a:p>
        </p:txBody>
      </p:sp>
      <p:sp>
        <p:nvSpPr>
          <p:cNvPr id="33" name="Text 28"/>
          <p:cNvSpPr/>
          <p:nvPr/>
        </p:nvSpPr>
        <p:spPr>
          <a:xfrm>
            <a:off x="6729984" y="4642104"/>
            <a:ext cx="4572000" cy="438912"/>
          </a:xfrm>
          <a:prstGeom prst="rect">
            <a:avLst/>
          </a:prstGeom>
          <a:noFill/>
          <a:ln/>
        </p:spPr>
        <p:txBody>
          <a:bodyPr wrap="square" lIns="0" tIns="0" rIns="0" bIns="0" rtlCol="0" anchor="t"/>
          <a:lstStyle/>
          <a:p>
            <a:pPr indent="0" marL="0">
              <a:lnSpc>
                <a:spcPts val="1250"/>
              </a:lnSpc>
              <a:buNone/>
            </a:pPr>
            <a:r>
              <a:rPr lang="en-US" sz="950" dirty="0">
                <a:solidFill>
                  <a:srgbClr val="8FA3B8"/>
                </a:solidFill>
                <a:latin typeface="Calibri" pitchFamily="34" charset="0"/>
                <a:ea typeface="Calibri" pitchFamily="34" charset="-122"/>
                <a:cs typeface="Calibri" pitchFamily="34" charset="-120"/>
              </a:rPr>
              <a:t>When retrieval turns up nothing bearing on the question, the answer is that the document does not cover 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ARCHITECTURE</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Four layers, one class per stage, and an evaluation loop around all of it</a:t>
            </a:r>
            <a:endParaRPr lang="en-US" sz="3000" dirty="0"/>
          </a:p>
        </p:txBody>
      </p:sp>
      <p:sp>
        <p:nvSpPr>
          <p:cNvPr id="7" name="Shape 2"/>
          <p:cNvSpPr/>
          <p:nvPr/>
        </p:nvSpPr>
        <p:spPr>
          <a:xfrm>
            <a:off x="566928" y="1880616"/>
            <a:ext cx="1098601" cy="640080"/>
          </a:xfrm>
          <a:prstGeom prst="roundRect">
            <a:avLst>
              <a:gd name="adj" fmla="val 8571"/>
            </a:avLst>
          </a:prstGeom>
          <a:solidFill>
            <a:srgbClr val="F1F4F8"/>
          </a:solidFill>
          <a:ln w="9525">
            <a:solidFill>
              <a:srgbClr val="E3E9F1"/>
            </a:solidFill>
            <a:prstDash val="solid"/>
          </a:ln>
        </p:spPr>
      </p:sp>
      <p:sp>
        <p:nvSpPr>
          <p:cNvPr id="8" name="Text 3"/>
          <p:cNvSpPr/>
          <p:nvPr/>
        </p:nvSpPr>
        <p:spPr>
          <a:xfrm>
            <a:off x="566928"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PDF</a:t>
            </a:r>
            <a:endParaRPr lang="en-US" sz="950" dirty="0"/>
          </a:p>
        </p:txBody>
      </p:sp>
      <p:sp>
        <p:nvSpPr>
          <p:cNvPr id="9" name="Text 4"/>
          <p:cNvSpPr/>
          <p:nvPr/>
        </p:nvSpPr>
        <p:spPr>
          <a:xfrm>
            <a:off x="1665529"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10" name="Shape 5"/>
          <p:cNvSpPr/>
          <p:nvPr/>
        </p:nvSpPr>
        <p:spPr>
          <a:xfrm>
            <a:off x="1811833" y="1880616"/>
            <a:ext cx="1098601" cy="640080"/>
          </a:xfrm>
          <a:prstGeom prst="roundRect">
            <a:avLst>
              <a:gd name="adj" fmla="val 8571"/>
            </a:avLst>
          </a:prstGeom>
          <a:solidFill>
            <a:srgbClr val="F1F4F8"/>
          </a:solidFill>
          <a:ln w="9525">
            <a:solidFill>
              <a:srgbClr val="E3E9F1"/>
            </a:solidFill>
            <a:prstDash val="solid"/>
          </a:ln>
        </p:spPr>
      </p:sp>
      <p:sp>
        <p:nvSpPr>
          <p:cNvPr id="11" name="Text 6"/>
          <p:cNvSpPr/>
          <p:nvPr/>
        </p:nvSpPr>
        <p:spPr>
          <a:xfrm>
            <a:off x="1811833"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Parse +</a:t>
            </a:r>
            <a:endParaRPr lang="en-US" sz="950" dirty="0"/>
          </a:p>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structure</a:t>
            </a:r>
            <a:endParaRPr lang="en-US" sz="950" dirty="0"/>
          </a:p>
        </p:txBody>
      </p:sp>
      <p:sp>
        <p:nvSpPr>
          <p:cNvPr id="12" name="Text 7"/>
          <p:cNvSpPr/>
          <p:nvPr/>
        </p:nvSpPr>
        <p:spPr>
          <a:xfrm>
            <a:off x="2910434"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13" name="Shape 8"/>
          <p:cNvSpPr/>
          <p:nvPr/>
        </p:nvSpPr>
        <p:spPr>
          <a:xfrm>
            <a:off x="3056738" y="1880616"/>
            <a:ext cx="1098601" cy="640080"/>
          </a:xfrm>
          <a:prstGeom prst="roundRect">
            <a:avLst>
              <a:gd name="adj" fmla="val 8571"/>
            </a:avLst>
          </a:prstGeom>
          <a:solidFill>
            <a:srgbClr val="F1F4F8"/>
          </a:solidFill>
          <a:ln w="9525">
            <a:solidFill>
              <a:srgbClr val="E3E9F1"/>
            </a:solidFill>
            <a:prstDash val="solid"/>
          </a:ln>
        </p:spPr>
      </p:sp>
      <p:sp>
        <p:nvSpPr>
          <p:cNvPr id="14" name="Text 9"/>
          <p:cNvSpPr/>
          <p:nvPr/>
        </p:nvSpPr>
        <p:spPr>
          <a:xfrm>
            <a:off x="3056738"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Chunk +</a:t>
            </a:r>
            <a:endParaRPr lang="en-US" sz="950" dirty="0"/>
          </a:p>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page tag</a:t>
            </a:r>
            <a:endParaRPr lang="en-US" sz="950" dirty="0"/>
          </a:p>
        </p:txBody>
      </p:sp>
      <p:sp>
        <p:nvSpPr>
          <p:cNvPr id="15" name="Text 10"/>
          <p:cNvSpPr/>
          <p:nvPr/>
        </p:nvSpPr>
        <p:spPr>
          <a:xfrm>
            <a:off x="4155338"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16" name="Shape 11"/>
          <p:cNvSpPr/>
          <p:nvPr/>
        </p:nvSpPr>
        <p:spPr>
          <a:xfrm>
            <a:off x="4301642" y="1880616"/>
            <a:ext cx="1098601" cy="640080"/>
          </a:xfrm>
          <a:prstGeom prst="roundRect">
            <a:avLst>
              <a:gd name="adj" fmla="val 8571"/>
            </a:avLst>
          </a:prstGeom>
          <a:solidFill>
            <a:srgbClr val="F1F4F8"/>
          </a:solidFill>
          <a:ln w="9525">
            <a:solidFill>
              <a:srgbClr val="E3E9F1"/>
            </a:solidFill>
            <a:prstDash val="solid"/>
          </a:ln>
        </p:spPr>
      </p:sp>
      <p:sp>
        <p:nvSpPr>
          <p:cNvPr id="17" name="Text 12"/>
          <p:cNvSpPr/>
          <p:nvPr/>
        </p:nvSpPr>
        <p:spPr>
          <a:xfrm>
            <a:off x="4301642"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Embed</a:t>
            </a:r>
            <a:endParaRPr lang="en-US" sz="950" dirty="0"/>
          </a:p>
        </p:txBody>
      </p:sp>
      <p:sp>
        <p:nvSpPr>
          <p:cNvPr id="18" name="Text 13"/>
          <p:cNvSpPr/>
          <p:nvPr/>
        </p:nvSpPr>
        <p:spPr>
          <a:xfrm>
            <a:off x="5400243"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19" name="Shape 14"/>
          <p:cNvSpPr/>
          <p:nvPr/>
        </p:nvSpPr>
        <p:spPr>
          <a:xfrm>
            <a:off x="5546547" y="1880616"/>
            <a:ext cx="1098601" cy="640080"/>
          </a:xfrm>
          <a:prstGeom prst="roundRect">
            <a:avLst>
              <a:gd name="adj" fmla="val 8571"/>
            </a:avLst>
          </a:prstGeom>
          <a:solidFill>
            <a:srgbClr val="F1F4F8"/>
          </a:solidFill>
          <a:ln w="9525">
            <a:solidFill>
              <a:srgbClr val="E3E9F1"/>
            </a:solidFill>
            <a:prstDash val="solid"/>
          </a:ln>
        </p:spPr>
      </p:sp>
      <p:sp>
        <p:nvSpPr>
          <p:cNvPr id="20" name="Text 15"/>
          <p:cNvSpPr/>
          <p:nvPr/>
        </p:nvSpPr>
        <p:spPr>
          <a:xfrm>
            <a:off x="5546547"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Vector</a:t>
            </a:r>
            <a:endParaRPr lang="en-US" sz="950" dirty="0"/>
          </a:p>
          <a:p>
            <a:pPr algn="ctr" indent="0" marL="0">
              <a:lnSpc>
                <a:spcPts val="1100"/>
              </a:lnSpc>
              <a:buNone/>
            </a:pPr>
            <a:r>
              <a:rPr lang="en-US" sz="950" b="1" dirty="0">
                <a:solidFill>
                  <a:srgbClr val="0E1A2B"/>
                </a:solidFill>
                <a:latin typeface="Calibri" pitchFamily="34" charset="0"/>
                <a:ea typeface="Calibri" pitchFamily="34" charset="-122"/>
                <a:cs typeface="Calibri" pitchFamily="34" charset="-120"/>
              </a:rPr>
              <a:t>index</a:t>
            </a:r>
            <a:endParaRPr lang="en-US" sz="950" dirty="0"/>
          </a:p>
        </p:txBody>
      </p:sp>
      <p:sp>
        <p:nvSpPr>
          <p:cNvPr id="21" name="Text 16"/>
          <p:cNvSpPr/>
          <p:nvPr/>
        </p:nvSpPr>
        <p:spPr>
          <a:xfrm>
            <a:off x="6645148"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22" name="Shape 17"/>
          <p:cNvSpPr/>
          <p:nvPr/>
        </p:nvSpPr>
        <p:spPr>
          <a:xfrm>
            <a:off x="6791452" y="1880616"/>
            <a:ext cx="1098601" cy="640080"/>
          </a:xfrm>
          <a:prstGeom prst="roundRect">
            <a:avLst>
              <a:gd name="adj" fmla="val 8571"/>
            </a:avLst>
          </a:prstGeom>
          <a:solidFill>
            <a:srgbClr val="0E1A2B"/>
          </a:solidFill>
          <a:ln w="9525">
            <a:solidFill>
              <a:srgbClr val="0E1A2B"/>
            </a:solidFill>
            <a:prstDash val="solid"/>
          </a:ln>
        </p:spPr>
      </p:sp>
      <p:sp>
        <p:nvSpPr>
          <p:cNvPr id="23" name="Text 18"/>
          <p:cNvSpPr/>
          <p:nvPr/>
        </p:nvSpPr>
        <p:spPr>
          <a:xfrm>
            <a:off x="6791452"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Retrieve</a:t>
            </a:r>
            <a:endParaRPr lang="en-US" sz="950" dirty="0"/>
          </a:p>
        </p:txBody>
      </p:sp>
      <p:sp>
        <p:nvSpPr>
          <p:cNvPr id="24" name="Text 19"/>
          <p:cNvSpPr/>
          <p:nvPr/>
        </p:nvSpPr>
        <p:spPr>
          <a:xfrm>
            <a:off x="7890053"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25" name="Shape 20"/>
          <p:cNvSpPr/>
          <p:nvPr/>
        </p:nvSpPr>
        <p:spPr>
          <a:xfrm>
            <a:off x="8036357" y="1880616"/>
            <a:ext cx="1098601" cy="640080"/>
          </a:xfrm>
          <a:prstGeom prst="roundRect">
            <a:avLst>
              <a:gd name="adj" fmla="val 8571"/>
            </a:avLst>
          </a:prstGeom>
          <a:solidFill>
            <a:srgbClr val="0E1A2B"/>
          </a:solidFill>
          <a:ln w="9525">
            <a:solidFill>
              <a:srgbClr val="0E1A2B"/>
            </a:solidFill>
            <a:prstDash val="solid"/>
          </a:ln>
        </p:spPr>
      </p:sp>
      <p:sp>
        <p:nvSpPr>
          <p:cNvPr id="26" name="Text 21"/>
          <p:cNvSpPr/>
          <p:nvPr/>
        </p:nvSpPr>
        <p:spPr>
          <a:xfrm>
            <a:off x="8036357"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Rerank</a:t>
            </a:r>
            <a:endParaRPr lang="en-US" sz="950" dirty="0"/>
          </a:p>
        </p:txBody>
      </p:sp>
      <p:sp>
        <p:nvSpPr>
          <p:cNvPr id="27" name="Text 22"/>
          <p:cNvSpPr/>
          <p:nvPr/>
        </p:nvSpPr>
        <p:spPr>
          <a:xfrm>
            <a:off x="9134958"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28" name="Shape 23"/>
          <p:cNvSpPr/>
          <p:nvPr/>
        </p:nvSpPr>
        <p:spPr>
          <a:xfrm>
            <a:off x="9281262" y="1880616"/>
            <a:ext cx="1098601" cy="640080"/>
          </a:xfrm>
          <a:prstGeom prst="roundRect">
            <a:avLst>
              <a:gd name="adj" fmla="val 8571"/>
            </a:avLst>
          </a:prstGeom>
          <a:solidFill>
            <a:srgbClr val="0E1A2B"/>
          </a:solidFill>
          <a:ln w="9525">
            <a:solidFill>
              <a:srgbClr val="0E1A2B"/>
            </a:solidFill>
            <a:prstDash val="solid"/>
          </a:ln>
        </p:spPr>
      </p:sp>
      <p:sp>
        <p:nvSpPr>
          <p:cNvPr id="29" name="Text 24"/>
          <p:cNvSpPr/>
          <p:nvPr/>
        </p:nvSpPr>
        <p:spPr>
          <a:xfrm>
            <a:off x="9281262"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Ground +</a:t>
            </a:r>
            <a:endParaRPr lang="en-US" sz="950" dirty="0"/>
          </a:p>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cite</a:t>
            </a:r>
            <a:endParaRPr lang="en-US" sz="950" dirty="0"/>
          </a:p>
        </p:txBody>
      </p:sp>
      <p:sp>
        <p:nvSpPr>
          <p:cNvPr id="30" name="Text 25"/>
          <p:cNvSpPr/>
          <p:nvPr/>
        </p:nvSpPr>
        <p:spPr>
          <a:xfrm>
            <a:off x="10379862" y="1880616"/>
            <a:ext cx="146304" cy="640080"/>
          </a:xfrm>
          <a:prstGeom prst="rect">
            <a:avLst/>
          </a:prstGeom>
          <a:noFill/>
          <a:ln/>
        </p:spPr>
        <p:txBody>
          <a:bodyPr wrap="square" lIns="0" tIns="0" rIns="0" bIns="0" rtlCol="0" anchor="ctr"/>
          <a:lstStyle/>
          <a:p>
            <a:pPr algn="ctr" indent="0" marL="0">
              <a:buNone/>
            </a:pPr>
            <a:r>
              <a:rPr lang="en-US" sz="1400" b="1" dirty="0">
                <a:solidFill>
                  <a:srgbClr val="D8DEE6"/>
                </a:solidFill>
                <a:latin typeface="Calibri" pitchFamily="34" charset="0"/>
                <a:ea typeface="Calibri" pitchFamily="34" charset="-122"/>
                <a:cs typeface="Calibri" pitchFamily="34" charset="-120"/>
              </a:rPr>
              <a:t>›</a:t>
            </a:r>
            <a:endParaRPr lang="en-US" sz="1400" dirty="0"/>
          </a:p>
        </p:txBody>
      </p:sp>
      <p:sp>
        <p:nvSpPr>
          <p:cNvPr id="31" name="Shape 26"/>
          <p:cNvSpPr/>
          <p:nvPr/>
        </p:nvSpPr>
        <p:spPr>
          <a:xfrm>
            <a:off x="10526166" y="1880616"/>
            <a:ext cx="1098601" cy="640080"/>
          </a:xfrm>
          <a:prstGeom prst="roundRect">
            <a:avLst>
              <a:gd name="adj" fmla="val 8571"/>
            </a:avLst>
          </a:prstGeom>
          <a:solidFill>
            <a:srgbClr val="0E7C5A"/>
          </a:solidFill>
          <a:ln w="9525">
            <a:solidFill>
              <a:srgbClr val="0E7C5A"/>
            </a:solidFill>
            <a:prstDash val="solid"/>
          </a:ln>
        </p:spPr>
      </p:sp>
      <p:sp>
        <p:nvSpPr>
          <p:cNvPr id="32" name="Text 27"/>
          <p:cNvSpPr/>
          <p:nvPr/>
        </p:nvSpPr>
        <p:spPr>
          <a:xfrm>
            <a:off x="10526166" y="1880616"/>
            <a:ext cx="1098601" cy="640080"/>
          </a:xfrm>
          <a:prstGeom prst="rect">
            <a:avLst/>
          </a:prstGeom>
          <a:noFill/>
          <a:ln/>
        </p:spPr>
        <p:txBody>
          <a:bodyPr wrap="square" lIns="0" tIns="0" rIns="0" bIns="0" rtlCol="0" anchor="ctr"/>
          <a:lstStyle/>
          <a:p>
            <a:pPr algn="ctr" indent="0" marL="0">
              <a:lnSpc>
                <a:spcPts val="1100"/>
              </a:lnSpc>
              <a:buNone/>
            </a:pPr>
            <a:r>
              <a:rPr lang="en-US" sz="950" b="1" dirty="0">
                <a:solidFill>
                  <a:srgbClr val="FFFFFF"/>
                </a:solidFill>
                <a:latin typeface="Calibri" pitchFamily="34" charset="0"/>
                <a:ea typeface="Calibri" pitchFamily="34" charset="-122"/>
                <a:cs typeface="Calibri" pitchFamily="34" charset="-120"/>
              </a:rPr>
              <a:t>Answer</a:t>
            </a:r>
            <a:endParaRPr lang="en-US" sz="950" dirty="0"/>
          </a:p>
        </p:txBody>
      </p:sp>
      <p:sp>
        <p:nvSpPr>
          <p:cNvPr id="33" name="Shape 28"/>
          <p:cNvSpPr/>
          <p:nvPr/>
        </p:nvSpPr>
        <p:spPr>
          <a:xfrm>
            <a:off x="566928" y="2813304"/>
            <a:ext cx="2620442" cy="2103120"/>
          </a:xfrm>
          <a:prstGeom prst="roundRect">
            <a:avLst>
              <a:gd name="adj" fmla="val 260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34" name="Text 29"/>
          <p:cNvSpPr/>
          <p:nvPr/>
        </p:nvSpPr>
        <p:spPr>
          <a:xfrm>
            <a:off x="786384" y="2977896"/>
            <a:ext cx="2181530" cy="274320"/>
          </a:xfrm>
          <a:prstGeom prst="rect">
            <a:avLst/>
          </a:prstGeom>
          <a:noFill/>
          <a:ln/>
        </p:spPr>
        <p:txBody>
          <a:bodyPr wrap="square" lIns="0" tIns="0" rIns="0" bIns="0" rtlCol="0" anchor="ctr"/>
          <a:lstStyle/>
          <a:p>
            <a:pPr indent="0" marL="0">
              <a:buNone/>
            </a:pPr>
            <a:r>
              <a:rPr lang="en-US" sz="1100" b="1" spc="60" kern="0" dirty="0">
                <a:solidFill>
                  <a:srgbClr val="FF7900"/>
                </a:solidFill>
                <a:latin typeface="Calibri" pitchFamily="34" charset="0"/>
                <a:ea typeface="Calibri" pitchFamily="34" charset="-122"/>
                <a:cs typeface="Calibri" pitchFamily="34" charset="-120"/>
              </a:rPr>
              <a:t>1 · Ingestion</a:t>
            </a:r>
            <a:endParaRPr lang="en-US" sz="1100" dirty="0"/>
          </a:p>
        </p:txBody>
      </p:sp>
      <p:sp>
        <p:nvSpPr>
          <p:cNvPr id="35" name="Text 30"/>
          <p:cNvSpPr/>
          <p:nvPr/>
        </p:nvSpPr>
        <p:spPr>
          <a:xfrm>
            <a:off x="786384" y="3288792"/>
            <a:ext cx="2181530" cy="1463040"/>
          </a:xfrm>
          <a:prstGeom prst="rect">
            <a:avLst/>
          </a:prstGeom>
          <a:noFill/>
          <a:ln/>
        </p:spPr>
        <p:txBody>
          <a:bodyPr wrap="square" lIns="0" tIns="0" rIns="0" bIns="0" rtlCol="0" anchor="t"/>
          <a:lstStyle/>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A PDF carries no headings, only glyphs at coordinates. Font sizes above the body size are ranked into heading levels, recovering 95 sections; each page's text is tagged so every chunk knows its page.</a:t>
            </a:r>
            <a:endParaRPr lang="en-US" sz="1000" dirty="0"/>
          </a:p>
        </p:txBody>
      </p:sp>
      <p:sp>
        <p:nvSpPr>
          <p:cNvPr id="36" name="Shape 31"/>
          <p:cNvSpPr/>
          <p:nvPr/>
        </p:nvSpPr>
        <p:spPr>
          <a:xfrm>
            <a:off x="3379394" y="2813304"/>
            <a:ext cx="2620442" cy="2103120"/>
          </a:xfrm>
          <a:prstGeom prst="roundRect">
            <a:avLst>
              <a:gd name="adj" fmla="val 260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37" name="Text 32"/>
          <p:cNvSpPr/>
          <p:nvPr/>
        </p:nvSpPr>
        <p:spPr>
          <a:xfrm>
            <a:off x="3598850" y="2977896"/>
            <a:ext cx="2181530" cy="274320"/>
          </a:xfrm>
          <a:prstGeom prst="rect">
            <a:avLst/>
          </a:prstGeom>
          <a:noFill/>
          <a:ln/>
        </p:spPr>
        <p:txBody>
          <a:bodyPr wrap="square" lIns="0" tIns="0" rIns="0" bIns="0" rtlCol="0" anchor="ctr"/>
          <a:lstStyle/>
          <a:p>
            <a:pPr indent="0" marL="0">
              <a:buNone/>
            </a:pPr>
            <a:r>
              <a:rPr lang="en-US" sz="1100" b="1" spc="60" kern="0" dirty="0">
                <a:solidFill>
                  <a:srgbClr val="FF7900"/>
                </a:solidFill>
                <a:latin typeface="Calibri" pitchFamily="34" charset="0"/>
                <a:ea typeface="Calibri" pitchFamily="34" charset="-122"/>
                <a:cs typeface="Calibri" pitchFamily="34" charset="-120"/>
              </a:rPr>
              <a:t>2 · Retrieval</a:t>
            </a:r>
            <a:endParaRPr lang="en-US" sz="1100" dirty="0"/>
          </a:p>
        </p:txBody>
      </p:sp>
      <p:sp>
        <p:nvSpPr>
          <p:cNvPr id="38" name="Text 33"/>
          <p:cNvSpPr/>
          <p:nvPr/>
        </p:nvSpPr>
        <p:spPr>
          <a:xfrm>
            <a:off x="3598850" y="3288792"/>
            <a:ext cx="2181530" cy="1463040"/>
          </a:xfrm>
          <a:prstGeom prst="rect">
            <a:avLst/>
          </a:prstGeom>
          <a:noFill/>
          <a:ln/>
        </p:spPr>
        <p:txBody>
          <a:bodyPr wrap="square" lIns="0" tIns="0" rIns="0" bIns="0" rtlCol="0" anchor="t"/>
          <a:lstStyle/>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The query is expanded into other phrasings, searched against 1,144 rows — passages plus questions generated for them — then reordered by a reranker before the cut.</a:t>
            </a:r>
            <a:endParaRPr lang="en-US" sz="1000" dirty="0"/>
          </a:p>
        </p:txBody>
      </p:sp>
      <p:sp>
        <p:nvSpPr>
          <p:cNvPr id="39" name="Shape 34"/>
          <p:cNvSpPr/>
          <p:nvPr/>
        </p:nvSpPr>
        <p:spPr>
          <a:xfrm>
            <a:off x="6191860" y="2813304"/>
            <a:ext cx="2620442" cy="2103120"/>
          </a:xfrm>
          <a:prstGeom prst="roundRect">
            <a:avLst>
              <a:gd name="adj" fmla="val 260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40" name="Text 35"/>
          <p:cNvSpPr/>
          <p:nvPr/>
        </p:nvSpPr>
        <p:spPr>
          <a:xfrm>
            <a:off x="6411316" y="2977896"/>
            <a:ext cx="2181530" cy="274320"/>
          </a:xfrm>
          <a:prstGeom prst="rect">
            <a:avLst/>
          </a:prstGeom>
          <a:noFill/>
          <a:ln/>
        </p:spPr>
        <p:txBody>
          <a:bodyPr wrap="square" lIns="0" tIns="0" rIns="0" bIns="0" rtlCol="0" anchor="ctr"/>
          <a:lstStyle/>
          <a:p>
            <a:pPr indent="0" marL="0">
              <a:buNone/>
            </a:pPr>
            <a:r>
              <a:rPr lang="en-US" sz="1100" b="1" spc="60" kern="0" dirty="0">
                <a:solidFill>
                  <a:srgbClr val="FF7900"/>
                </a:solidFill>
                <a:latin typeface="Calibri" pitchFamily="34" charset="0"/>
                <a:ea typeface="Calibri" pitchFamily="34" charset="-122"/>
                <a:cs typeface="Calibri" pitchFamily="34" charset="-120"/>
              </a:rPr>
              <a:t>3 · Generation</a:t>
            </a:r>
            <a:endParaRPr lang="en-US" sz="1100" dirty="0"/>
          </a:p>
        </p:txBody>
      </p:sp>
      <p:sp>
        <p:nvSpPr>
          <p:cNvPr id="41" name="Text 36"/>
          <p:cNvSpPr/>
          <p:nvPr/>
        </p:nvSpPr>
        <p:spPr>
          <a:xfrm>
            <a:off x="6411316" y="3288792"/>
            <a:ext cx="2181530" cy="1463040"/>
          </a:xfrm>
          <a:prstGeom prst="rect">
            <a:avLst/>
          </a:prstGeom>
          <a:noFill/>
          <a:ln/>
        </p:spPr>
        <p:txBody>
          <a:bodyPr wrap="square" lIns="0" tIns="0" rIns="0" bIns="0" rtlCol="0" anchor="t"/>
          <a:lstStyle/>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Grounding is strict, and the citation the model writes is rewritten against the index, so the page comes from retrieval metadata rather than from the model.</a:t>
            </a:r>
            <a:endParaRPr lang="en-US" sz="1000" dirty="0"/>
          </a:p>
        </p:txBody>
      </p:sp>
      <p:sp>
        <p:nvSpPr>
          <p:cNvPr id="42" name="Shape 37"/>
          <p:cNvSpPr/>
          <p:nvPr/>
        </p:nvSpPr>
        <p:spPr>
          <a:xfrm>
            <a:off x="9004325" y="2813304"/>
            <a:ext cx="2620442" cy="2103120"/>
          </a:xfrm>
          <a:prstGeom prst="roundRect">
            <a:avLst>
              <a:gd name="adj" fmla="val 2609"/>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43" name="Text 38"/>
          <p:cNvSpPr/>
          <p:nvPr/>
        </p:nvSpPr>
        <p:spPr>
          <a:xfrm>
            <a:off x="9223781" y="2977896"/>
            <a:ext cx="2181530" cy="274320"/>
          </a:xfrm>
          <a:prstGeom prst="rect">
            <a:avLst/>
          </a:prstGeom>
          <a:noFill/>
          <a:ln/>
        </p:spPr>
        <p:txBody>
          <a:bodyPr wrap="square" lIns="0" tIns="0" rIns="0" bIns="0" rtlCol="0" anchor="ctr"/>
          <a:lstStyle/>
          <a:p>
            <a:pPr indent="0" marL="0">
              <a:buNone/>
            </a:pPr>
            <a:r>
              <a:rPr lang="en-US" sz="1100" b="1" spc="60" kern="0" dirty="0">
                <a:solidFill>
                  <a:srgbClr val="0E7C5A"/>
                </a:solidFill>
                <a:latin typeface="Calibri" pitchFamily="34" charset="0"/>
                <a:ea typeface="Calibri" pitchFamily="34" charset="-122"/>
                <a:cs typeface="Calibri" pitchFamily="34" charset="-120"/>
              </a:rPr>
              <a:t>4 · Safety &amp; evaluation</a:t>
            </a:r>
            <a:endParaRPr lang="en-US" sz="1100" dirty="0"/>
          </a:p>
        </p:txBody>
      </p:sp>
      <p:sp>
        <p:nvSpPr>
          <p:cNvPr id="44" name="Text 39"/>
          <p:cNvSpPr/>
          <p:nvPr/>
        </p:nvSpPr>
        <p:spPr>
          <a:xfrm>
            <a:off x="9223781" y="3288792"/>
            <a:ext cx="2181530" cy="1463040"/>
          </a:xfrm>
          <a:prstGeom prst="rect">
            <a:avLst/>
          </a:prstGeom>
          <a:noFill/>
          <a:ln/>
        </p:spPr>
        <p:txBody>
          <a:bodyPr wrap="square" lIns="0" tIns="0" rIns="0" bIns="0" rtlCol="0" anchor="t"/>
          <a:lstStyle/>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Refusal when nothing relevant is retrieved, plus a 34-question golden set scored on four metrics — two grading retrieval, two grading the answer.</a:t>
            </a:r>
            <a:endParaRPr lang="en-US" sz="1000" dirty="0"/>
          </a:p>
        </p:txBody>
      </p:sp>
      <p:sp>
        <p:nvSpPr>
          <p:cNvPr id="45" name="Text 40"/>
          <p:cNvSpPr/>
          <p:nvPr/>
        </p:nvSpPr>
        <p:spPr>
          <a:xfrm>
            <a:off x="566928" y="5044440"/>
            <a:ext cx="11057839" cy="310896"/>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Everything runs on local models through one OpenAI-shaped client, so no user's health question leaves the machine and swapping providers is a base URL and two model ids.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RETRIEVAL PROBLEM · 1</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Retrieve a little, and the evidence never reaches the answer</a:t>
            </a:r>
            <a:endParaRPr lang="en-US" sz="3000" dirty="0"/>
          </a:p>
        </p:txBody>
      </p:sp>
      <p:sp>
        <p:nvSpPr>
          <p:cNvPr id="7" name="Text 2"/>
          <p:cNvSpPr/>
          <p:nvPr/>
        </p:nvSpPr>
        <p:spPr>
          <a:xfrm>
            <a:off x="566928" y="1844040"/>
            <a:ext cx="11057839" cy="308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We started where most systems start: dense search, take the top five passages, answer from those.</a:t>
            </a:r>
            <a:endParaRPr lang="en-US" sz="1450" dirty="0"/>
          </a:p>
        </p:txBody>
      </p:sp>
      <p:sp>
        <p:nvSpPr>
          <p:cNvPr id="8" name="Shape 3"/>
          <p:cNvSpPr/>
          <p:nvPr/>
        </p:nvSpPr>
        <p:spPr>
          <a:xfrm>
            <a:off x="566928" y="2390648"/>
            <a:ext cx="5394960" cy="3108960"/>
          </a:xfrm>
          <a:prstGeom prst="roundRect">
            <a:avLst>
              <a:gd name="adj" fmla="val 1765"/>
            </a:avLst>
          </a:prstGeom>
          <a:solidFill>
            <a:srgbClr val="FDF1EC"/>
          </a:solidFill>
          <a:ln w="9525">
            <a:solidFill>
              <a:srgbClr val="F3D8CB"/>
            </a:solidFill>
            <a:prstDash val="solid"/>
          </a:ln>
          <a:effectLst>
            <a:outerShdw sx="100000" sy="100000" kx="0" ky="0" algn="bl" rotWithShape="0" blurRad="127000" dist="508" dir="5400000">
              <a:srgbClr val="000000">
                <a:alpha val="9000"/>
              </a:srgbClr>
            </a:outerShdw>
          </a:effectLst>
        </p:spPr>
      </p:sp>
      <p:sp>
        <p:nvSpPr>
          <p:cNvPr id="9" name="Shape 4"/>
          <p:cNvSpPr/>
          <p:nvPr/>
        </p:nvSpPr>
        <p:spPr>
          <a:xfrm>
            <a:off x="786384" y="2573528"/>
            <a:ext cx="907085" cy="219456"/>
          </a:xfrm>
          <a:prstGeom prst="roundRect">
            <a:avLst>
              <a:gd name="adj" fmla="val 50000"/>
            </a:avLst>
          </a:prstGeom>
          <a:solidFill>
            <a:srgbClr val="B3261E"/>
          </a:solidFill>
          <a:ln w="12700">
            <a:solidFill>
              <a:srgbClr val="B3261E"/>
            </a:solidFill>
            <a:prstDash val="solid"/>
          </a:ln>
        </p:spPr>
      </p:sp>
      <p:sp>
        <p:nvSpPr>
          <p:cNvPr id="10" name="Text 5"/>
          <p:cNvSpPr/>
          <p:nvPr/>
        </p:nvSpPr>
        <p:spPr>
          <a:xfrm>
            <a:off x="786384" y="2573528"/>
            <a:ext cx="907085"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PROBLEM</a:t>
            </a:r>
            <a:endParaRPr lang="en-US" sz="850" dirty="0"/>
          </a:p>
        </p:txBody>
      </p:sp>
      <p:sp>
        <p:nvSpPr>
          <p:cNvPr id="11" name="Text 6"/>
          <p:cNvSpPr/>
          <p:nvPr/>
        </p:nvSpPr>
        <p:spPr>
          <a:xfrm>
            <a:off x="786384" y="2884424"/>
            <a:ext cx="4956048" cy="420624"/>
          </a:xfrm>
          <a:prstGeom prst="rect">
            <a:avLst/>
          </a:prstGeom>
          <a:noFill/>
          <a:ln/>
        </p:spPr>
        <p:txBody>
          <a:bodyPr wrap="square" lIns="0" tIns="0" rIns="0" bIns="0" rtlCol="0" anchor="t"/>
          <a:lstStyle/>
          <a:p>
            <a:pPr indent="0" marL="0">
              <a:lnSpc>
                <a:spcPts val="1800"/>
              </a:lnSpc>
              <a:buNone/>
            </a:pPr>
            <a:r>
              <a:rPr lang="en-US" sz="1500" b="1" dirty="0">
                <a:solidFill>
                  <a:srgbClr val="0E1A2B"/>
                </a:solidFill>
                <a:latin typeface="Cambria" pitchFamily="34" charset="0"/>
                <a:ea typeface="Cambria" pitchFamily="34" charset="-122"/>
                <a:cs typeface="Cambria" pitchFamily="34" charset="-120"/>
              </a:rPr>
              <a:t>About a third of the needed evidence never arrives</a:t>
            </a:r>
            <a:endParaRPr lang="en-US" sz="1500" dirty="0"/>
          </a:p>
        </p:txBody>
      </p:sp>
      <p:sp>
        <p:nvSpPr>
          <p:cNvPr id="12" name="Text 7"/>
          <p:cNvSpPr/>
          <p:nvPr/>
        </p:nvSpPr>
        <p:spPr>
          <a:xfrm>
            <a:off x="786384" y="3323336"/>
            <a:ext cx="4956048" cy="192024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Context recall sat in the low sixties — the retriever was finding some of what each answer needed and missing the rest. The failures were not random. Comparative questions, multi-part questions and one misspelled query were the ones that broke, and the worst of them retrieved nothing useful at all.</a:t>
            </a:r>
            <a:endParaRPr lang="en-US" sz="1050" dirty="0"/>
          </a:p>
          <a:p>
            <a:pPr indent="0" marL="0">
              <a:lnSpc>
                <a:spcPts val="1400"/>
              </a:lnSpc>
              <a:buNone/>
            </a:pP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A passage that is never retrieved cannot be cited, cannot be checked, and cannot appear in the answer. This is the ceiling on everything downstream.</a:t>
            </a:r>
            <a:endParaRPr lang="en-US" sz="1050" dirty="0"/>
          </a:p>
        </p:txBody>
      </p:sp>
      <p:sp>
        <p:nvSpPr>
          <p:cNvPr id="13" name="Shape 8"/>
          <p:cNvSpPr/>
          <p:nvPr/>
        </p:nvSpPr>
        <p:spPr>
          <a:xfrm>
            <a:off x="6144768" y="2390648"/>
            <a:ext cx="5479999" cy="3108960"/>
          </a:xfrm>
          <a:prstGeom prst="roundRect">
            <a:avLst>
              <a:gd name="adj" fmla="val 1765"/>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6382512" y="2500376"/>
            <a:ext cx="4937760" cy="274320"/>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Where the evidence went</a:t>
            </a:r>
            <a:endParaRPr lang="en-US" sz="1400" dirty="0"/>
          </a:p>
        </p:txBody>
      </p:sp>
      <p:sp>
        <p:nvSpPr>
          <p:cNvPr id="15" name="Text 10"/>
          <p:cNvSpPr/>
          <p:nvPr/>
        </p:nvSpPr>
        <p:spPr>
          <a:xfrm>
            <a:off x="6382512" y="3122168"/>
            <a:ext cx="3108960" cy="23774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Context recall — evidence found</a:t>
            </a:r>
            <a:endParaRPr lang="en-US" sz="1050" dirty="0"/>
          </a:p>
        </p:txBody>
      </p:sp>
      <p:sp>
        <p:nvSpPr>
          <p:cNvPr id="16" name="Shape 11"/>
          <p:cNvSpPr/>
          <p:nvPr/>
        </p:nvSpPr>
        <p:spPr>
          <a:xfrm>
            <a:off x="6382512" y="3396488"/>
            <a:ext cx="4206240" cy="201168"/>
          </a:xfrm>
          <a:prstGeom prst="rect">
            <a:avLst/>
          </a:prstGeom>
          <a:solidFill>
            <a:srgbClr val="E3E9F1"/>
          </a:solidFill>
          <a:ln w="12700">
            <a:solidFill>
              <a:srgbClr val="E3E9F1"/>
            </a:solidFill>
            <a:prstDash val="solid"/>
          </a:ln>
        </p:spPr>
      </p:sp>
      <p:sp>
        <p:nvSpPr>
          <p:cNvPr id="17" name="Shape 12"/>
          <p:cNvSpPr/>
          <p:nvPr/>
        </p:nvSpPr>
        <p:spPr>
          <a:xfrm>
            <a:off x="6382512" y="3396488"/>
            <a:ext cx="2649931" cy="201168"/>
          </a:xfrm>
          <a:prstGeom prst="rect">
            <a:avLst/>
          </a:prstGeom>
          <a:solidFill>
            <a:srgbClr val="B3261E"/>
          </a:solidFill>
          <a:ln w="12700">
            <a:solidFill>
              <a:srgbClr val="B3261E"/>
            </a:solidFill>
            <a:prstDash val="solid"/>
          </a:ln>
        </p:spPr>
      </p:sp>
      <p:sp>
        <p:nvSpPr>
          <p:cNvPr id="18" name="Text 13"/>
          <p:cNvSpPr/>
          <p:nvPr/>
        </p:nvSpPr>
        <p:spPr>
          <a:xfrm>
            <a:off x="10698480" y="3323336"/>
            <a:ext cx="731520" cy="329184"/>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63%</a:t>
            </a:r>
            <a:endParaRPr lang="en-US" sz="1300" dirty="0"/>
          </a:p>
        </p:txBody>
      </p:sp>
      <p:sp>
        <p:nvSpPr>
          <p:cNvPr id="19" name="Text 14"/>
          <p:cNvSpPr/>
          <p:nvPr/>
        </p:nvSpPr>
        <p:spPr>
          <a:xfrm>
            <a:off x="6382512" y="4036568"/>
            <a:ext cx="3108960" cy="23774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Never retrieved at all</a:t>
            </a:r>
            <a:endParaRPr lang="en-US" sz="1050" dirty="0"/>
          </a:p>
        </p:txBody>
      </p:sp>
      <p:sp>
        <p:nvSpPr>
          <p:cNvPr id="20" name="Shape 15"/>
          <p:cNvSpPr/>
          <p:nvPr/>
        </p:nvSpPr>
        <p:spPr>
          <a:xfrm>
            <a:off x="6382512" y="4310888"/>
            <a:ext cx="4206240" cy="201168"/>
          </a:xfrm>
          <a:prstGeom prst="rect">
            <a:avLst/>
          </a:prstGeom>
          <a:solidFill>
            <a:srgbClr val="E3E9F1"/>
          </a:solidFill>
          <a:ln w="12700">
            <a:solidFill>
              <a:srgbClr val="E3E9F1"/>
            </a:solidFill>
            <a:prstDash val="solid"/>
          </a:ln>
        </p:spPr>
      </p:sp>
      <p:sp>
        <p:nvSpPr>
          <p:cNvPr id="21" name="Shape 16"/>
          <p:cNvSpPr/>
          <p:nvPr/>
        </p:nvSpPr>
        <p:spPr>
          <a:xfrm>
            <a:off x="6382512" y="4310888"/>
            <a:ext cx="1556309" cy="201168"/>
          </a:xfrm>
          <a:prstGeom prst="rect">
            <a:avLst/>
          </a:prstGeom>
          <a:solidFill>
            <a:srgbClr val="D8DEE6"/>
          </a:solidFill>
          <a:ln w="12700">
            <a:solidFill>
              <a:srgbClr val="D8DEE6"/>
            </a:solidFill>
            <a:prstDash val="solid"/>
          </a:ln>
        </p:spPr>
      </p:sp>
      <p:sp>
        <p:nvSpPr>
          <p:cNvPr id="22" name="Text 17"/>
          <p:cNvSpPr/>
          <p:nvPr/>
        </p:nvSpPr>
        <p:spPr>
          <a:xfrm>
            <a:off x="10698480" y="4237736"/>
            <a:ext cx="731520" cy="329184"/>
          </a:xfrm>
          <a:prstGeom prst="rect">
            <a:avLst/>
          </a:prstGeom>
          <a:noFill/>
          <a:ln/>
        </p:spPr>
        <p:txBody>
          <a:bodyPr wrap="square" lIns="0" tIns="0" rIns="0" bIns="0" rtlCol="0" anchor="ctr"/>
          <a:lstStyle/>
          <a:p>
            <a:pPr indent="0" marL="0">
              <a:buNone/>
            </a:pPr>
            <a:r>
              <a:rPr lang="en-US" sz="1300" b="1" dirty="0">
                <a:solidFill>
                  <a:srgbClr val="6B7A8C"/>
                </a:solidFill>
                <a:latin typeface="Calibri" pitchFamily="34" charset="0"/>
                <a:ea typeface="Calibri" pitchFamily="34" charset="-122"/>
                <a:cs typeface="Calibri" pitchFamily="34" charset="-120"/>
              </a:rPr>
              <a:t>37%</a:t>
            </a:r>
            <a:endParaRPr lang="en-US" sz="1300" dirty="0"/>
          </a:p>
        </p:txBody>
      </p:sp>
      <p:sp>
        <p:nvSpPr>
          <p:cNvPr id="23" name="Text 18"/>
          <p:cNvSpPr/>
          <p:nvPr/>
        </p:nvSpPr>
        <p:spPr>
          <a:xfrm>
            <a:off x="6382512" y="5060696"/>
            <a:ext cx="4937760" cy="292608"/>
          </a:xfrm>
          <a:prstGeom prst="rect">
            <a:avLst/>
          </a:prstGeom>
          <a:noFill/>
          <a:ln/>
        </p:spPr>
        <p:txBody>
          <a:bodyPr wrap="square" lIns="0" tIns="0" rIns="0" bIns="0" rtlCol="0" anchor="ctr"/>
          <a:lstStyle/>
          <a:p>
            <a:pPr indent="0" marL="0">
              <a:buNone/>
            </a:pPr>
            <a:r>
              <a:rPr lang="en-US" sz="1000" i="1" dirty="0">
                <a:solidFill>
                  <a:srgbClr val="6B7A8C"/>
                </a:solidFill>
                <a:latin typeface="Calibri" pitchFamily="34" charset="0"/>
                <a:ea typeface="Calibri" pitchFamily="34" charset="-122"/>
                <a:cs typeface="Calibri" pitchFamily="34" charset="-120"/>
              </a:rPr>
              <a:t>Measured across 34 questions written to stress the retriever, not to flatter it.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RETRIEVAL PROBLEM · 2</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Retrieve more, and the answer gets diluted instead</a:t>
            </a:r>
            <a:endParaRPr lang="en-US" sz="3000" dirty="0"/>
          </a:p>
        </p:txBody>
      </p:sp>
      <p:sp>
        <p:nvSpPr>
          <p:cNvPr id="7" name="Text 2"/>
          <p:cNvSpPr/>
          <p:nvPr/>
        </p:nvSpPr>
        <p:spPr>
          <a:xfrm>
            <a:off x="566928" y="1517904"/>
            <a:ext cx="11057839" cy="308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So we looked deeper — twice as many passages per question. Recall rose sharply, and a second problem took its place.</a:t>
            </a:r>
            <a:endParaRPr lang="en-US" sz="1450" dirty="0"/>
          </a:p>
        </p:txBody>
      </p:sp>
      <p:sp>
        <p:nvSpPr>
          <p:cNvPr id="8" name="Shape 3"/>
          <p:cNvSpPr/>
          <p:nvPr/>
        </p:nvSpPr>
        <p:spPr>
          <a:xfrm>
            <a:off x="566928" y="2064512"/>
            <a:ext cx="5394960" cy="3108960"/>
          </a:xfrm>
          <a:prstGeom prst="roundRect">
            <a:avLst>
              <a:gd name="adj" fmla="val 1765"/>
            </a:avLst>
          </a:prstGeom>
          <a:solidFill>
            <a:srgbClr val="FFF6EC"/>
          </a:solidFill>
          <a:ln w="9525">
            <a:solidFill>
              <a:srgbClr val="F0DCC2"/>
            </a:solidFill>
            <a:prstDash val="solid"/>
          </a:ln>
          <a:effectLst>
            <a:outerShdw sx="100000" sy="100000" kx="0" ky="0" algn="bl" rotWithShape="0" blurRad="127000" dist="508" dir="5400000">
              <a:srgbClr val="000000">
                <a:alpha val="9000"/>
              </a:srgbClr>
            </a:outerShdw>
          </a:effectLst>
        </p:spPr>
      </p:sp>
      <p:sp>
        <p:nvSpPr>
          <p:cNvPr id="9" name="Shape 4"/>
          <p:cNvSpPr/>
          <p:nvPr/>
        </p:nvSpPr>
        <p:spPr>
          <a:xfrm>
            <a:off x="786384" y="2247392"/>
            <a:ext cx="1170432" cy="219456"/>
          </a:xfrm>
          <a:prstGeom prst="roundRect">
            <a:avLst>
              <a:gd name="adj" fmla="val 50000"/>
            </a:avLst>
          </a:prstGeom>
          <a:solidFill>
            <a:srgbClr val="B26A00"/>
          </a:solidFill>
          <a:ln w="12700">
            <a:solidFill>
              <a:srgbClr val="B26A00"/>
            </a:solidFill>
            <a:prstDash val="solid"/>
          </a:ln>
        </p:spPr>
      </p:sp>
      <p:sp>
        <p:nvSpPr>
          <p:cNvPr id="10" name="Text 5"/>
          <p:cNvSpPr/>
          <p:nvPr/>
        </p:nvSpPr>
        <p:spPr>
          <a:xfrm>
            <a:off x="786384" y="2247392"/>
            <a:ext cx="1170432"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NEW PROBLEM</a:t>
            </a:r>
            <a:endParaRPr lang="en-US" sz="850" dirty="0"/>
          </a:p>
        </p:txBody>
      </p:sp>
      <p:sp>
        <p:nvSpPr>
          <p:cNvPr id="11" name="Text 6"/>
          <p:cNvSpPr/>
          <p:nvPr/>
        </p:nvSpPr>
        <p:spPr>
          <a:xfrm>
            <a:off x="786384" y="2558288"/>
            <a:ext cx="4956048" cy="420624"/>
          </a:xfrm>
          <a:prstGeom prst="rect">
            <a:avLst/>
          </a:prstGeom>
          <a:noFill/>
          <a:ln/>
        </p:spPr>
        <p:txBody>
          <a:bodyPr wrap="square" lIns="0" tIns="0" rIns="0" bIns="0" rtlCol="0" anchor="t"/>
          <a:lstStyle/>
          <a:p>
            <a:pPr indent="0" marL="0">
              <a:lnSpc>
                <a:spcPts val="1800"/>
              </a:lnSpc>
              <a:buNone/>
            </a:pPr>
            <a:r>
              <a:rPr lang="en-US" sz="1500" b="1" dirty="0">
                <a:solidFill>
                  <a:srgbClr val="0E1A2B"/>
                </a:solidFill>
                <a:latin typeface="Cambria" pitchFamily="34" charset="0"/>
                <a:ea typeface="Cambria" pitchFamily="34" charset="-122"/>
                <a:cs typeface="Cambria" pitchFamily="34" charset="-120"/>
              </a:rPr>
              <a:t>The evidence arrives, buried in what came with it</a:t>
            </a:r>
            <a:endParaRPr lang="en-US" sz="1500" dirty="0"/>
          </a:p>
        </p:txBody>
      </p:sp>
      <p:sp>
        <p:nvSpPr>
          <p:cNvPr id="12" name="Text 7"/>
          <p:cNvSpPr/>
          <p:nvPr/>
        </p:nvSpPr>
        <p:spPr>
          <a:xfrm>
            <a:off x="786384" y="2997200"/>
            <a:ext cx="4956048" cy="192024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Recall climbed into the mid-eighties and every multi-part and comparative question was answered — including the misspelled one, which turned out never to have been a spelling problem. The right passages had been found all along and ranked below the cut.</a:t>
            </a:r>
            <a:endParaRPr lang="en-US" sz="1050" dirty="0"/>
          </a:p>
          <a:p>
            <a:pPr indent="0" marL="0">
              <a:lnSpc>
                <a:spcPts val="1400"/>
              </a:lnSpc>
              <a:buNone/>
            </a:pP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But precision fell into the low seventies: most of what now reached the answerer was off-topic. Answers grew longer, hedged more, and drifted from the question asked. Depth bought recall and paid for it in relevance.</a:t>
            </a:r>
            <a:endParaRPr lang="en-US" sz="1050" dirty="0"/>
          </a:p>
        </p:txBody>
      </p:sp>
      <p:sp>
        <p:nvSpPr>
          <p:cNvPr id="13" name="Shape 8"/>
          <p:cNvSpPr/>
          <p:nvPr/>
        </p:nvSpPr>
        <p:spPr>
          <a:xfrm>
            <a:off x="6144768" y="2064512"/>
            <a:ext cx="5479999" cy="3108960"/>
          </a:xfrm>
          <a:prstGeom prst="roundRect">
            <a:avLst>
              <a:gd name="adj" fmla="val 1765"/>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6382512" y="2174240"/>
            <a:ext cx="2286000" cy="274320"/>
          </a:xfrm>
          <a:prstGeom prst="rect">
            <a:avLst/>
          </a:prstGeom>
          <a:noFill/>
          <a:ln/>
        </p:spPr>
        <p:txBody>
          <a:bodyPr wrap="square" lIns="0" tIns="0" rIns="0" bIns="0" rtlCol="0" anchor="ctr"/>
          <a:lstStyle/>
          <a:p>
            <a:pPr indent="0" marL="0">
              <a:buNone/>
            </a:pPr>
            <a:r>
              <a:rPr lang="en-US" sz="1500" b="1" dirty="0">
                <a:solidFill>
                  <a:srgbClr val="0E1A2B"/>
                </a:solidFill>
                <a:latin typeface="Calibri" pitchFamily="34" charset="0"/>
                <a:ea typeface="Calibri" pitchFamily="34" charset="-122"/>
                <a:cs typeface="Calibri" pitchFamily="34" charset="-120"/>
              </a:rPr>
              <a:t>Shallow  →  deeper</a:t>
            </a:r>
            <a:endParaRPr lang="en-US" sz="1500" dirty="0"/>
          </a:p>
        </p:txBody>
      </p:sp>
      <p:sp>
        <p:nvSpPr>
          <p:cNvPr id="15" name="Text 10"/>
          <p:cNvSpPr/>
          <p:nvPr/>
        </p:nvSpPr>
        <p:spPr>
          <a:xfrm>
            <a:off x="8796528" y="2192528"/>
            <a:ext cx="2560320" cy="274320"/>
          </a:xfrm>
          <a:prstGeom prst="rect">
            <a:avLst/>
          </a:prstGeom>
          <a:noFill/>
          <a:ln/>
        </p:spPr>
        <p:txBody>
          <a:bodyPr wrap="square" lIns="0" tIns="0" rIns="0" bIns="0" rtlCol="0" anchor="ctr"/>
          <a:lstStyle/>
          <a:p>
            <a:pPr algn="r" indent="0" marL="0">
              <a:buNone/>
            </a:pPr>
            <a:r>
              <a:rPr lang="en-US" sz="1000" i="1" dirty="0">
                <a:solidFill>
                  <a:srgbClr val="6B7A8C"/>
                </a:solidFill>
                <a:latin typeface="Calibri" pitchFamily="34" charset="0"/>
                <a:ea typeface="Calibri" pitchFamily="34" charset="-122"/>
                <a:cs typeface="Calibri" pitchFamily="34" charset="-120"/>
              </a:rPr>
              <a:t>a real trade, not a free win</a:t>
            </a:r>
            <a:endParaRPr lang="en-US" sz="1000" dirty="0"/>
          </a:p>
        </p:txBody>
      </p:sp>
      <p:sp>
        <p:nvSpPr>
          <p:cNvPr id="16" name="Text 11"/>
          <p:cNvSpPr/>
          <p:nvPr/>
        </p:nvSpPr>
        <p:spPr>
          <a:xfrm>
            <a:off x="6382512" y="2814320"/>
            <a:ext cx="3017520" cy="365760"/>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Context recall</a:t>
            </a:r>
            <a:endParaRPr lang="en-US" sz="1050" dirty="0"/>
          </a:p>
        </p:txBody>
      </p:sp>
      <p:sp>
        <p:nvSpPr>
          <p:cNvPr id="17" name="Text 12"/>
          <p:cNvSpPr/>
          <p:nvPr/>
        </p:nvSpPr>
        <p:spPr>
          <a:xfrm>
            <a:off x="9454896" y="2814320"/>
            <a:ext cx="731520" cy="365760"/>
          </a:xfrm>
          <a:prstGeom prst="rect">
            <a:avLst/>
          </a:prstGeom>
          <a:noFill/>
          <a:ln/>
        </p:spPr>
        <p:txBody>
          <a:bodyPr wrap="square" lIns="0" tIns="0" rIns="0" bIns="0" rtlCol="0" anchor="ctr"/>
          <a:lstStyle/>
          <a:p>
            <a:pPr algn="r" indent="0" marL="0">
              <a:buNone/>
            </a:pPr>
            <a:r>
              <a:rPr lang="en-US" sz="1300" dirty="0">
                <a:solidFill>
                  <a:srgbClr val="6B7A8C"/>
                </a:solidFill>
                <a:latin typeface="Calibri" pitchFamily="34" charset="0"/>
                <a:ea typeface="Calibri" pitchFamily="34" charset="-122"/>
                <a:cs typeface="Calibri" pitchFamily="34" charset="-120"/>
              </a:rPr>
              <a:t>63%</a:t>
            </a:r>
            <a:endParaRPr lang="en-US" sz="1300" dirty="0"/>
          </a:p>
        </p:txBody>
      </p:sp>
      <p:sp>
        <p:nvSpPr>
          <p:cNvPr id="18" name="Text 13"/>
          <p:cNvSpPr/>
          <p:nvPr/>
        </p:nvSpPr>
        <p:spPr>
          <a:xfrm>
            <a:off x="10204704" y="2814320"/>
            <a:ext cx="365760" cy="365760"/>
          </a:xfrm>
          <a:prstGeom prst="rect">
            <a:avLst/>
          </a:prstGeom>
          <a:noFill/>
          <a:ln/>
        </p:spPr>
        <p:txBody>
          <a:bodyPr wrap="square" lIns="0" tIns="0" rIns="0" bIns="0" rtlCol="0" anchor="ctr"/>
          <a:lstStyle/>
          <a:p>
            <a:pPr algn="ctr" indent="0" marL="0">
              <a:buNone/>
            </a:pPr>
            <a:r>
              <a:rPr lang="en-US" sz="1200" dirty="0">
                <a:solidFill>
                  <a:srgbClr val="D8DEE6"/>
                </a:solidFill>
                <a:latin typeface="Calibri" pitchFamily="34" charset="0"/>
                <a:ea typeface="Calibri" pitchFamily="34" charset="-122"/>
                <a:cs typeface="Calibri" pitchFamily="34" charset="-120"/>
              </a:rPr>
              <a:t>→</a:t>
            </a:r>
            <a:endParaRPr lang="en-US" sz="1200" dirty="0"/>
          </a:p>
        </p:txBody>
      </p:sp>
      <p:sp>
        <p:nvSpPr>
          <p:cNvPr id="19" name="Text 14"/>
          <p:cNvSpPr/>
          <p:nvPr/>
        </p:nvSpPr>
        <p:spPr>
          <a:xfrm>
            <a:off x="10570464" y="2814320"/>
            <a:ext cx="822960" cy="365760"/>
          </a:xfrm>
          <a:prstGeom prst="rect">
            <a:avLst/>
          </a:prstGeom>
          <a:noFill/>
          <a:ln/>
        </p:spPr>
        <p:txBody>
          <a:bodyPr wrap="square" lIns="0" tIns="0" rIns="0" bIns="0" rtlCol="0" anchor="ctr"/>
          <a:lstStyle/>
          <a:p>
            <a:pPr algn="r" indent="0" marL="0">
              <a:buNone/>
            </a:pPr>
            <a:r>
              <a:rPr lang="en-US" sz="1400" b="1" dirty="0">
                <a:solidFill>
                  <a:srgbClr val="0E7C5A"/>
                </a:solidFill>
                <a:latin typeface="Calibri" pitchFamily="34" charset="0"/>
                <a:ea typeface="Calibri" pitchFamily="34" charset="-122"/>
                <a:cs typeface="Calibri" pitchFamily="34" charset="-120"/>
              </a:rPr>
              <a:t>85%</a:t>
            </a:r>
            <a:endParaRPr lang="en-US" sz="1400" dirty="0"/>
          </a:p>
        </p:txBody>
      </p:sp>
      <p:sp>
        <p:nvSpPr>
          <p:cNvPr id="20" name="Text 15"/>
          <p:cNvSpPr/>
          <p:nvPr/>
        </p:nvSpPr>
        <p:spPr>
          <a:xfrm>
            <a:off x="6382512" y="3436112"/>
            <a:ext cx="3017520" cy="365760"/>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Context precision</a:t>
            </a:r>
            <a:endParaRPr lang="en-US" sz="1050" dirty="0"/>
          </a:p>
        </p:txBody>
      </p:sp>
      <p:sp>
        <p:nvSpPr>
          <p:cNvPr id="21" name="Text 16"/>
          <p:cNvSpPr/>
          <p:nvPr/>
        </p:nvSpPr>
        <p:spPr>
          <a:xfrm>
            <a:off x="9454896" y="3436112"/>
            <a:ext cx="731520" cy="365760"/>
          </a:xfrm>
          <a:prstGeom prst="rect">
            <a:avLst/>
          </a:prstGeom>
          <a:noFill/>
          <a:ln/>
        </p:spPr>
        <p:txBody>
          <a:bodyPr wrap="square" lIns="0" tIns="0" rIns="0" bIns="0" rtlCol="0" anchor="ctr"/>
          <a:lstStyle/>
          <a:p>
            <a:pPr algn="r" indent="0" marL="0">
              <a:buNone/>
            </a:pPr>
            <a:r>
              <a:rPr lang="en-US" sz="1300" dirty="0">
                <a:solidFill>
                  <a:srgbClr val="6B7A8C"/>
                </a:solidFill>
                <a:latin typeface="Calibri" pitchFamily="34" charset="0"/>
                <a:ea typeface="Calibri" pitchFamily="34" charset="-122"/>
                <a:cs typeface="Calibri" pitchFamily="34" charset="-120"/>
              </a:rPr>
              <a:t>79%</a:t>
            </a:r>
            <a:endParaRPr lang="en-US" sz="1300" dirty="0"/>
          </a:p>
        </p:txBody>
      </p:sp>
      <p:sp>
        <p:nvSpPr>
          <p:cNvPr id="22" name="Text 17"/>
          <p:cNvSpPr/>
          <p:nvPr/>
        </p:nvSpPr>
        <p:spPr>
          <a:xfrm>
            <a:off x="10204704" y="3436112"/>
            <a:ext cx="365760" cy="365760"/>
          </a:xfrm>
          <a:prstGeom prst="rect">
            <a:avLst/>
          </a:prstGeom>
          <a:noFill/>
          <a:ln/>
        </p:spPr>
        <p:txBody>
          <a:bodyPr wrap="square" lIns="0" tIns="0" rIns="0" bIns="0" rtlCol="0" anchor="ctr"/>
          <a:lstStyle/>
          <a:p>
            <a:pPr algn="ctr" indent="0" marL="0">
              <a:buNone/>
            </a:pPr>
            <a:r>
              <a:rPr lang="en-US" sz="1200" dirty="0">
                <a:solidFill>
                  <a:srgbClr val="D8DEE6"/>
                </a:solidFill>
                <a:latin typeface="Calibri" pitchFamily="34" charset="0"/>
                <a:ea typeface="Calibri" pitchFamily="34" charset="-122"/>
                <a:cs typeface="Calibri" pitchFamily="34" charset="-120"/>
              </a:rPr>
              <a:t>→</a:t>
            </a:r>
            <a:endParaRPr lang="en-US" sz="1200" dirty="0"/>
          </a:p>
        </p:txBody>
      </p:sp>
      <p:sp>
        <p:nvSpPr>
          <p:cNvPr id="23" name="Text 18"/>
          <p:cNvSpPr/>
          <p:nvPr/>
        </p:nvSpPr>
        <p:spPr>
          <a:xfrm>
            <a:off x="10570464" y="3436112"/>
            <a:ext cx="822960" cy="365760"/>
          </a:xfrm>
          <a:prstGeom prst="rect">
            <a:avLst/>
          </a:prstGeom>
          <a:noFill/>
          <a:ln/>
        </p:spPr>
        <p:txBody>
          <a:bodyPr wrap="square" lIns="0" tIns="0" rIns="0" bIns="0" rtlCol="0" anchor="ctr"/>
          <a:lstStyle/>
          <a:p>
            <a:pPr algn="r" indent="0" marL="0">
              <a:buNone/>
            </a:pPr>
            <a:r>
              <a:rPr lang="en-US" sz="1400" b="1" dirty="0">
                <a:solidFill>
                  <a:srgbClr val="B3261E"/>
                </a:solidFill>
                <a:latin typeface="Calibri" pitchFamily="34" charset="0"/>
                <a:ea typeface="Calibri" pitchFamily="34" charset="-122"/>
                <a:cs typeface="Calibri" pitchFamily="34" charset="-120"/>
              </a:rPr>
              <a:t>74%</a:t>
            </a:r>
            <a:endParaRPr lang="en-US" sz="1400" dirty="0"/>
          </a:p>
        </p:txBody>
      </p:sp>
      <p:sp>
        <p:nvSpPr>
          <p:cNvPr id="24" name="Text 19"/>
          <p:cNvSpPr/>
          <p:nvPr/>
        </p:nvSpPr>
        <p:spPr>
          <a:xfrm>
            <a:off x="6382512" y="4057904"/>
            <a:ext cx="3017520" cy="365760"/>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Answer relevancy</a:t>
            </a:r>
            <a:endParaRPr lang="en-US" sz="1050" dirty="0"/>
          </a:p>
        </p:txBody>
      </p:sp>
      <p:sp>
        <p:nvSpPr>
          <p:cNvPr id="25" name="Text 20"/>
          <p:cNvSpPr/>
          <p:nvPr/>
        </p:nvSpPr>
        <p:spPr>
          <a:xfrm>
            <a:off x="9454896" y="4057904"/>
            <a:ext cx="731520" cy="365760"/>
          </a:xfrm>
          <a:prstGeom prst="rect">
            <a:avLst/>
          </a:prstGeom>
          <a:noFill/>
          <a:ln/>
        </p:spPr>
        <p:txBody>
          <a:bodyPr wrap="square" lIns="0" tIns="0" rIns="0" bIns="0" rtlCol="0" anchor="ctr"/>
          <a:lstStyle/>
          <a:p>
            <a:pPr algn="r" indent="0" marL="0">
              <a:buNone/>
            </a:pPr>
            <a:r>
              <a:rPr lang="en-US" sz="1300" dirty="0">
                <a:solidFill>
                  <a:srgbClr val="6B7A8C"/>
                </a:solidFill>
                <a:latin typeface="Calibri" pitchFamily="34" charset="0"/>
                <a:ea typeface="Calibri" pitchFamily="34" charset="-122"/>
                <a:cs typeface="Calibri" pitchFamily="34" charset="-120"/>
              </a:rPr>
              <a:t>77%</a:t>
            </a:r>
            <a:endParaRPr lang="en-US" sz="1300" dirty="0"/>
          </a:p>
        </p:txBody>
      </p:sp>
      <p:sp>
        <p:nvSpPr>
          <p:cNvPr id="26" name="Text 21"/>
          <p:cNvSpPr/>
          <p:nvPr/>
        </p:nvSpPr>
        <p:spPr>
          <a:xfrm>
            <a:off x="10204704" y="4057904"/>
            <a:ext cx="365760" cy="365760"/>
          </a:xfrm>
          <a:prstGeom prst="rect">
            <a:avLst/>
          </a:prstGeom>
          <a:noFill/>
          <a:ln/>
        </p:spPr>
        <p:txBody>
          <a:bodyPr wrap="square" lIns="0" tIns="0" rIns="0" bIns="0" rtlCol="0" anchor="ctr"/>
          <a:lstStyle/>
          <a:p>
            <a:pPr algn="ctr" indent="0" marL="0">
              <a:buNone/>
            </a:pPr>
            <a:r>
              <a:rPr lang="en-US" sz="1200" dirty="0">
                <a:solidFill>
                  <a:srgbClr val="D8DEE6"/>
                </a:solidFill>
                <a:latin typeface="Calibri" pitchFamily="34" charset="0"/>
                <a:ea typeface="Calibri" pitchFamily="34" charset="-122"/>
                <a:cs typeface="Calibri" pitchFamily="34" charset="-120"/>
              </a:rPr>
              <a:t>→</a:t>
            </a:r>
            <a:endParaRPr lang="en-US" sz="1200" dirty="0"/>
          </a:p>
        </p:txBody>
      </p:sp>
      <p:sp>
        <p:nvSpPr>
          <p:cNvPr id="27" name="Text 22"/>
          <p:cNvSpPr/>
          <p:nvPr/>
        </p:nvSpPr>
        <p:spPr>
          <a:xfrm>
            <a:off x="10570464" y="4057904"/>
            <a:ext cx="822960" cy="365760"/>
          </a:xfrm>
          <a:prstGeom prst="rect">
            <a:avLst/>
          </a:prstGeom>
          <a:noFill/>
          <a:ln/>
        </p:spPr>
        <p:txBody>
          <a:bodyPr wrap="square" lIns="0" tIns="0" rIns="0" bIns="0" rtlCol="0" anchor="ctr"/>
          <a:lstStyle/>
          <a:p>
            <a:pPr algn="r" indent="0" marL="0">
              <a:buNone/>
            </a:pPr>
            <a:r>
              <a:rPr lang="en-US" sz="1400" b="1" dirty="0">
                <a:solidFill>
                  <a:srgbClr val="6B7A8C"/>
                </a:solidFill>
                <a:latin typeface="Calibri" pitchFamily="34" charset="0"/>
                <a:ea typeface="Calibri" pitchFamily="34" charset="-122"/>
                <a:cs typeface="Calibri" pitchFamily="34" charset="-120"/>
              </a:rPr>
              <a:t>77%</a:t>
            </a:r>
            <a:endParaRPr lang="en-US" sz="1400" dirty="0"/>
          </a:p>
        </p:txBody>
      </p:sp>
      <p:sp>
        <p:nvSpPr>
          <p:cNvPr id="28" name="Text 23"/>
          <p:cNvSpPr/>
          <p:nvPr/>
        </p:nvSpPr>
        <p:spPr>
          <a:xfrm>
            <a:off x="6382512" y="4734560"/>
            <a:ext cx="4937760" cy="329184"/>
          </a:xfrm>
          <a:prstGeom prst="rect">
            <a:avLst/>
          </a:prstGeom>
          <a:noFill/>
          <a:ln/>
        </p:spPr>
        <p:txBody>
          <a:bodyPr wrap="square" lIns="0" tIns="0" rIns="0" bIns="0" rtlCol="0" anchor="ctr"/>
          <a:lstStyle/>
          <a:p>
            <a:pPr indent="0" marL="0">
              <a:buNone/>
            </a:pPr>
            <a:r>
              <a:rPr lang="en-US" sz="1000" i="1" dirty="0">
                <a:solidFill>
                  <a:srgbClr val="6B7A8C"/>
                </a:solidFill>
                <a:latin typeface="Calibri" pitchFamily="34" charset="0"/>
                <a:ea typeface="Calibri" pitchFamily="34" charset="-122"/>
                <a:cs typeface="Calibri" pitchFamily="34" charset="-120"/>
              </a:rPr>
              <a:t>Depth cannot fix ranking. It only moves the cut further down a list that is still in the wrong order.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RETRIEVAL PROBLEM · 3</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Retrieve deep, then reorder — and keep both</a:t>
            </a:r>
            <a:endParaRPr lang="en-US" sz="3000" dirty="0"/>
          </a:p>
        </p:txBody>
      </p:sp>
      <p:sp>
        <p:nvSpPr>
          <p:cNvPr id="7" name="Text 2"/>
          <p:cNvSpPr/>
          <p:nvPr/>
        </p:nvSpPr>
        <p:spPr>
          <a:xfrm>
            <a:off x="566928" y="1517904"/>
            <a:ext cx="11057839" cy="562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Before building anything we measured where the evidence actually sits. Two fifths of it was being retrieved and then ranked too low: a reordering problem, not a recall problem.</a:t>
            </a:r>
            <a:endParaRPr lang="en-US" sz="1450" dirty="0"/>
          </a:p>
        </p:txBody>
      </p:sp>
      <p:sp>
        <p:nvSpPr>
          <p:cNvPr id="8" name="Shape 3"/>
          <p:cNvSpPr/>
          <p:nvPr/>
        </p:nvSpPr>
        <p:spPr>
          <a:xfrm>
            <a:off x="566928" y="2318512"/>
            <a:ext cx="5394960" cy="3108960"/>
          </a:xfrm>
          <a:prstGeom prst="roundRect">
            <a:avLst>
              <a:gd name="adj" fmla="val 1765"/>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9" name="Shape 4"/>
          <p:cNvSpPr/>
          <p:nvPr/>
        </p:nvSpPr>
        <p:spPr>
          <a:xfrm>
            <a:off x="786384" y="2501392"/>
            <a:ext cx="643738" cy="219456"/>
          </a:xfrm>
          <a:prstGeom prst="roundRect">
            <a:avLst>
              <a:gd name="adj" fmla="val 50000"/>
            </a:avLst>
          </a:prstGeom>
          <a:solidFill>
            <a:srgbClr val="0E7C5A"/>
          </a:solidFill>
          <a:ln w="12700">
            <a:solidFill>
              <a:srgbClr val="0E7C5A"/>
            </a:solidFill>
            <a:prstDash val="solid"/>
          </a:ln>
        </p:spPr>
      </p:sp>
      <p:sp>
        <p:nvSpPr>
          <p:cNvPr id="10" name="Text 5"/>
          <p:cNvSpPr/>
          <p:nvPr/>
        </p:nvSpPr>
        <p:spPr>
          <a:xfrm>
            <a:off x="786384" y="2501392"/>
            <a:ext cx="64373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FIX</a:t>
            </a:r>
            <a:endParaRPr lang="en-US" sz="850" dirty="0"/>
          </a:p>
        </p:txBody>
      </p:sp>
      <p:sp>
        <p:nvSpPr>
          <p:cNvPr id="11" name="Text 6"/>
          <p:cNvSpPr/>
          <p:nvPr/>
        </p:nvSpPr>
        <p:spPr>
          <a:xfrm>
            <a:off x="786384" y="2812288"/>
            <a:ext cx="4956048" cy="420624"/>
          </a:xfrm>
          <a:prstGeom prst="rect">
            <a:avLst/>
          </a:prstGeom>
          <a:noFill/>
          <a:ln/>
        </p:spPr>
        <p:txBody>
          <a:bodyPr wrap="square" lIns="0" tIns="0" rIns="0" bIns="0" rtlCol="0" anchor="t"/>
          <a:lstStyle/>
          <a:p>
            <a:pPr indent="0" marL="0">
              <a:lnSpc>
                <a:spcPts val="1800"/>
              </a:lnSpc>
              <a:buNone/>
            </a:pPr>
            <a:r>
              <a:rPr lang="en-US" sz="1500" b="1" dirty="0">
                <a:solidFill>
                  <a:srgbClr val="0E1A2B"/>
                </a:solidFill>
                <a:latin typeface="Cambria" pitchFamily="34" charset="0"/>
                <a:ea typeface="Cambria" pitchFamily="34" charset="-122"/>
                <a:cs typeface="Cambria" pitchFamily="34" charset="-120"/>
              </a:rPr>
              <a:t>Fetch twenty, have the model order them, keep ten</a:t>
            </a:r>
            <a:endParaRPr lang="en-US" sz="1500" dirty="0"/>
          </a:p>
        </p:txBody>
      </p:sp>
      <p:sp>
        <p:nvSpPr>
          <p:cNvPr id="12" name="Text 7"/>
          <p:cNvSpPr/>
          <p:nvPr/>
        </p:nvSpPr>
        <p:spPr>
          <a:xfrm>
            <a:off x="786384" y="3251200"/>
            <a:ext cx="4956048" cy="1920240"/>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The embedder scores a question and a passage separately — neither vector ever sees the other. A reranker reads them together, which is why it can tell a passage that shares vocabulary from one that actually answers.</a:t>
            </a:r>
            <a:endParaRPr lang="en-US" sz="1050" dirty="0"/>
          </a:p>
          <a:p>
            <a:pPr indent="0" marL="0">
              <a:lnSpc>
                <a:spcPts val="1400"/>
              </a:lnSpc>
              <a:buNone/>
            </a:pP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Listwise, so a search costs one extra call rather than one per candidate. It reorders and never filters: anything the model leaves out keeps its original place behind what it chose, and a failed call falls back to the dense order.</a:t>
            </a:r>
            <a:endParaRPr lang="en-US" sz="1050" dirty="0"/>
          </a:p>
        </p:txBody>
      </p:sp>
      <p:sp>
        <p:nvSpPr>
          <p:cNvPr id="13" name="Shape 8"/>
          <p:cNvSpPr/>
          <p:nvPr/>
        </p:nvSpPr>
        <p:spPr>
          <a:xfrm>
            <a:off x="6144768" y="2318512"/>
            <a:ext cx="5479999" cy="3108960"/>
          </a:xfrm>
          <a:prstGeom prst="roundRect">
            <a:avLst>
              <a:gd name="adj" fmla="val 1765"/>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6382512" y="2409952"/>
            <a:ext cx="4937760" cy="274320"/>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Measured against the same setup without it</a:t>
            </a:r>
            <a:endParaRPr lang="en-US" sz="1350" dirty="0"/>
          </a:p>
        </p:txBody>
      </p:sp>
      <p:sp>
        <p:nvSpPr>
          <p:cNvPr id="15" name="Text 10"/>
          <p:cNvSpPr/>
          <p:nvPr/>
        </p:nvSpPr>
        <p:spPr>
          <a:xfrm>
            <a:off x="6382512" y="2995168"/>
            <a:ext cx="3017520" cy="329184"/>
          </a:xfrm>
          <a:prstGeom prst="rect">
            <a:avLst/>
          </a:prstGeom>
          <a:noFill/>
          <a:ln/>
        </p:spPr>
        <p:txBody>
          <a:bodyPr wrap="square" lIns="0" tIns="0" rIns="0" bIns="0" rtlCol="0" anchor="ctr"/>
          <a:lstStyle/>
          <a:p>
            <a:pPr indent="0" marL="0">
              <a:buNone/>
            </a:pPr>
            <a:r>
              <a:rPr lang="en-US" sz="1000" dirty="0">
                <a:solidFill>
                  <a:srgbClr val="46566B"/>
                </a:solidFill>
                <a:latin typeface="Calibri" pitchFamily="34" charset="0"/>
                <a:ea typeface="Calibri" pitchFamily="34" charset="-122"/>
                <a:cs typeface="Calibri" pitchFamily="34" charset="-120"/>
              </a:rPr>
              <a:t>Context recall</a:t>
            </a:r>
            <a:endParaRPr lang="en-US" sz="1000" dirty="0"/>
          </a:p>
        </p:txBody>
      </p:sp>
      <p:sp>
        <p:nvSpPr>
          <p:cNvPr id="16" name="Text 11"/>
          <p:cNvSpPr/>
          <p:nvPr/>
        </p:nvSpPr>
        <p:spPr>
          <a:xfrm>
            <a:off x="9418320" y="2995168"/>
            <a:ext cx="640080" cy="329184"/>
          </a:xfrm>
          <a:prstGeom prst="rect">
            <a:avLst/>
          </a:prstGeom>
          <a:noFill/>
          <a:ln/>
        </p:spPr>
        <p:txBody>
          <a:bodyPr wrap="square" lIns="0" tIns="0" rIns="0" bIns="0" rtlCol="0" anchor="ctr"/>
          <a:lstStyle/>
          <a:p>
            <a:pPr algn="r" indent="0" marL="0">
              <a:buNone/>
            </a:pPr>
            <a:r>
              <a:rPr lang="en-US" sz="1200" dirty="0">
                <a:solidFill>
                  <a:srgbClr val="6B7A8C"/>
                </a:solidFill>
                <a:latin typeface="Calibri" pitchFamily="34" charset="0"/>
                <a:ea typeface="Calibri" pitchFamily="34" charset="-122"/>
                <a:cs typeface="Calibri" pitchFamily="34" charset="-120"/>
              </a:rPr>
              <a:t>85%</a:t>
            </a:r>
            <a:endParaRPr lang="en-US" sz="1200" dirty="0"/>
          </a:p>
        </p:txBody>
      </p:sp>
      <p:sp>
        <p:nvSpPr>
          <p:cNvPr id="17" name="Text 12"/>
          <p:cNvSpPr/>
          <p:nvPr/>
        </p:nvSpPr>
        <p:spPr>
          <a:xfrm>
            <a:off x="10076688" y="2995168"/>
            <a:ext cx="329184" cy="329184"/>
          </a:xfrm>
          <a:prstGeom prst="rect">
            <a:avLst/>
          </a:prstGeom>
          <a:noFill/>
          <a:ln/>
        </p:spPr>
        <p:txBody>
          <a:bodyPr wrap="square" lIns="0" tIns="0" rIns="0" bIns="0" rtlCol="0" anchor="ctr"/>
          <a:lstStyle/>
          <a:p>
            <a:pPr algn="ctr" indent="0" marL="0">
              <a:buNone/>
            </a:pPr>
            <a:r>
              <a:rPr lang="en-US" sz="1100" dirty="0">
                <a:solidFill>
                  <a:srgbClr val="D8DEE6"/>
                </a:solidFill>
                <a:latin typeface="Calibri" pitchFamily="34" charset="0"/>
                <a:ea typeface="Calibri" pitchFamily="34" charset="-122"/>
                <a:cs typeface="Calibri" pitchFamily="34" charset="-120"/>
              </a:rPr>
              <a:t>→</a:t>
            </a:r>
            <a:endParaRPr lang="en-US" sz="1100" dirty="0"/>
          </a:p>
        </p:txBody>
      </p:sp>
      <p:sp>
        <p:nvSpPr>
          <p:cNvPr id="18" name="Text 13"/>
          <p:cNvSpPr/>
          <p:nvPr/>
        </p:nvSpPr>
        <p:spPr>
          <a:xfrm>
            <a:off x="10405872" y="2995168"/>
            <a:ext cx="658368" cy="329184"/>
          </a:xfrm>
          <a:prstGeom prst="rect">
            <a:avLst/>
          </a:prstGeom>
          <a:noFill/>
          <a:ln/>
        </p:spPr>
        <p:txBody>
          <a:bodyPr wrap="square" lIns="0" tIns="0" rIns="0" bIns="0" rtlCol="0" anchor="ctr"/>
          <a:lstStyle/>
          <a:p>
            <a:pPr algn="r" indent="0" marL="0">
              <a:buNone/>
            </a:pPr>
            <a:r>
              <a:rPr lang="en-US" sz="1350" b="1" dirty="0">
                <a:solidFill>
                  <a:srgbClr val="B3261E"/>
                </a:solidFill>
                <a:latin typeface="Calibri" pitchFamily="34" charset="0"/>
                <a:ea typeface="Calibri" pitchFamily="34" charset="-122"/>
                <a:cs typeface="Calibri" pitchFamily="34" charset="-120"/>
              </a:rPr>
              <a:t>82%</a:t>
            </a:r>
            <a:endParaRPr lang="en-US" sz="1350" dirty="0"/>
          </a:p>
        </p:txBody>
      </p:sp>
      <p:sp>
        <p:nvSpPr>
          <p:cNvPr id="19" name="Text 14"/>
          <p:cNvSpPr/>
          <p:nvPr/>
        </p:nvSpPr>
        <p:spPr>
          <a:xfrm>
            <a:off x="11082528" y="2995168"/>
            <a:ext cx="457200" cy="329184"/>
          </a:xfrm>
          <a:prstGeom prst="rect">
            <a:avLst/>
          </a:prstGeom>
          <a:noFill/>
          <a:ln/>
        </p:spPr>
        <p:txBody>
          <a:bodyPr wrap="square" lIns="0" tIns="0" rIns="0" bIns="0" rtlCol="0" anchor="ctr"/>
          <a:lstStyle/>
          <a:p>
            <a:pPr algn="r" indent="0" marL="0">
              <a:buNone/>
            </a:pPr>
            <a:r>
              <a:rPr lang="en-US" sz="1000" b="1" dirty="0">
                <a:solidFill>
                  <a:srgbClr val="B3261E"/>
                </a:solidFill>
                <a:latin typeface="Calibri" pitchFamily="34" charset="0"/>
                <a:ea typeface="Calibri" pitchFamily="34" charset="-122"/>
                <a:cs typeface="Calibri" pitchFamily="34" charset="-120"/>
              </a:rPr>
              <a:t>−3</a:t>
            </a:r>
            <a:endParaRPr lang="en-US" sz="1000" dirty="0"/>
          </a:p>
        </p:txBody>
      </p:sp>
      <p:sp>
        <p:nvSpPr>
          <p:cNvPr id="20" name="Text 15"/>
          <p:cNvSpPr/>
          <p:nvPr/>
        </p:nvSpPr>
        <p:spPr>
          <a:xfrm>
            <a:off x="6382512" y="3598672"/>
            <a:ext cx="3017520" cy="329184"/>
          </a:xfrm>
          <a:prstGeom prst="rect">
            <a:avLst/>
          </a:prstGeom>
          <a:noFill/>
          <a:ln/>
        </p:spPr>
        <p:txBody>
          <a:bodyPr wrap="square" lIns="0" tIns="0" rIns="0" bIns="0" rtlCol="0" anchor="ctr"/>
          <a:lstStyle/>
          <a:p>
            <a:pPr indent="0" marL="0">
              <a:buNone/>
            </a:pPr>
            <a:r>
              <a:rPr lang="en-US" sz="1000" dirty="0">
                <a:solidFill>
                  <a:srgbClr val="46566B"/>
                </a:solidFill>
                <a:latin typeface="Calibri" pitchFamily="34" charset="0"/>
                <a:ea typeface="Calibri" pitchFamily="34" charset="-122"/>
                <a:cs typeface="Calibri" pitchFamily="34" charset="-120"/>
              </a:rPr>
              <a:t>Context precision</a:t>
            </a:r>
            <a:endParaRPr lang="en-US" sz="1000" dirty="0"/>
          </a:p>
        </p:txBody>
      </p:sp>
      <p:sp>
        <p:nvSpPr>
          <p:cNvPr id="21" name="Text 16"/>
          <p:cNvSpPr/>
          <p:nvPr/>
        </p:nvSpPr>
        <p:spPr>
          <a:xfrm>
            <a:off x="9418320" y="3598672"/>
            <a:ext cx="640080" cy="329184"/>
          </a:xfrm>
          <a:prstGeom prst="rect">
            <a:avLst/>
          </a:prstGeom>
          <a:noFill/>
          <a:ln/>
        </p:spPr>
        <p:txBody>
          <a:bodyPr wrap="square" lIns="0" tIns="0" rIns="0" bIns="0" rtlCol="0" anchor="ctr"/>
          <a:lstStyle/>
          <a:p>
            <a:pPr algn="r" indent="0" marL="0">
              <a:buNone/>
            </a:pPr>
            <a:r>
              <a:rPr lang="en-US" sz="1200" dirty="0">
                <a:solidFill>
                  <a:srgbClr val="6B7A8C"/>
                </a:solidFill>
                <a:latin typeface="Calibri" pitchFamily="34" charset="0"/>
                <a:ea typeface="Calibri" pitchFamily="34" charset="-122"/>
                <a:cs typeface="Calibri" pitchFamily="34" charset="-120"/>
              </a:rPr>
              <a:t>74%</a:t>
            </a:r>
            <a:endParaRPr lang="en-US" sz="1200" dirty="0"/>
          </a:p>
        </p:txBody>
      </p:sp>
      <p:sp>
        <p:nvSpPr>
          <p:cNvPr id="22" name="Text 17"/>
          <p:cNvSpPr/>
          <p:nvPr/>
        </p:nvSpPr>
        <p:spPr>
          <a:xfrm>
            <a:off x="10076688" y="3598672"/>
            <a:ext cx="329184" cy="329184"/>
          </a:xfrm>
          <a:prstGeom prst="rect">
            <a:avLst/>
          </a:prstGeom>
          <a:noFill/>
          <a:ln/>
        </p:spPr>
        <p:txBody>
          <a:bodyPr wrap="square" lIns="0" tIns="0" rIns="0" bIns="0" rtlCol="0" anchor="ctr"/>
          <a:lstStyle/>
          <a:p>
            <a:pPr algn="ctr" indent="0" marL="0">
              <a:buNone/>
            </a:pPr>
            <a:r>
              <a:rPr lang="en-US" sz="1100" dirty="0">
                <a:solidFill>
                  <a:srgbClr val="D8DEE6"/>
                </a:solidFill>
                <a:latin typeface="Calibri" pitchFamily="34" charset="0"/>
                <a:ea typeface="Calibri" pitchFamily="34" charset="-122"/>
                <a:cs typeface="Calibri" pitchFamily="34" charset="-120"/>
              </a:rPr>
              <a:t>→</a:t>
            </a:r>
            <a:endParaRPr lang="en-US" sz="1100" dirty="0"/>
          </a:p>
        </p:txBody>
      </p:sp>
      <p:sp>
        <p:nvSpPr>
          <p:cNvPr id="23" name="Text 18"/>
          <p:cNvSpPr/>
          <p:nvPr/>
        </p:nvSpPr>
        <p:spPr>
          <a:xfrm>
            <a:off x="10405872" y="3598672"/>
            <a:ext cx="658368" cy="329184"/>
          </a:xfrm>
          <a:prstGeom prst="rect">
            <a:avLst/>
          </a:prstGeom>
          <a:noFill/>
          <a:ln/>
        </p:spPr>
        <p:txBody>
          <a:bodyPr wrap="square" lIns="0" tIns="0" rIns="0" bIns="0" rtlCol="0" anchor="ctr"/>
          <a:lstStyle/>
          <a:p>
            <a:pPr algn="r" indent="0" marL="0">
              <a:buNone/>
            </a:pPr>
            <a:r>
              <a:rPr lang="en-US" sz="1350" b="1" dirty="0">
                <a:solidFill>
                  <a:srgbClr val="0E7C5A"/>
                </a:solidFill>
                <a:latin typeface="Calibri" pitchFamily="34" charset="0"/>
                <a:ea typeface="Calibri" pitchFamily="34" charset="-122"/>
                <a:cs typeface="Calibri" pitchFamily="34" charset="-120"/>
              </a:rPr>
              <a:t>82%</a:t>
            </a:r>
            <a:endParaRPr lang="en-US" sz="1350" dirty="0"/>
          </a:p>
        </p:txBody>
      </p:sp>
      <p:sp>
        <p:nvSpPr>
          <p:cNvPr id="24" name="Text 19"/>
          <p:cNvSpPr/>
          <p:nvPr/>
        </p:nvSpPr>
        <p:spPr>
          <a:xfrm>
            <a:off x="11082528" y="3598672"/>
            <a:ext cx="457200" cy="329184"/>
          </a:xfrm>
          <a:prstGeom prst="rect">
            <a:avLst/>
          </a:prstGeom>
          <a:noFill/>
          <a:ln/>
        </p:spPr>
        <p:txBody>
          <a:bodyPr wrap="square" lIns="0" tIns="0" rIns="0" bIns="0" rtlCol="0" anchor="ctr"/>
          <a:lstStyle/>
          <a:p>
            <a:pPr algn="r" indent="0" marL="0">
              <a:buNone/>
            </a:pPr>
            <a:r>
              <a:rPr lang="en-US" sz="1000" b="1" dirty="0">
                <a:solidFill>
                  <a:srgbClr val="0E7C5A"/>
                </a:solidFill>
                <a:latin typeface="Calibri" pitchFamily="34" charset="0"/>
                <a:ea typeface="Calibri" pitchFamily="34" charset="-122"/>
                <a:cs typeface="Calibri" pitchFamily="34" charset="-120"/>
              </a:rPr>
              <a:t>+8</a:t>
            </a:r>
            <a:endParaRPr lang="en-US" sz="1000" dirty="0"/>
          </a:p>
        </p:txBody>
      </p:sp>
      <p:sp>
        <p:nvSpPr>
          <p:cNvPr id="25" name="Text 20"/>
          <p:cNvSpPr/>
          <p:nvPr/>
        </p:nvSpPr>
        <p:spPr>
          <a:xfrm>
            <a:off x="6382512" y="4202176"/>
            <a:ext cx="3017520" cy="329184"/>
          </a:xfrm>
          <a:prstGeom prst="rect">
            <a:avLst/>
          </a:prstGeom>
          <a:noFill/>
          <a:ln/>
        </p:spPr>
        <p:txBody>
          <a:bodyPr wrap="square" lIns="0" tIns="0" rIns="0" bIns="0" rtlCol="0" anchor="ctr"/>
          <a:lstStyle/>
          <a:p>
            <a:pPr indent="0" marL="0">
              <a:buNone/>
            </a:pPr>
            <a:r>
              <a:rPr lang="en-US" sz="1000" dirty="0">
                <a:solidFill>
                  <a:srgbClr val="46566B"/>
                </a:solidFill>
                <a:latin typeface="Calibri" pitchFamily="34" charset="0"/>
                <a:ea typeface="Calibri" pitchFamily="34" charset="-122"/>
                <a:cs typeface="Calibri" pitchFamily="34" charset="-120"/>
              </a:rPr>
              <a:t>Answer relevancy</a:t>
            </a:r>
            <a:endParaRPr lang="en-US" sz="1000" dirty="0"/>
          </a:p>
        </p:txBody>
      </p:sp>
      <p:sp>
        <p:nvSpPr>
          <p:cNvPr id="26" name="Text 21"/>
          <p:cNvSpPr/>
          <p:nvPr/>
        </p:nvSpPr>
        <p:spPr>
          <a:xfrm>
            <a:off x="9418320" y="4202176"/>
            <a:ext cx="640080" cy="329184"/>
          </a:xfrm>
          <a:prstGeom prst="rect">
            <a:avLst/>
          </a:prstGeom>
          <a:noFill/>
          <a:ln/>
        </p:spPr>
        <p:txBody>
          <a:bodyPr wrap="square" lIns="0" tIns="0" rIns="0" bIns="0" rtlCol="0" anchor="ctr"/>
          <a:lstStyle/>
          <a:p>
            <a:pPr algn="r" indent="0" marL="0">
              <a:buNone/>
            </a:pPr>
            <a:r>
              <a:rPr lang="en-US" sz="1200" dirty="0">
                <a:solidFill>
                  <a:srgbClr val="6B7A8C"/>
                </a:solidFill>
                <a:latin typeface="Calibri" pitchFamily="34" charset="0"/>
                <a:ea typeface="Calibri" pitchFamily="34" charset="-122"/>
                <a:cs typeface="Calibri" pitchFamily="34" charset="-120"/>
              </a:rPr>
              <a:t>77%</a:t>
            </a:r>
            <a:endParaRPr lang="en-US" sz="1200" dirty="0"/>
          </a:p>
        </p:txBody>
      </p:sp>
      <p:sp>
        <p:nvSpPr>
          <p:cNvPr id="27" name="Text 22"/>
          <p:cNvSpPr/>
          <p:nvPr/>
        </p:nvSpPr>
        <p:spPr>
          <a:xfrm>
            <a:off x="10076688" y="4202176"/>
            <a:ext cx="329184" cy="329184"/>
          </a:xfrm>
          <a:prstGeom prst="rect">
            <a:avLst/>
          </a:prstGeom>
          <a:noFill/>
          <a:ln/>
        </p:spPr>
        <p:txBody>
          <a:bodyPr wrap="square" lIns="0" tIns="0" rIns="0" bIns="0" rtlCol="0" anchor="ctr"/>
          <a:lstStyle/>
          <a:p>
            <a:pPr algn="ctr" indent="0" marL="0">
              <a:buNone/>
            </a:pPr>
            <a:r>
              <a:rPr lang="en-US" sz="1100" dirty="0">
                <a:solidFill>
                  <a:srgbClr val="D8DEE6"/>
                </a:solidFill>
                <a:latin typeface="Calibri" pitchFamily="34" charset="0"/>
                <a:ea typeface="Calibri" pitchFamily="34" charset="-122"/>
                <a:cs typeface="Calibri" pitchFamily="34" charset="-120"/>
              </a:rPr>
              <a:t>→</a:t>
            </a:r>
            <a:endParaRPr lang="en-US" sz="1100" dirty="0"/>
          </a:p>
        </p:txBody>
      </p:sp>
      <p:sp>
        <p:nvSpPr>
          <p:cNvPr id="28" name="Text 23"/>
          <p:cNvSpPr/>
          <p:nvPr/>
        </p:nvSpPr>
        <p:spPr>
          <a:xfrm>
            <a:off x="10405872" y="4202176"/>
            <a:ext cx="658368" cy="329184"/>
          </a:xfrm>
          <a:prstGeom prst="rect">
            <a:avLst/>
          </a:prstGeom>
          <a:noFill/>
          <a:ln/>
        </p:spPr>
        <p:txBody>
          <a:bodyPr wrap="square" lIns="0" tIns="0" rIns="0" bIns="0" rtlCol="0" anchor="ctr"/>
          <a:lstStyle/>
          <a:p>
            <a:pPr algn="r" indent="0" marL="0">
              <a:buNone/>
            </a:pPr>
            <a:r>
              <a:rPr lang="en-US" sz="1350" b="1" dirty="0">
                <a:solidFill>
                  <a:srgbClr val="0E7C5A"/>
                </a:solidFill>
                <a:latin typeface="Calibri" pitchFamily="34" charset="0"/>
                <a:ea typeface="Calibri" pitchFamily="34" charset="-122"/>
                <a:cs typeface="Calibri" pitchFamily="34" charset="-120"/>
              </a:rPr>
              <a:t>78%</a:t>
            </a:r>
            <a:endParaRPr lang="en-US" sz="1350" dirty="0"/>
          </a:p>
        </p:txBody>
      </p:sp>
      <p:sp>
        <p:nvSpPr>
          <p:cNvPr id="29" name="Text 24"/>
          <p:cNvSpPr/>
          <p:nvPr/>
        </p:nvSpPr>
        <p:spPr>
          <a:xfrm>
            <a:off x="11082528" y="4202176"/>
            <a:ext cx="457200" cy="329184"/>
          </a:xfrm>
          <a:prstGeom prst="rect">
            <a:avLst/>
          </a:prstGeom>
          <a:noFill/>
          <a:ln/>
        </p:spPr>
        <p:txBody>
          <a:bodyPr wrap="square" lIns="0" tIns="0" rIns="0" bIns="0" rtlCol="0" anchor="ctr"/>
          <a:lstStyle/>
          <a:p>
            <a:pPr algn="r" indent="0" marL="0">
              <a:buNone/>
            </a:pPr>
            <a:r>
              <a:rPr lang="en-US" sz="1000" b="1" dirty="0">
                <a:solidFill>
                  <a:srgbClr val="0E7C5A"/>
                </a:solidFill>
                <a:latin typeface="Calibri" pitchFamily="34" charset="0"/>
                <a:ea typeface="Calibri" pitchFamily="34" charset="-122"/>
                <a:cs typeface="Calibri" pitchFamily="34" charset="-120"/>
              </a:rPr>
              <a:t>+1</a:t>
            </a:r>
            <a:endParaRPr lang="en-US" sz="1000" dirty="0"/>
          </a:p>
        </p:txBody>
      </p:sp>
      <p:sp>
        <p:nvSpPr>
          <p:cNvPr id="30" name="Text 25"/>
          <p:cNvSpPr/>
          <p:nvPr/>
        </p:nvSpPr>
        <p:spPr>
          <a:xfrm>
            <a:off x="6382512" y="4878832"/>
            <a:ext cx="4937760" cy="475488"/>
          </a:xfrm>
          <a:prstGeom prst="rect">
            <a:avLst/>
          </a:prstGeom>
          <a:noFill/>
          <a:ln/>
        </p:spPr>
        <p:txBody>
          <a:bodyPr wrap="square" lIns="0" tIns="0" rIns="0" bIns="0" rtlCol="0" anchor="t"/>
          <a:lstStyle/>
          <a:p>
            <a:pPr indent="0" marL="0">
              <a:lnSpc>
                <a:spcPts val="1250"/>
              </a:lnSpc>
              <a:buNone/>
            </a:pPr>
            <a:r>
              <a:rPr lang="en-US" sz="950" b="1" dirty="0">
                <a:solidFill>
                  <a:srgbClr val="0E1A2B"/>
                </a:solidFill>
                <a:latin typeface="Calibri" pitchFamily="34" charset="0"/>
                <a:ea typeface="Calibri" pitchFamily="34" charset="-122"/>
                <a:cs typeface="Calibri" pitchFamily="34" charset="-120"/>
              </a:rPr>
              <a:t>The cost is real and we are not hiding it: </a:t>
            </a:r>
            <a:pPr indent="0" marL="0">
              <a:lnSpc>
                <a:spcPts val="1250"/>
              </a:lnSpc>
              <a:buNone/>
            </a:pPr>
            <a:r>
              <a:rPr lang="en-US" sz="950" dirty="0">
                <a:solidFill>
                  <a:srgbClr val="46566B"/>
                </a:solidFill>
                <a:latin typeface="Calibri" pitchFamily="34" charset="0"/>
                <a:ea typeface="Calibri" pitchFamily="34" charset="-122"/>
                <a:cs typeface="Calibri" pitchFamily="34" charset="-120"/>
              </a:rPr>
              <a:t>reranking decides which ten of the twenty reach the answer, so it can drop one dense had kept. Context recall and faithfulness each give up about three points to buy eight of context precision.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WHAT WE CAN PROVE</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Four metrics, 34 questions, and the one we still fail</a:t>
            </a:r>
            <a:endParaRPr lang="en-US" sz="3000" dirty="0"/>
          </a:p>
        </p:txBody>
      </p:sp>
      <p:sp>
        <p:nvSpPr>
          <p:cNvPr id="7" name="Shape 2"/>
          <p:cNvSpPr/>
          <p:nvPr/>
        </p:nvSpPr>
        <p:spPr>
          <a:xfrm>
            <a:off x="566928" y="1554480"/>
            <a:ext cx="2620442" cy="1627632"/>
          </a:xfrm>
          <a:prstGeom prst="roundRect">
            <a:avLst>
              <a:gd name="adj" fmla="val 3371"/>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8" name="Text 3"/>
          <p:cNvSpPr/>
          <p:nvPr/>
        </p:nvSpPr>
        <p:spPr>
          <a:xfrm>
            <a:off x="786384" y="1700784"/>
            <a:ext cx="2181530" cy="548640"/>
          </a:xfrm>
          <a:prstGeom prst="rect">
            <a:avLst/>
          </a:prstGeom>
          <a:noFill/>
          <a:ln/>
        </p:spPr>
        <p:txBody>
          <a:bodyPr wrap="square" lIns="0" tIns="0" rIns="0" bIns="0" rtlCol="0" anchor="ctr"/>
          <a:lstStyle/>
          <a:p>
            <a:pPr indent="0" marL="0">
              <a:buNone/>
            </a:pPr>
            <a:r>
              <a:rPr lang="en-US" sz="3200" b="1" dirty="0">
                <a:solidFill>
                  <a:srgbClr val="0E7C5A"/>
                </a:solidFill>
                <a:latin typeface="Cambria" pitchFamily="34" charset="0"/>
                <a:ea typeface="Cambria" pitchFamily="34" charset="-122"/>
                <a:cs typeface="Cambria" pitchFamily="34" charset="-120"/>
              </a:rPr>
              <a:t>87%</a:t>
            </a:r>
            <a:endParaRPr lang="en-US" sz="3200" dirty="0"/>
          </a:p>
        </p:txBody>
      </p:sp>
      <p:sp>
        <p:nvSpPr>
          <p:cNvPr id="9" name="Text 4"/>
          <p:cNvSpPr/>
          <p:nvPr/>
        </p:nvSpPr>
        <p:spPr>
          <a:xfrm>
            <a:off x="786384" y="2249424"/>
            <a:ext cx="2181530" cy="237744"/>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Faithfulness</a:t>
            </a:r>
            <a:endParaRPr lang="en-US" sz="1100" dirty="0"/>
          </a:p>
        </p:txBody>
      </p:sp>
      <p:sp>
        <p:nvSpPr>
          <p:cNvPr id="10" name="Text 5"/>
          <p:cNvSpPr/>
          <p:nvPr/>
        </p:nvSpPr>
        <p:spPr>
          <a:xfrm>
            <a:off x="786384" y="2487168"/>
            <a:ext cx="2181530" cy="347472"/>
          </a:xfrm>
          <a:prstGeom prst="rect">
            <a:avLst/>
          </a:prstGeom>
          <a:noFill/>
          <a:ln/>
        </p:spPr>
        <p:txBody>
          <a:bodyPr wrap="square" lIns="0" tIns="0" rIns="0" bIns="0" rtlCol="0" anchor="t"/>
          <a:lstStyle/>
          <a:p>
            <a:pPr indent="0" marL="0">
              <a:lnSpc>
                <a:spcPts val="1150"/>
              </a:lnSpc>
              <a:buNone/>
            </a:pPr>
            <a:r>
              <a:rPr lang="en-US" sz="900" dirty="0">
                <a:solidFill>
                  <a:srgbClr val="6B7A8C"/>
                </a:solidFill>
                <a:latin typeface="Calibri" pitchFamily="34" charset="0"/>
                <a:ea typeface="Calibri" pitchFamily="34" charset="-122"/>
                <a:cs typeface="Calibri" pitchFamily="34" charset="-120"/>
              </a:rPr>
              <a:t>of the answer's claims are supported by the passages shown</a:t>
            </a:r>
            <a:endParaRPr lang="en-US" sz="900" dirty="0"/>
          </a:p>
        </p:txBody>
      </p:sp>
      <p:sp>
        <p:nvSpPr>
          <p:cNvPr id="11" name="Shape 6"/>
          <p:cNvSpPr/>
          <p:nvPr/>
        </p:nvSpPr>
        <p:spPr>
          <a:xfrm>
            <a:off x="786384" y="2834640"/>
            <a:ext cx="446227" cy="219456"/>
          </a:xfrm>
          <a:prstGeom prst="roundRect">
            <a:avLst>
              <a:gd name="adj" fmla="val 50000"/>
            </a:avLst>
          </a:prstGeom>
          <a:solidFill>
            <a:srgbClr val="0E7C5A"/>
          </a:solidFill>
          <a:ln w="12700">
            <a:solidFill>
              <a:srgbClr val="0E7C5A"/>
            </a:solidFill>
            <a:prstDash val="solid"/>
          </a:ln>
        </p:spPr>
      </p:sp>
      <p:sp>
        <p:nvSpPr>
          <p:cNvPr id="12" name="Text 7"/>
          <p:cNvSpPr/>
          <p:nvPr/>
        </p:nvSpPr>
        <p:spPr>
          <a:xfrm>
            <a:off x="786384" y="2834640"/>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13" name="Shape 8"/>
          <p:cNvSpPr/>
          <p:nvPr/>
        </p:nvSpPr>
        <p:spPr>
          <a:xfrm>
            <a:off x="3379394" y="1554480"/>
            <a:ext cx="2620442" cy="1627632"/>
          </a:xfrm>
          <a:prstGeom prst="roundRect">
            <a:avLst>
              <a:gd name="adj" fmla="val 3371"/>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3598850" y="1700784"/>
            <a:ext cx="2181530" cy="548640"/>
          </a:xfrm>
          <a:prstGeom prst="rect">
            <a:avLst/>
          </a:prstGeom>
          <a:noFill/>
          <a:ln/>
        </p:spPr>
        <p:txBody>
          <a:bodyPr wrap="square" lIns="0" tIns="0" rIns="0" bIns="0" rtlCol="0" anchor="ctr"/>
          <a:lstStyle/>
          <a:p>
            <a:pPr indent="0" marL="0">
              <a:buNone/>
            </a:pPr>
            <a:r>
              <a:rPr lang="en-US" sz="3200" b="1" dirty="0">
                <a:solidFill>
                  <a:srgbClr val="0E7C5A"/>
                </a:solidFill>
                <a:latin typeface="Cambria" pitchFamily="34" charset="0"/>
                <a:ea typeface="Cambria" pitchFamily="34" charset="-122"/>
                <a:cs typeface="Cambria" pitchFamily="34" charset="-120"/>
              </a:rPr>
              <a:t>82%</a:t>
            </a:r>
            <a:endParaRPr lang="en-US" sz="3200" dirty="0"/>
          </a:p>
        </p:txBody>
      </p:sp>
      <p:sp>
        <p:nvSpPr>
          <p:cNvPr id="15" name="Text 10"/>
          <p:cNvSpPr/>
          <p:nvPr/>
        </p:nvSpPr>
        <p:spPr>
          <a:xfrm>
            <a:off x="3598850" y="2249424"/>
            <a:ext cx="2181530" cy="237744"/>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Context precision</a:t>
            </a:r>
            <a:endParaRPr lang="en-US" sz="1100" dirty="0"/>
          </a:p>
        </p:txBody>
      </p:sp>
      <p:sp>
        <p:nvSpPr>
          <p:cNvPr id="16" name="Text 11"/>
          <p:cNvSpPr/>
          <p:nvPr/>
        </p:nvSpPr>
        <p:spPr>
          <a:xfrm>
            <a:off x="3598850" y="2487168"/>
            <a:ext cx="2181530" cy="347472"/>
          </a:xfrm>
          <a:prstGeom prst="rect">
            <a:avLst/>
          </a:prstGeom>
          <a:noFill/>
          <a:ln/>
        </p:spPr>
        <p:txBody>
          <a:bodyPr wrap="square" lIns="0" tIns="0" rIns="0" bIns="0" rtlCol="0" anchor="t"/>
          <a:lstStyle/>
          <a:p>
            <a:pPr indent="0" marL="0">
              <a:lnSpc>
                <a:spcPts val="1150"/>
              </a:lnSpc>
              <a:buNone/>
            </a:pPr>
            <a:r>
              <a:rPr lang="en-US" sz="900" dirty="0">
                <a:solidFill>
                  <a:srgbClr val="6B7A8C"/>
                </a:solidFill>
                <a:latin typeface="Calibri" pitchFamily="34" charset="0"/>
                <a:ea typeface="Calibri" pitchFamily="34" charset="-122"/>
                <a:cs typeface="Calibri" pitchFamily="34" charset="-120"/>
              </a:rPr>
              <a:t>of the passages retrieved were relevant to the question</a:t>
            </a:r>
            <a:endParaRPr lang="en-US" sz="900" dirty="0"/>
          </a:p>
        </p:txBody>
      </p:sp>
      <p:sp>
        <p:nvSpPr>
          <p:cNvPr id="17" name="Shape 12"/>
          <p:cNvSpPr/>
          <p:nvPr/>
        </p:nvSpPr>
        <p:spPr>
          <a:xfrm>
            <a:off x="3598850" y="2834640"/>
            <a:ext cx="446227" cy="219456"/>
          </a:xfrm>
          <a:prstGeom prst="roundRect">
            <a:avLst>
              <a:gd name="adj" fmla="val 50000"/>
            </a:avLst>
          </a:prstGeom>
          <a:solidFill>
            <a:srgbClr val="0E7C5A"/>
          </a:solidFill>
          <a:ln w="12700">
            <a:solidFill>
              <a:srgbClr val="0E7C5A"/>
            </a:solidFill>
            <a:prstDash val="solid"/>
          </a:ln>
        </p:spPr>
      </p:sp>
      <p:sp>
        <p:nvSpPr>
          <p:cNvPr id="18" name="Text 13"/>
          <p:cNvSpPr/>
          <p:nvPr/>
        </p:nvSpPr>
        <p:spPr>
          <a:xfrm>
            <a:off x="3598850" y="2834640"/>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19" name="Shape 14"/>
          <p:cNvSpPr/>
          <p:nvPr/>
        </p:nvSpPr>
        <p:spPr>
          <a:xfrm>
            <a:off x="6191860" y="1554480"/>
            <a:ext cx="2620442" cy="1627632"/>
          </a:xfrm>
          <a:prstGeom prst="roundRect">
            <a:avLst>
              <a:gd name="adj" fmla="val 3371"/>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20" name="Text 15"/>
          <p:cNvSpPr/>
          <p:nvPr/>
        </p:nvSpPr>
        <p:spPr>
          <a:xfrm>
            <a:off x="6411316" y="1700784"/>
            <a:ext cx="2181530" cy="548640"/>
          </a:xfrm>
          <a:prstGeom prst="rect">
            <a:avLst/>
          </a:prstGeom>
          <a:noFill/>
          <a:ln/>
        </p:spPr>
        <p:txBody>
          <a:bodyPr wrap="square" lIns="0" tIns="0" rIns="0" bIns="0" rtlCol="0" anchor="ctr"/>
          <a:lstStyle/>
          <a:p>
            <a:pPr indent="0" marL="0">
              <a:buNone/>
            </a:pPr>
            <a:r>
              <a:rPr lang="en-US" sz="3200" b="1" dirty="0">
                <a:solidFill>
                  <a:srgbClr val="0E7C5A"/>
                </a:solidFill>
                <a:latin typeface="Cambria" pitchFamily="34" charset="0"/>
                <a:ea typeface="Cambria" pitchFamily="34" charset="-122"/>
                <a:cs typeface="Cambria" pitchFamily="34" charset="-120"/>
              </a:rPr>
              <a:t>82%</a:t>
            </a:r>
            <a:endParaRPr lang="en-US" sz="3200" dirty="0"/>
          </a:p>
        </p:txBody>
      </p:sp>
      <p:sp>
        <p:nvSpPr>
          <p:cNvPr id="21" name="Text 16"/>
          <p:cNvSpPr/>
          <p:nvPr/>
        </p:nvSpPr>
        <p:spPr>
          <a:xfrm>
            <a:off x="6411316" y="2249424"/>
            <a:ext cx="2181530" cy="237744"/>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Context recall</a:t>
            </a:r>
            <a:endParaRPr lang="en-US" sz="1100" dirty="0"/>
          </a:p>
        </p:txBody>
      </p:sp>
      <p:sp>
        <p:nvSpPr>
          <p:cNvPr id="22" name="Text 17"/>
          <p:cNvSpPr/>
          <p:nvPr/>
        </p:nvSpPr>
        <p:spPr>
          <a:xfrm>
            <a:off x="6411316" y="2487168"/>
            <a:ext cx="2181530" cy="347472"/>
          </a:xfrm>
          <a:prstGeom prst="rect">
            <a:avLst/>
          </a:prstGeom>
          <a:noFill/>
          <a:ln/>
        </p:spPr>
        <p:txBody>
          <a:bodyPr wrap="square" lIns="0" tIns="0" rIns="0" bIns="0" rtlCol="0" anchor="t"/>
          <a:lstStyle/>
          <a:p>
            <a:pPr indent="0" marL="0">
              <a:lnSpc>
                <a:spcPts val="1150"/>
              </a:lnSpc>
              <a:buNone/>
            </a:pPr>
            <a:r>
              <a:rPr lang="en-US" sz="900" dirty="0">
                <a:solidFill>
                  <a:srgbClr val="6B7A8C"/>
                </a:solidFill>
                <a:latin typeface="Calibri" pitchFamily="34" charset="0"/>
                <a:ea typeface="Calibri" pitchFamily="34" charset="-122"/>
                <a:cs typeface="Calibri" pitchFamily="34" charset="-120"/>
              </a:rPr>
              <a:t>of the evidence each answer needed was found</a:t>
            </a:r>
            <a:endParaRPr lang="en-US" sz="900" dirty="0"/>
          </a:p>
        </p:txBody>
      </p:sp>
      <p:sp>
        <p:nvSpPr>
          <p:cNvPr id="23" name="Shape 18"/>
          <p:cNvSpPr/>
          <p:nvPr/>
        </p:nvSpPr>
        <p:spPr>
          <a:xfrm>
            <a:off x="6411316" y="2834640"/>
            <a:ext cx="446227" cy="219456"/>
          </a:xfrm>
          <a:prstGeom prst="roundRect">
            <a:avLst>
              <a:gd name="adj" fmla="val 50000"/>
            </a:avLst>
          </a:prstGeom>
          <a:solidFill>
            <a:srgbClr val="0E7C5A"/>
          </a:solidFill>
          <a:ln w="12700">
            <a:solidFill>
              <a:srgbClr val="0E7C5A"/>
            </a:solidFill>
            <a:prstDash val="solid"/>
          </a:ln>
        </p:spPr>
      </p:sp>
      <p:sp>
        <p:nvSpPr>
          <p:cNvPr id="24" name="Text 19"/>
          <p:cNvSpPr/>
          <p:nvPr/>
        </p:nvSpPr>
        <p:spPr>
          <a:xfrm>
            <a:off x="6411316" y="2834640"/>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25" name="Shape 20"/>
          <p:cNvSpPr/>
          <p:nvPr/>
        </p:nvSpPr>
        <p:spPr>
          <a:xfrm>
            <a:off x="9004325" y="1554480"/>
            <a:ext cx="2620442" cy="1627632"/>
          </a:xfrm>
          <a:prstGeom prst="roundRect">
            <a:avLst>
              <a:gd name="adj" fmla="val 3371"/>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6" name="Text 21"/>
          <p:cNvSpPr/>
          <p:nvPr/>
        </p:nvSpPr>
        <p:spPr>
          <a:xfrm>
            <a:off x="9223781" y="1700784"/>
            <a:ext cx="2181530" cy="548640"/>
          </a:xfrm>
          <a:prstGeom prst="rect">
            <a:avLst/>
          </a:prstGeom>
          <a:noFill/>
          <a:ln/>
        </p:spPr>
        <p:txBody>
          <a:bodyPr wrap="square" lIns="0" tIns="0" rIns="0" bIns="0" rtlCol="0" anchor="ctr"/>
          <a:lstStyle/>
          <a:p>
            <a:pPr indent="0" marL="0">
              <a:buNone/>
            </a:pPr>
            <a:r>
              <a:rPr lang="en-US" sz="3200" b="1" dirty="0">
                <a:solidFill>
                  <a:srgbClr val="0E1A2B"/>
                </a:solidFill>
                <a:latin typeface="Cambria" pitchFamily="34" charset="0"/>
                <a:ea typeface="Cambria" pitchFamily="34" charset="-122"/>
                <a:cs typeface="Cambria" pitchFamily="34" charset="-120"/>
              </a:rPr>
              <a:t>78%</a:t>
            </a:r>
            <a:endParaRPr lang="en-US" sz="3200" dirty="0"/>
          </a:p>
        </p:txBody>
      </p:sp>
      <p:sp>
        <p:nvSpPr>
          <p:cNvPr id="27" name="Text 22"/>
          <p:cNvSpPr/>
          <p:nvPr/>
        </p:nvSpPr>
        <p:spPr>
          <a:xfrm>
            <a:off x="9223781" y="2249424"/>
            <a:ext cx="2181530" cy="237744"/>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Answer relevancy</a:t>
            </a:r>
            <a:endParaRPr lang="en-US" sz="1100" dirty="0"/>
          </a:p>
        </p:txBody>
      </p:sp>
      <p:sp>
        <p:nvSpPr>
          <p:cNvPr id="28" name="Text 23"/>
          <p:cNvSpPr/>
          <p:nvPr/>
        </p:nvSpPr>
        <p:spPr>
          <a:xfrm>
            <a:off x="9223781" y="2487168"/>
            <a:ext cx="2181530" cy="347472"/>
          </a:xfrm>
          <a:prstGeom prst="rect">
            <a:avLst/>
          </a:prstGeom>
          <a:noFill/>
          <a:ln/>
        </p:spPr>
        <p:txBody>
          <a:bodyPr wrap="square" lIns="0" tIns="0" rIns="0" bIns="0" rtlCol="0" anchor="t"/>
          <a:lstStyle/>
          <a:p>
            <a:pPr indent="0" marL="0">
              <a:lnSpc>
                <a:spcPts val="1150"/>
              </a:lnSpc>
              <a:buNone/>
            </a:pPr>
            <a:r>
              <a:rPr lang="en-US" sz="900" dirty="0">
                <a:solidFill>
                  <a:srgbClr val="6B7A8C"/>
                </a:solidFill>
                <a:latin typeface="Calibri" pitchFamily="34" charset="0"/>
                <a:ea typeface="Calibri" pitchFamily="34" charset="-122"/>
                <a:cs typeface="Calibri" pitchFamily="34" charset="-120"/>
              </a:rPr>
              <a:t>how directly the answer addresses the question asked</a:t>
            </a:r>
            <a:endParaRPr lang="en-US" sz="900" dirty="0"/>
          </a:p>
        </p:txBody>
      </p:sp>
      <p:sp>
        <p:nvSpPr>
          <p:cNvPr id="29" name="Shape 24"/>
          <p:cNvSpPr/>
          <p:nvPr/>
        </p:nvSpPr>
        <p:spPr>
          <a:xfrm>
            <a:off x="9223781" y="2834640"/>
            <a:ext cx="775411" cy="219456"/>
          </a:xfrm>
          <a:prstGeom prst="roundRect">
            <a:avLst>
              <a:gd name="adj" fmla="val 50000"/>
            </a:avLst>
          </a:prstGeom>
          <a:solidFill>
            <a:srgbClr val="6B7A8C"/>
          </a:solidFill>
          <a:ln w="12700">
            <a:solidFill>
              <a:srgbClr val="6B7A8C"/>
            </a:solidFill>
            <a:prstDash val="solid"/>
          </a:ln>
        </p:spPr>
      </p:sp>
      <p:sp>
        <p:nvSpPr>
          <p:cNvPr id="30" name="Text 25"/>
          <p:cNvSpPr/>
          <p:nvPr/>
        </p:nvSpPr>
        <p:spPr>
          <a:xfrm>
            <a:off x="9223781" y="2834640"/>
            <a:ext cx="77541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BELOW 80%</a:t>
            </a:r>
            <a:endParaRPr lang="en-US" sz="850" dirty="0"/>
          </a:p>
        </p:txBody>
      </p:sp>
      <p:sp>
        <p:nvSpPr>
          <p:cNvPr id="31" name="Shape 26"/>
          <p:cNvSpPr/>
          <p:nvPr/>
        </p:nvSpPr>
        <p:spPr>
          <a:xfrm>
            <a:off x="566928" y="3310128"/>
            <a:ext cx="3557930" cy="1463040"/>
          </a:xfrm>
          <a:prstGeom prst="roundRect">
            <a:avLst>
              <a:gd name="adj" fmla="val 3750"/>
            </a:avLst>
          </a:prstGeom>
          <a:solidFill>
            <a:srgbClr val="F1F4F8"/>
          </a:solidFill>
          <a:ln w="9525">
            <a:solidFill>
              <a:srgbClr val="E3E9F1"/>
            </a:solidFill>
            <a:prstDash val="solid"/>
          </a:ln>
        </p:spPr>
      </p:sp>
      <p:sp>
        <p:nvSpPr>
          <p:cNvPr id="32" name="Shape 27"/>
          <p:cNvSpPr/>
          <p:nvPr/>
        </p:nvSpPr>
        <p:spPr>
          <a:xfrm>
            <a:off x="768096" y="3456432"/>
            <a:ext cx="972922" cy="219456"/>
          </a:xfrm>
          <a:prstGeom prst="roundRect">
            <a:avLst>
              <a:gd name="adj" fmla="val 50000"/>
            </a:avLst>
          </a:prstGeom>
          <a:solidFill>
            <a:srgbClr val="0E7C5A"/>
          </a:solidFill>
          <a:ln w="12700">
            <a:solidFill>
              <a:srgbClr val="0E7C5A"/>
            </a:solidFill>
            <a:prstDash val="solid"/>
          </a:ln>
        </p:spPr>
      </p:sp>
      <p:sp>
        <p:nvSpPr>
          <p:cNvPr id="33" name="Text 28"/>
          <p:cNvSpPr/>
          <p:nvPr/>
        </p:nvSpPr>
        <p:spPr>
          <a:xfrm>
            <a:off x="768096" y="3456432"/>
            <a:ext cx="972922"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SUCCESS CASE</a:t>
            </a:r>
            <a:endParaRPr lang="en-US" sz="850" dirty="0"/>
          </a:p>
        </p:txBody>
      </p:sp>
      <p:sp>
        <p:nvSpPr>
          <p:cNvPr id="34" name="Text 29"/>
          <p:cNvSpPr/>
          <p:nvPr/>
        </p:nvSpPr>
        <p:spPr>
          <a:xfrm>
            <a:off x="768096" y="3767328"/>
            <a:ext cx="3155594" cy="914400"/>
          </a:xfrm>
          <a:prstGeom prst="rect">
            <a:avLst/>
          </a:prstGeom>
          <a:noFill/>
          <a:ln/>
        </p:spPr>
        <p:txBody>
          <a:bodyPr wrap="square" lIns="0" tIns="0" rIns="0" bIns="0" rtlCol="0" anchor="t"/>
          <a:lstStyle/>
          <a:p>
            <a:pPr indent="0" marL="0">
              <a:lnSpc>
                <a:spcPts val="1250"/>
              </a:lnSpc>
              <a:buNone/>
            </a:pPr>
            <a:r>
              <a:rPr lang="en-US" sz="950" dirty="0">
                <a:solidFill>
                  <a:srgbClr val="46566B"/>
                </a:solidFill>
                <a:latin typeface="Calibri" pitchFamily="34" charset="0"/>
                <a:ea typeface="Calibri" pitchFamily="34" charset="-122"/>
                <a:cs typeface="Calibri" pitchFamily="34" charset="-120"/>
              </a:rPr>
              <a:t>“HMB or BCAAs for recovery?” — the reranker pulls the BCAA passages from ranks 13, 15 and 18 into the top ten, so both halves of the comparison reach the answer, each cited to its page.</a:t>
            </a:r>
            <a:endParaRPr lang="en-US" sz="950" dirty="0"/>
          </a:p>
        </p:txBody>
      </p:sp>
      <p:sp>
        <p:nvSpPr>
          <p:cNvPr id="35" name="Shape 30"/>
          <p:cNvSpPr/>
          <p:nvPr/>
        </p:nvSpPr>
        <p:spPr>
          <a:xfrm>
            <a:off x="4316882" y="3310128"/>
            <a:ext cx="3557930" cy="1463040"/>
          </a:xfrm>
          <a:prstGeom prst="roundRect">
            <a:avLst>
              <a:gd name="adj" fmla="val 3750"/>
            </a:avLst>
          </a:prstGeom>
          <a:solidFill>
            <a:srgbClr val="F1F4F8"/>
          </a:solidFill>
          <a:ln w="9525">
            <a:solidFill>
              <a:srgbClr val="E3E9F1"/>
            </a:solidFill>
            <a:prstDash val="solid"/>
          </a:ln>
        </p:spPr>
      </p:sp>
      <p:sp>
        <p:nvSpPr>
          <p:cNvPr id="36" name="Shape 31"/>
          <p:cNvSpPr/>
          <p:nvPr/>
        </p:nvSpPr>
        <p:spPr>
          <a:xfrm>
            <a:off x="4518050" y="3456432"/>
            <a:ext cx="972922" cy="219456"/>
          </a:xfrm>
          <a:prstGeom prst="roundRect">
            <a:avLst>
              <a:gd name="adj" fmla="val 50000"/>
            </a:avLst>
          </a:prstGeom>
          <a:solidFill>
            <a:srgbClr val="FF7900"/>
          </a:solidFill>
          <a:ln w="12700">
            <a:solidFill>
              <a:srgbClr val="FF7900"/>
            </a:solidFill>
            <a:prstDash val="solid"/>
          </a:ln>
        </p:spPr>
      </p:sp>
      <p:sp>
        <p:nvSpPr>
          <p:cNvPr id="37" name="Text 32"/>
          <p:cNvSpPr/>
          <p:nvPr/>
        </p:nvSpPr>
        <p:spPr>
          <a:xfrm>
            <a:off x="4518050" y="3456432"/>
            <a:ext cx="972922"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REFUSAL CASE</a:t>
            </a:r>
            <a:endParaRPr lang="en-US" sz="850" dirty="0"/>
          </a:p>
        </p:txBody>
      </p:sp>
      <p:sp>
        <p:nvSpPr>
          <p:cNvPr id="38" name="Text 33"/>
          <p:cNvSpPr/>
          <p:nvPr/>
        </p:nvSpPr>
        <p:spPr>
          <a:xfrm>
            <a:off x="4518050" y="3767328"/>
            <a:ext cx="3155594" cy="914400"/>
          </a:xfrm>
          <a:prstGeom prst="rect">
            <a:avLst/>
          </a:prstGeom>
          <a:noFill/>
          <a:ln/>
        </p:spPr>
        <p:txBody>
          <a:bodyPr wrap="square" lIns="0" tIns="0" rIns="0" bIns="0" rtlCol="0" anchor="t"/>
          <a:lstStyle/>
          <a:p>
            <a:pPr indent="0" marL="0">
              <a:lnSpc>
                <a:spcPts val="1250"/>
              </a:lnSpc>
              <a:buNone/>
            </a:pPr>
            <a:r>
              <a:rPr lang="en-US" sz="950" dirty="0">
                <a:solidFill>
                  <a:srgbClr val="46566B"/>
                </a:solidFill>
                <a:latin typeface="Calibri" pitchFamily="34" charset="0"/>
                <a:ea typeface="Calibri" pitchFamily="34" charset="-122"/>
                <a:cs typeface="Calibri" pitchFamily="34" charset="-120"/>
              </a:rPr>
              <a:t>Three questions the document cannot answer, plus a false-premise DHEA dose and a value the page never states. All five are declined rather than invented — and the metric scores a correct refusal as a failure, which is why we report it.</a:t>
            </a:r>
            <a:endParaRPr lang="en-US" sz="950" dirty="0"/>
          </a:p>
        </p:txBody>
      </p:sp>
      <p:sp>
        <p:nvSpPr>
          <p:cNvPr id="39" name="Shape 34"/>
          <p:cNvSpPr/>
          <p:nvPr/>
        </p:nvSpPr>
        <p:spPr>
          <a:xfrm>
            <a:off x="8066837" y="3310128"/>
            <a:ext cx="3557930" cy="1463040"/>
          </a:xfrm>
          <a:prstGeom prst="roundRect">
            <a:avLst>
              <a:gd name="adj" fmla="val 3750"/>
            </a:avLst>
          </a:prstGeom>
          <a:solidFill>
            <a:srgbClr val="F1F4F8"/>
          </a:solidFill>
          <a:ln w="9525">
            <a:solidFill>
              <a:srgbClr val="E3E9F1"/>
            </a:solidFill>
            <a:prstDash val="solid"/>
          </a:ln>
        </p:spPr>
      </p:sp>
      <p:sp>
        <p:nvSpPr>
          <p:cNvPr id="40" name="Shape 35"/>
          <p:cNvSpPr/>
          <p:nvPr/>
        </p:nvSpPr>
        <p:spPr>
          <a:xfrm>
            <a:off x="8268005" y="3456432"/>
            <a:ext cx="1236269" cy="219456"/>
          </a:xfrm>
          <a:prstGeom prst="roundRect">
            <a:avLst>
              <a:gd name="adj" fmla="val 50000"/>
            </a:avLst>
          </a:prstGeom>
          <a:solidFill>
            <a:srgbClr val="6B7A8C"/>
          </a:solidFill>
          <a:ln w="12700">
            <a:solidFill>
              <a:srgbClr val="6B7A8C"/>
            </a:solidFill>
            <a:prstDash val="solid"/>
          </a:ln>
        </p:spPr>
      </p:sp>
      <p:sp>
        <p:nvSpPr>
          <p:cNvPr id="41" name="Text 36"/>
          <p:cNvSpPr/>
          <p:nvPr/>
        </p:nvSpPr>
        <p:spPr>
          <a:xfrm>
            <a:off x="8268005" y="3456432"/>
            <a:ext cx="1236269"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HONEST LIMIT</a:t>
            </a:r>
            <a:endParaRPr lang="en-US" sz="850" dirty="0"/>
          </a:p>
        </p:txBody>
      </p:sp>
      <p:sp>
        <p:nvSpPr>
          <p:cNvPr id="42" name="Text 37"/>
          <p:cNvSpPr/>
          <p:nvPr/>
        </p:nvSpPr>
        <p:spPr>
          <a:xfrm>
            <a:off x="8268005" y="3767328"/>
            <a:ext cx="3155594" cy="914400"/>
          </a:xfrm>
          <a:prstGeom prst="rect">
            <a:avLst/>
          </a:prstGeom>
          <a:noFill/>
          <a:ln/>
        </p:spPr>
        <p:txBody>
          <a:bodyPr wrap="square" lIns="0" tIns="0" rIns="0" bIns="0" rtlCol="0" anchor="t"/>
          <a:lstStyle/>
          <a:p>
            <a:pPr indent="0" marL="0">
              <a:lnSpc>
                <a:spcPts val="1250"/>
              </a:lnSpc>
              <a:buNone/>
            </a:pPr>
            <a:r>
              <a:rPr lang="en-US" sz="950" dirty="0">
                <a:solidFill>
                  <a:srgbClr val="46566B"/>
                </a:solidFill>
                <a:latin typeface="Calibri" pitchFamily="34" charset="0"/>
                <a:ea typeface="Calibri" pitchFamily="34" charset="-122"/>
                <a:cs typeface="Calibri" pitchFamily="34" charset="-120"/>
              </a:rPr>
              <a:t>Answer relevancy is short of threshold. Part of it is the judge sampling fewer generated questions than it asks for; part of it is genuinely longer answers than the question needs.</a:t>
            </a:r>
            <a:endParaRPr lang="en-US" sz="950" dirty="0"/>
          </a:p>
        </p:txBody>
      </p:sp>
      <p:sp>
        <p:nvSpPr>
          <p:cNvPr id="43" name="Text 38"/>
          <p:cNvSpPr/>
          <p:nvPr/>
        </p:nvSpPr>
        <p:spPr>
          <a:xfrm>
            <a:off x="566928" y="4882896"/>
            <a:ext cx="11057839" cy="292608"/>
          </a:xfrm>
          <a:prstGeom prst="rect">
            <a:avLst/>
          </a:prstGeom>
          <a:noFill/>
          <a:ln/>
        </p:spPr>
        <p:txBody>
          <a:bodyPr wrap="square" lIns="0" tIns="0" rIns="0" bIns="0" rtlCol="0" anchor="ctr"/>
          <a:lstStyle/>
          <a:p>
            <a:pPr indent="0" marL="0">
              <a:buNone/>
            </a:pPr>
            <a:r>
              <a:rPr lang="en-US" sz="1000" i="1" dirty="0">
                <a:solidFill>
                  <a:srgbClr val="6B7A8C"/>
                </a:solidFill>
                <a:latin typeface="Calibri" pitchFamily="34" charset="0"/>
                <a:ea typeface="Calibri" pitchFamily="34" charset="-122"/>
                <a:cs typeface="Calibri" pitchFamily="34" charset="-120"/>
              </a:rPr>
              <a:t>Scored by an LLM judge over a golden set built to break the system: near-miss pairs, multi-hop questions, a negation, a misspelling, and three questions with no answer in the document at all.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WHAT COMES NEXT</a:t>
            </a:r>
            <a:endParaRPr lang="en-US" sz="1050" dirty="0"/>
          </a:p>
        </p:txBody>
      </p:sp>
      <p:sp>
        <p:nvSpPr>
          <p:cNvPr id="7" name="Text 2"/>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FFFFFF"/>
                </a:solidFill>
                <a:latin typeface="Cambria" pitchFamily="34" charset="0"/>
                <a:ea typeface="Cambria" pitchFamily="34" charset="-122"/>
                <a:cs typeface="Cambria" pitchFamily="34" charset="-120"/>
              </a:rPr>
              <a:t>From “what does the evidence say” to “what should I eat”</a:t>
            </a:r>
            <a:endParaRPr lang="en-US" sz="3000" dirty="0"/>
          </a:p>
        </p:txBody>
      </p:sp>
      <p:sp>
        <p:nvSpPr>
          <p:cNvPr id="8" name="Text 3"/>
          <p:cNvSpPr/>
          <p:nvPr/>
        </p:nvSpPr>
        <p:spPr>
          <a:xfrm>
            <a:off x="566928" y="1517904"/>
            <a:ext cx="11057839" cy="308864"/>
          </a:xfrm>
          <a:prstGeom prst="rect">
            <a:avLst/>
          </a:prstGeom>
          <a:noFill/>
          <a:ln/>
        </p:spPr>
        <p:txBody>
          <a:bodyPr wrap="square" lIns="0" tIns="0" rIns="0" bIns="0" rtlCol="0" anchor="t"/>
          <a:lstStyle/>
          <a:p>
            <a:pPr indent="0" marL="0">
              <a:lnSpc>
                <a:spcPts val="2000"/>
              </a:lnSpc>
              <a:buNone/>
            </a:pPr>
            <a:r>
              <a:rPr lang="en-US" sz="1450" i="1" dirty="0">
                <a:solidFill>
                  <a:srgbClr val="8FA3B8"/>
                </a:solidFill>
                <a:latin typeface="Calibri" pitchFamily="34" charset="0"/>
                <a:ea typeface="Calibri" pitchFamily="34" charset="-122"/>
                <a:cs typeface="Calibri" pitchFamily="34" charset="-120"/>
              </a:rPr>
              <a:t>The fact sheet already states doses. The next step is to meet them from food and drink, not only from a tub.</a:t>
            </a:r>
            <a:endParaRPr lang="en-US" sz="1450" dirty="0"/>
          </a:p>
        </p:txBody>
      </p:sp>
      <p:sp>
        <p:nvSpPr>
          <p:cNvPr id="9" name="Shape 4"/>
          <p:cNvSpPr/>
          <p:nvPr/>
        </p:nvSpPr>
        <p:spPr>
          <a:xfrm>
            <a:off x="566928" y="2027936"/>
            <a:ext cx="3557930" cy="1956816"/>
          </a:xfrm>
          <a:prstGeom prst="roundRect">
            <a:avLst>
              <a:gd name="adj" fmla="val 280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0" name="Shape 5"/>
          <p:cNvSpPr/>
          <p:nvPr/>
        </p:nvSpPr>
        <p:spPr>
          <a:xfrm>
            <a:off x="786384" y="2210816"/>
            <a:ext cx="310896" cy="310896"/>
          </a:xfrm>
          <a:prstGeom prst="ellipse">
            <a:avLst/>
          </a:prstGeom>
          <a:solidFill>
            <a:srgbClr val="FF7900"/>
          </a:solidFill>
          <a:ln w="12700">
            <a:solidFill>
              <a:srgbClr val="FF7900"/>
            </a:solidFill>
            <a:prstDash val="solid"/>
          </a:ln>
        </p:spPr>
      </p:sp>
      <p:sp>
        <p:nvSpPr>
          <p:cNvPr id="11" name="Text 6"/>
          <p:cNvSpPr/>
          <p:nvPr/>
        </p:nvSpPr>
        <p:spPr>
          <a:xfrm>
            <a:off x="786384" y="221081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2" name="Text 7"/>
          <p:cNvSpPr/>
          <p:nvPr/>
        </p:nvSpPr>
        <p:spPr>
          <a:xfrm>
            <a:off x="786384" y="2649728"/>
            <a:ext cx="3119018" cy="45720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Cambria" pitchFamily="34" charset="0"/>
                <a:ea typeface="Cambria" pitchFamily="34" charset="-122"/>
                <a:cs typeface="Cambria" pitchFamily="34" charset="-120"/>
              </a:rPr>
              <a:t>Match the dose, not just the ingredient</a:t>
            </a:r>
            <a:endParaRPr lang="en-US" sz="1350" dirty="0"/>
          </a:p>
        </p:txBody>
      </p:sp>
      <p:sp>
        <p:nvSpPr>
          <p:cNvPr id="13" name="Text 8"/>
          <p:cNvSpPr/>
          <p:nvPr/>
        </p:nvSpPr>
        <p:spPr>
          <a:xfrm>
            <a:off x="786384" y="3125216"/>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The document gives quantities — around 2 cups of beetroot juice, 3 g/day of HMB, a caffeine range per kilogram of body weight. Those are the numbers a recommendation has to hit.</a:t>
            </a:r>
            <a:endParaRPr lang="en-US" sz="1000" dirty="0"/>
          </a:p>
        </p:txBody>
      </p:sp>
      <p:sp>
        <p:nvSpPr>
          <p:cNvPr id="14" name="Shape 9"/>
          <p:cNvSpPr/>
          <p:nvPr/>
        </p:nvSpPr>
        <p:spPr>
          <a:xfrm>
            <a:off x="4316882" y="2027936"/>
            <a:ext cx="3557930" cy="1956816"/>
          </a:xfrm>
          <a:prstGeom prst="roundRect">
            <a:avLst>
              <a:gd name="adj" fmla="val 280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5" name="Shape 10"/>
          <p:cNvSpPr/>
          <p:nvPr/>
        </p:nvSpPr>
        <p:spPr>
          <a:xfrm>
            <a:off x="4536338" y="2210816"/>
            <a:ext cx="310896" cy="310896"/>
          </a:xfrm>
          <a:prstGeom prst="ellipse">
            <a:avLst/>
          </a:prstGeom>
          <a:solidFill>
            <a:srgbClr val="FF7900"/>
          </a:solidFill>
          <a:ln w="12700">
            <a:solidFill>
              <a:srgbClr val="FF7900"/>
            </a:solidFill>
            <a:prstDash val="solid"/>
          </a:ln>
        </p:spPr>
      </p:sp>
      <p:sp>
        <p:nvSpPr>
          <p:cNvPr id="16" name="Text 11"/>
          <p:cNvSpPr/>
          <p:nvPr/>
        </p:nvSpPr>
        <p:spPr>
          <a:xfrm>
            <a:off x="4536338" y="221081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7" name="Text 12"/>
          <p:cNvSpPr/>
          <p:nvPr/>
        </p:nvSpPr>
        <p:spPr>
          <a:xfrm>
            <a:off x="4536338" y="2649728"/>
            <a:ext cx="3119018" cy="45720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Cambria" pitchFamily="34" charset="0"/>
                <a:ea typeface="Cambria" pitchFamily="34" charset="-122"/>
                <a:cs typeface="Cambria" pitchFamily="34" charset="-120"/>
              </a:rPr>
              <a:t>Map ingredients onto foods and drinks</a:t>
            </a:r>
            <a:endParaRPr lang="en-US" sz="1350" dirty="0"/>
          </a:p>
        </p:txBody>
      </p:sp>
      <p:sp>
        <p:nvSpPr>
          <p:cNvPr id="18" name="Text 13"/>
          <p:cNvSpPr/>
          <p:nvPr/>
        </p:nvSpPr>
        <p:spPr>
          <a:xfrm>
            <a:off x="4536338" y="3125216"/>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Beetroot juice, tart cherry, oily fish, dairy protein, coffee. A food composition source joins to the same ingredient names the index already carries, so provenance survives the join.</a:t>
            </a:r>
            <a:endParaRPr lang="en-US" sz="1000" dirty="0"/>
          </a:p>
        </p:txBody>
      </p:sp>
      <p:sp>
        <p:nvSpPr>
          <p:cNvPr id="19" name="Shape 14"/>
          <p:cNvSpPr/>
          <p:nvPr/>
        </p:nvSpPr>
        <p:spPr>
          <a:xfrm>
            <a:off x="8066837" y="2027936"/>
            <a:ext cx="3557930" cy="1956816"/>
          </a:xfrm>
          <a:prstGeom prst="roundRect">
            <a:avLst>
              <a:gd name="adj" fmla="val 280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0" name="Shape 15"/>
          <p:cNvSpPr/>
          <p:nvPr/>
        </p:nvSpPr>
        <p:spPr>
          <a:xfrm>
            <a:off x="8286293" y="2210816"/>
            <a:ext cx="310896" cy="310896"/>
          </a:xfrm>
          <a:prstGeom prst="ellipse">
            <a:avLst/>
          </a:prstGeom>
          <a:solidFill>
            <a:srgbClr val="FF7900"/>
          </a:solidFill>
          <a:ln w="12700">
            <a:solidFill>
              <a:srgbClr val="FF7900"/>
            </a:solidFill>
            <a:prstDash val="solid"/>
          </a:ln>
        </p:spPr>
      </p:sp>
      <p:sp>
        <p:nvSpPr>
          <p:cNvPr id="21" name="Text 16"/>
          <p:cNvSpPr/>
          <p:nvPr/>
        </p:nvSpPr>
        <p:spPr>
          <a:xfrm>
            <a:off x="8286293" y="221081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17"/>
          <p:cNvSpPr/>
          <p:nvPr/>
        </p:nvSpPr>
        <p:spPr>
          <a:xfrm>
            <a:off x="8286293" y="2649728"/>
            <a:ext cx="3119018" cy="45720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Cambria" pitchFamily="34" charset="0"/>
                <a:ea typeface="Cambria" pitchFamily="34" charset="-122"/>
                <a:cs typeface="Cambria" pitchFamily="34" charset="-120"/>
              </a:rPr>
              <a:t>Answer the question people actually ask</a:t>
            </a:r>
            <a:endParaRPr lang="en-US" sz="1350" dirty="0"/>
          </a:p>
        </p:txBody>
      </p:sp>
      <p:sp>
        <p:nvSpPr>
          <p:cNvPr id="23" name="Text 18"/>
          <p:cNvSpPr/>
          <p:nvPr/>
        </p:nvSpPr>
        <p:spPr>
          <a:xfrm>
            <a:off x="8286293" y="3125216"/>
            <a:ext cx="3119018" cy="731520"/>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“I am a 70 kg cyclist, what should I drink before a time trial?” becomes a portion and a timing, cited to the page that set the dose — and a refusal when the evidence does not support one.</a:t>
            </a:r>
            <a:endParaRPr lang="en-US" sz="1000" dirty="0"/>
          </a:p>
        </p:txBody>
      </p:sp>
      <p:sp>
        <p:nvSpPr>
          <p:cNvPr id="24" name="Shape 19"/>
          <p:cNvSpPr/>
          <p:nvPr/>
        </p:nvSpPr>
        <p:spPr>
          <a:xfrm>
            <a:off x="566928" y="4131056"/>
            <a:ext cx="11057839" cy="841248"/>
          </a:xfrm>
          <a:prstGeom prst="roundRect">
            <a:avLst>
              <a:gd name="adj" fmla="val 6522"/>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5" name="Text 20"/>
          <p:cNvSpPr/>
          <p:nvPr/>
        </p:nvSpPr>
        <p:spPr>
          <a:xfrm>
            <a:off x="804672" y="4277360"/>
            <a:ext cx="10582351" cy="566928"/>
          </a:xfrm>
          <a:prstGeom prst="rect">
            <a:avLst/>
          </a:prstGeom>
          <a:noFill/>
          <a:ln/>
        </p:spPr>
        <p:txBody>
          <a:bodyPr wrap="square" lIns="0" tIns="0" rIns="0" bIns="0" rtlCol="0" anchor="t"/>
          <a:lstStyle/>
          <a:p>
            <a:pPr indent="0" marL="0">
              <a:lnSpc>
                <a:spcPts val="1400"/>
              </a:lnSpc>
              <a:buNone/>
            </a:pPr>
            <a:r>
              <a:rPr lang="en-US" sz="1050" b="1" dirty="0">
                <a:solidFill>
                  <a:srgbClr val="FF7900"/>
                </a:solidFill>
                <a:latin typeface="Calibri" pitchFamily="34" charset="0"/>
                <a:ea typeface="Calibri" pitchFamily="34" charset="-122"/>
                <a:cs typeface="Calibri" pitchFamily="34" charset="-120"/>
              </a:rPr>
              <a:t>The constraint stays the same. </a:t>
            </a:r>
            <a:pPr indent="0" marL="0">
              <a:lnSpc>
                <a:spcPts val="1400"/>
              </a:lnSpc>
              <a:buNone/>
            </a:pPr>
            <a:r>
              <a:rPr lang="en-US" sz="1050" dirty="0">
                <a:solidFill>
                  <a:srgbClr val="8FA3B8"/>
                </a:solidFill>
                <a:latin typeface="Calibri" pitchFamily="34" charset="0"/>
                <a:ea typeface="Calibri" pitchFamily="34" charset="-122"/>
                <a:cs typeface="Calibri" pitchFamily="34" charset="-120"/>
              </a:rPr>
              <a:t>A food recommendation is only as good as the dose behind it, and the dose has to come from the document with its page attached. Nothing gets recommended that the evidence does not carry — which is the same rule that governs every answer the system gives today.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Creativa · Instant · Orange Digital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Evidence-Based Supplement Assistant</dc:title>
  <dc:subject>AI Clinical Decision Support Lite — Hackathon</dc:subject>
  <dc:creator>Team — Evidence-Based Supplement Assistant</dc:creator>
  <cp:lastModifiedBy>Team — Evidence-Based Supplement Assistant</cp:lastModifiedBy>
  <cp:revision>1</cp:revision>
  <dcterms:created xsi:type="dcterms:W3CDTF">2026-08-20T08:36:14Z</dcterms:created>
  <dcterms:modified xsi:type="dcterms:W3CDTF">2026-08-20T08:36:14Z</dcterms:modified>
</cp:coreProperties>
</file>